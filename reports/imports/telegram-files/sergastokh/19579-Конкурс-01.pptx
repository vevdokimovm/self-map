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3"/>
  </p:notesMasterIdLst>
  <p:sldIdLst>
    <p:sldId id="256" r:id="rId2"/>
    <p:sldId id="281" r:id="rId3"/>
    <p:sldId id="282" r:id="rId4"/>
    <p:sldId id="283" r:id="rId5"/>
    <p:sldId id="305" r:id="rId6"/>
    <p:sldId id="306" r:id="rId7"/>
    <p:sldId id="307" r:id="rId8"/>
    <p:sldId id="308" r:id="rId9"/>
    <p:sldId id="264" r:id="rId10"/>
    <p:sldId id="294" r:id="rId11"/>
    <p:sldId id="295" r:id="rId12"/>
    <p:sldId id="296" r:id="rId13"/>
    <p:sldId id="297" r:id="rId14"/>
    <p:sldId id="299" r:id="rId15"/>
    <p:sldId id="300" r:id="rId16"/>
    <p:sldId id="301" r:id="rId17"/>
    <p:sldId id="302" r:id="rId18"/>
    <p:sldId id="303" r:id="rId19"/>
    <p:sldId id="304" r:id="rId20"/>
    <p:sldId id="298" r:id="rId21"/>
    <p:sldId id="272" r:id="rId22"/>
  </p:sldIdLst>
  <p:sldSz cx="24382413" cy="13716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Tahoma" panose="020B0604030504040204" pitchFamily="34" charset="0"/>
      <p:regular r:id="rId25"/>
      <p:bold r:id="rId26"/>
      <p:italic r:id="rId27"/>
    </p:embeddedFont>
    <p:embeddedFont>
      <p:font typeface="TT Norms Pro" panose="02000503030000090003" charset="0"/>
      <p:regular r:id="rId28"/>
      <p:bold r:id="rId29"/>
      <p:italic r:id="rId30"/>
      <p:boldItalic r:id="rId31"/>
    </p:embeddedFont>
    <p:embeddedFont>
      <p:font typeface="TT Norms Pro Medium" panose="02000803020000090003" charset="0"/>
      <p:regular r:id="rId32"/>
      <p:italic r:id="rId33"/>
    </p:embeddedFont>
  </p:embeddedFontLst>
  <p:custDataLst>
    <p:tags r:id="rId34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77" autoAdjust="0"/>
    <p:restoredTop sz="84284" autoAdjust="0"/>
  </p:normalViewPr>
  <p:slideViewPr>
    <p:cSldViewPr snapToGrid="0" showGuides="1">
      <p:cViewPr varScale="1">
        <p:scale>
          <a:sx n="55" d="100"/>
          <a:sy n="55" d="100"/>
        </p:scale>
        <p:origin x="120" y="942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508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7033-2652-2630-1D0B-3814ABF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9A632F-585A-280F-BCB8-261AD5A5E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698374-A389-4918-2DB1-E58D3ADE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A96792-5570-E824-D1EE-2E128099E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2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A3EE-1694-7D52-2F30-3B73BBC5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08114D-04D9-C70D-DCC3-F77FE4CB5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6FEA6E-6BA5-D0B5-A855-92F1296D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147025-F189-DB98-BB3F-3C2A30815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62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AC5E-23D9-EF93-269E-C96FEAA7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6FA46F-373C-8923-3C3F-B912C8D54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32DB55-BC77-FA5B-FF89-6ED3196FC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AD1C7B-783A-5C64-9D81-AD5DDE119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579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F2FD-1166-4F76-A512-ADC60B1D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F6FC4FE-FF1C-184C-FBCD-459D343D6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526B83-5625-761F-55E6-557655FE7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116514-7593-AABD-4C3E-B105761E0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20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48CC0-5E43-934A-02E9-164E2C58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8B2EA5-6C04-9CEE-95AA-CDE2D86C5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F8E1756-9F4C-4B60-19F0-5430A2A39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7AF4C7-5248-D97F-B512-43D8D814A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560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961C-9543-57F3-9C2E-D4BFEF64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CD46EB-9D63-ABD8-EDDA-C9DEE31A1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9183C7-2753-476F-C4F0-0B0B3D837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7FC851-D523-03AB-C0E1-CE82475F3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90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4241-A454-95AE-4F1B-5BE2AD59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EEA578-901D-B0FA-1FB4-1B4F36F92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DDD21A-1E8B-1AD5-BFCD-09D5CFBD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FE1536-CC36-01D2-B302-416B8AE3A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F242-1A68-18FE-1DB4-BC9872E8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32E8E7-8165-673E-81B1-C3A0FB39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CFAC0F-3A68-CB10-B0CA-17A74610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391BC-FB0E-0CE5-9A56-1D222FFEE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73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D622-6B2C-8C81-215D-37D7C36B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906F4FE-9AA8-E060-E126-B2E8F91AE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FEC90A-5729-755A-2CFB-8A75245FF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2116E1-35C8-715B-69D6-B818E4EE2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74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5250-8582-D143-CB0C-F5F8E854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2FE532-A125-C50A-E1DE-33BF2A335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A84C69-F8AB-E0AD-4BD1-7D353323D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5ACFE-E9CC-B6F8-771E-4F92F5EEA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267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B43F-4CD1-C44B-8585-3B33447D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F3E406-657C-0231-B507-E3868E902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2EB4AC5-0AD3-E7CD-33FE-4F42D8692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AFD084-9DE1-A16B-EF99-B0DC02EFC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640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FE99-0BF8-39B4-C7F0-AA08F2FC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FF3A16-0C94-D8BE-F695-6FAD41D45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F314BF-A004-727A-3262-F122B203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8814CF-C150-7C43-BE68-F756B6D88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225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5D11-08A8-B0BB-89E2-0AF9DE6A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E2CBB5-2F0C-747A-5923-7AE64A881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D34E44-D264-DFB9-EEE8-78F040ECB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E9F69A-90C2-8670-2272-A4363F67B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778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F76D-BC56-922C-4777-73F0AF13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03E4FF-B3F9-774D-7AAF-FD721F655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054272-D1E3-F6FD-FB8D-8552BD5B0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AFC5F1-DF11-E4BE-9738-4B79FABBD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849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14AA-C306-21B5-D615-A22FE238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EBECED-F7A0-E88E-FA1D-217A9132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575318-07FA-5225-660B-B2830D0E3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88445-BCD7-B021-B54D-0A14F5D8A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060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AE2F-004E-E1BE-88B5-59E8F71F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7AD11DA-2D6D-8775-41E7-5906A620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5996A9-6A9E-004C-B954-E56BD3CE3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45A5D4-7EA1-D471-2EFF-B82021FEA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638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4158222"/>
            <a:ext cx="13789084" cy="3838664"/>
          </a:xfrm>
        </p:spPr>
        <p:txBody>
          <a:bodyPr/>
          <a:lstStyle/>
          <a:p>
            <a:r>
              <a:rPr lang="ru-RU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 поддержки принятия решений (СППР) в сфере персональных финансов</a:t>
            </a: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542069"/>
            <a:ext cx="9952581" cy="1999559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Фамилия Имя Отчество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Должность (не более двух строк)</a:t>
            </a: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1300459" y="11867187"/>
            <a:ext cx="5761821" cy="730250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 проведения (пример: 12.04.2023)</a:t>
            </a:r>
          </a:p>
        </p:txBody>
      </p:sp>
      <p:sp>
        <p:nvSpPr>
          <p:cNvPr id="2" name="Дата 11">
            <a:extLst>
              <a:ext uri="{FF2B5EF4-FFF2-40B4-BE49-F238E27FC236}">
                <a16:creationId xmlns:a16="http://schemas.microsoft.com/office/drawing/2014/main" id="{EC80368E-2407-E700-0EAC-FFDA58FBA3C2}"/>
              </a:ext>
            </a:extLst>
          </p:cNvPr>
          <p:cNvSpPr txBox="1">
            <a:spLocks/>
          </p:cNvSpPr>
          <p:nvPr/>
        </p:nvSpPr>
        <p:spPr>
          <a:xfrm>
            <a:off x="1300459" y="11322004"/>
            <a:ext cx="593692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1828709" rtl="0" eaLnBrk="1" latinLnBrk="0" hangingPunct="1"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Место проведения (пример: Ректорат)</a:t>
            </a: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B1EB-00D2-E98D-5B2C-BB0D022B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2EE2417-6D0A-E866-5DBD-A46B0C788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Проблема пользователя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57F986B-566A-AC3B-E867-5FBF121A97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Пользователи принимают финансовые решения интуитивно, без системного анализа и формализованных критериев.</a:t>
            </a:r>
            <a:br>
              <a:rPr lang="ru-RU" dirty="0"/>
            </a:br>
            <a:r>
              <a:rPr lang="ru-RU" dirty="0"/>
              <a:t>Отсутствие структурированного подхода приводит к ошибкам в распределении средств и снижению эффективности управления финансами.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4237544-FE3B-A2EA-40B8-E2C209DE5D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Финансовые решения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B02A5-CB0E-D265-23EC-CE2893B4122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59BAC3B-9D0D-4EF7-8CE2-9F2E0CC1F23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41825A3-2C8D-96BE-50EB-6F386C1EFE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/>
              <a:t>Данные и контроль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1A2A1681-2CC0-C657-F300-6C80592CA60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dirty="0"/>
              <a:t>Сложность выбора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046B5ACF-E17A-6E67-D1EE-BF2AEF1E14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Финансовые данные разрознены: операции учитываются в разных источниках или частично вручную.</a:t>
            </a:r>
            <a:br>
              <a:rPr lang="ru-RU" dirty="0"/>
            </a:br>
            <a:r>
              <a:rPr lang="ru-RU" dirty="0"/>
              <a:t>Это затрудняет получение целостной картины финансового состояния и контроль денежных потоков.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BF1D29A-3DD5-54E5-2F36-D0355E18DD0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ru-RU" dirty="0"/>
              <a:t>Большое количество финансовых инструментов и стратегий усложняет выбор оптимального решения.</a:t>
            </a:r>
            <a:br>
              <a:rPr lang="ru-RU" dirty="0"/>
            </a:br>
            <a:r>
              <a:rPr lang="ru-RU" dirty="0"/>
              <a:t>При этом пользователю сложно учитывать одновременно цели, ограничения и уровень риска.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947A9635-3760-E79C-6ABE-EE457A16B8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64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1051-7DC9-445A-984E-331FC553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1B6D93E-8A70-DA02-97FB-3933CA01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Классы подходов к СППР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персональных финансах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12721E-B1F8-5560-FCDE-253A395EF0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D6CA95E-DAE2-887E-70F7-0F883EB402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A5D1D62-0D36-AC9D-FAD9-B61E18ABEC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BFC2C1-04FE-2E47-6C5F-73B11CCF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13568"/>
              </p:ext>
            </p:extLst>
          </p:nvPr>
        </p:nvGraphicFramePr>
        <p:xfrm>
          <a:off x="1415142" y="4465692"/>
          <a:ext cx="21686526" cy="7944024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0843263">
                  <a:extLst>
                    <a:ext uri="{9D8B030D-6E8A-4147-A177-3AD203B41FA5}">
                      <a16:colId xmlns:a16="http://schemas.microsoft.com/office/drawing/2014/main" val="2350489032"/>
                    </a:ext>
                  </a:extLst>
                </a:gridCol>
                <a:gridCol w="10843263">
                  <a:extLst>
                    <a:ext uri="{9D8B030D-6E8A-4147-A177-3AD203B41FA5}">
                      <a16:colId xmlns:a16="http://schemas.microsoft.com/office/drawing/2014/main" val="3673458030"/>
                    </a:ext>
                  </a:extLst>
                </a:gridCol>
              </a:tblGrid>
              <a:tr h="1002042">
                <a:tc>
                  <a:txBody>
                    <a:bodyPr/>
                    <a:lstStyle/>
                    <a:p>
                      <a:pPr marL="0" marR="0" lvl="0" indent="0" algn="ctr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Класс подхода</a:t>
                      </a:r>
                      <a:endParaRPr kumimoji="0" lang="ru-RU" sz="4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marL="0" marR="0" lvl="0" indent="0" algn="ctr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Типовые задачи</a:t>
                      </a:r>
                      <a:endParaRPr kumimoji="0" lang="ru-RU" sz="4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2644756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Правила и эвристики (rule-based)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бюджетирование, лимиты по категориям, простые рекомендации (резерв, контроль долгов)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0324570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Скоринговые модели и индексы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оценка финансового состояния, риск-профиль, устойчивость бюджета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3269468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Прогнозирование денежных потоков 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(временные ряды, ML-модели)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прогноз доходов/ расходов, оценка вероятности кассового разрыва, сценарное планирование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8525567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Многокритериальный выбор и ранжирование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выбор стратегии распределения свободных средств, ранжирование альтернатив по полезности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798307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Оптимизационные модели 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(линейные/ целочисленные/ стохастические)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оптимальный план платежей по долгам; формирование резерва; план накоплений под цели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6339844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Гибридные подходы (правила + прогноз + оптимизация/ ранжирование)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комплексное планирование: бюджет + долги + цели + риск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873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97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8C33-C9C9-06BC-F1B9-249EB691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7C62AE8A-4D00-7F31-0E25-B07EB4DBA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Типовые зоны решений в персональных финансах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4B0D442-10D2-CB50-2021-FE7A2D85B7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97163C9E-7A82-49AC-FDDA-F9B2508201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80A6562-83D6-F027-9466-CF00C2C604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9B78DF-4DA6-AA19-45C6-0BBE000C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506" y="4337384"/>
            <a:ext cx="22108250" cy="76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9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5195853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Почему существующие решения </a:t>
            </a:r>
            <a:r>
              <a:rPr lang="ru-RU" sz="7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 работают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/>
          </p:nvPr>
        </p:nvSpPr>
        <p:spPr>
          <a:xfrm>
            <a:off x="1297766" y="6060831"/>
            <a:ext cx="10167404" cy="2057400"/>
          </a:xfrm>
        </p:spPr>
        <p:txBody>
          <a:bodyPr/>
          <a:lstStyle/>
          <a:p>
            <a:r>
              <a:rPr lang="ru-RU" dirty="0"/>
              <a:t>Функциональность ограничивается аналитикой без формирования конкретных решений.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Название презентации в одну или несколько строк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26"/>
          </p:nvPr>
        </p:nvSpPr>
        <p:spPr>
          <a:xfrm>
            <a:off x="1297765" y="5154312"/>
            <a:ext cx="10627535" cy="1039869"/>
          </a:xfrm>
        </p:spPr>
        <p:txBody>
          <a:bodyPr/>
          <a:lstStyle/>
          <a:p>
            <a:r>
              <a:rPr lang="ru-RU" dirty="0"/>
              <a:t>Фокус на учёте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27"/>
          </p:nvPr>
        </p:nvSpPr>
        <p:spPr>
          <a:xfrm>
            <a:off x="1297765" y="9200271"/>
            <a:ext cx="10627535" cy="2057400"/>
          </a:xfrm>
        </p:spPr>
        <p:txBody>
          <a:bodyPr/>
          <a:lstStyle/>
          <a:p>
            <a:r>
              <a:rPr lang="ru-RU" dirty="0"/>
              <a:t>Системы не используют формализованные алгоритмы выбора и не предлагают альтернативы. Рекомендации либо отсутствуют, либо носят общий характер.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28"/>
          </p:nvPr>
        </p:nvSpPr>
        <p:spPr>
          <a:xfrm>
            <a:off x="1297765" y="8293752"/>
            <a:ext cx="10627535" cy="1039869"/>
          </a:xfrm>
        </p:spPr>
        <p:txBody>
          <a:bodyPr/>
          <a:lstStyle/>
          <a:p>
            <a:r>
              <a:rPr lang="ru-RU" dirty="0"/>
              <a:t>Отсутствие интеллекта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29"/>
          </p:nvPr>
        </p:nvSpPr>
        <p:spPr>
          <a:xfrm>
            <a:off x="12364228" y="6060831"/>
            <a:ext cx="10627535" cy="5196840"/>
          </a:xfrm>
        </p:spPr>
        <p:txBody>
          <a:bodyPr/>
          <a:lstStyle/>
          <a:p>
            <a:r>
              <a:rPr lang="ru-RU" dirty="0"/>
              <a:t>Не учитываются индивидуальные параметры: цели, ограничения, риск-профиль и текущая ситуация.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результате пользователь остаётся </a:t>
            </a:r>
          </a:p>
          <a:p>
            <a:r>
              <a:rPr lang="ru-RU" dirty="0"/>
              <a:t>один на один с выбором и принимает решения интуитивно.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30"/>
          </p:nvPr>
        </p:nvSpPr>
        <p:spPr>
          <a:xfrm>
            <a:off x="12364228" y="5154312"/>
            <a:ext cx="10627535" cy="1039869"/>
          </a:xfrm>
        </p:spPr>
        <p:txBody>
          <a:bodyPr/>
          <a:lstStyle/>
          <a:p>
            <a:r>
              <a:rPr lang="ru-RU" dirty="0"/>
              <a:t>Игнорирование пользователя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31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BEDD1-5386-3668-9716-10E479F3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3458870-7AF0-C9F6-7FCB-99BC2F3F5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Наше решение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A875A60-ECAA-CAC2-6327-474944179D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BCF18F1-1890-F7B8-9A6B-2DB8CB03CE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AF766DD-9122-CDC5-40EB-FF4B606980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Текст 13">
            <a:extLst>
              <a:ext uri="{FF2B5EF4-FFF2-40B4-BE49-F238E27FC236}">
                <a16:creationId xmlns:a16="http://schemas.microsoft.com/office/drawing/2014/main" id="{C889A7E9-D49A-8E64-D5B3-2CAD6DD2DAB0}"/>
              </a:ext>
            </a:extLst>
          </p:cNvPr>
          <p:cNvSpPr txBox="1">
            <a:spLocks/>
          </p:cNvSpPr>
          <p:nvPr/>
        </p:nvSpPr>
        <p:spPr>
          <a:xfrm>
            <a:off x="1298517" y="5713457"/>
            <a:ext cx="6772822" cy="519684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000" dirty="0"/>
              <a:t>Разработана система поддержки принятия решений, анализирующая персональные финансовые данные пользователя.</a:t>
            </a:r>
          </a:p>
          <a:p>
            <a:pPr marL="0" indent="0">
              <a:buNone/>
            </a:pPr>
            <a:r>
              <a:rPr lang="ru-RU" sz="4000" dirty="0"/>
              <a:t>Система формирует обоснованные рекомендации на основе алгоритмической обработки информации.</a:t>
            </a:r>
            <a:endParaRPr lang="ru-RU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B144FEB6-8F28-9646-FDC1-FC2644FFF73C}"/>
              </a:ext>
            </a:extLst>
          </p:cNvPr>
          <p:cNvSpPr txBox="1">
            <a:spLocks/>
          </p:cNvSpPr>
          <p:nvPr/>
        </p:nvSpPr>
        <p:spPr>
          <a:xfrm>
            <a:off x="1298517" y="3739646"/>
            <a:ext cx="6956484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Интеллектуальная СППР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57C0DE5B-319D-44EE-7FF2-5EEEFA037054}"/>
              </a:ext>
            </a:extLst>
          </p:cNvPr>
          <p:cNvSpPr txBox="1">
            <a:spLocks/>
          </p:cNvSpPr>
          <p:nvPr/>
        </p:nvSpPr>
        <p:spPr>
          <a:xfrm>
            <a:off x="8654991" y="5713457"/>
            <a:ext cx="6772822" cy="519684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000" dirty="0"/>
              <a:t>Реализован механизм генерации и ранжирования альтернатив с учётом ограничений по ресурсам, риску и целям.</a:t>
            </a:r>
          </a:p>
          <a:p>
            <a:pPr marL="0" indent="0">
              <a:buNone/>
            </a:pPr>
            <a:r>
              <a:rPr lang="ru-RU" sz="4000" dirty="0"/>
              <a:t>Выбор решения осуществляется на основе формализованных критериев.</a:t>
            </a:r>
            <a:endParaRPr lang="ru-RU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A7587A92-EF53-5456-7E0E-5733F5DBD728}"/>
              </a:ext>
            </a:extLst>
          </p:cNvPr>
          <p:cNvSpPr txBox="1">
            <a:spLocks/>
          </p:cNvSpPr>
          <p:nvPr/>
        </p:nvSpPr>
        <p:spPr>
          <a:xfrm>
            <a:off x="8654991" y="3739646"/>
            <a:ext cx="6956484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Алгоритмический выбор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7DF07F55-1B22-485A-E3AC-1DD39EE040EE}"/>
              </a:ext>
            </a:extLst>
          </p:cNvPr>
          <p:cNvSpPr txBox="1">
            <a:spLocks/>
          </p:cNvSpPr>
          <p:nvPr/>
        </p:nvSpPr>
        <p:spPr>
          <a:xfrm>
            <a:off x="16311075" y="5713457"/>
            <a:ext cx="6772822" cy="519684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000" dirty="0"/>
              <a:t>Система учитывает индивидуальные параметры пользователя и адаптирует рекомендации под его ситуацию.</a:t>
            </a:r>
          </a:p>
          <a:p>
            <a:pPr marL="0" indent="0">
              <a:buNone/>
            </a:pPr>
            <a:r>
              <a:rPr lang="ru-RU" sz="4000" dirty="0"/>
              <a:t>Каждое решение сопровождается пояснением, что повышает доверие и понимание.</a:t>
            </a:r>
            <a:endParaRPr lang="ru-RU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44C057A1-66F9-2B2A-CFD4-B113CE413603}"/>
              </a:ext>
            </a:extLst>
          </p:cNvPr>
          <p:cNvSpPr txBox="1">
            <a:spLocks/>
          </p:cNvSpPr>
          <p:nvPr/>
        </p:nvSpPr>
        <p:spPr>
          <a:xfrm>
            <a:off x="16311075" y="3739646"/>
            <a:ext cx="6956484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Персонализация и прозрачность</a:t>
            </a:r>
          </a:p>
        </p:txBody>
      </p:sp>
    </p:spTree>
    <p:extLst>
      <p:ext uri="{BB962C8B-B14F-4D97-AF65-F5344CB8AC3E}">
        <p14:creationId xmlns:p14="http://schemas.microsoft.com/office/powerpoint/2010/main" val="321287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9449-286D-DE94-87FB-94025078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87244F77-6773-8E2D-9296-A37F4F79C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Как это работает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DFCCAAE-F7D7-AD1B-93D2-39884FC848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294FEAA5-1C25-7CD9-2956-188D9C63EB1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573DF5B5-A92D-5645-F048-D7FB37B4109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4DEED777-2C39-CC4E-2AA2-957C3599884D}"/>
              </a:ext>
            </a:extLst>
          </p:cNvPr>
          <p:cNvSpPr txBox="1">
            <a:spLocks/>
          </p:cNvSpPr>
          <p:nvPr/>
        </p:nvSpPr>
        <p:spPr>
          <a:xfrm>
            <a:off x="1298517" y="3739646"/>
            <a:ext cx="21244960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Данные → Анализ → Альтернативы → Выбор → Рекомендация</a:t>
            </a:r>
          </a:p>
        </p:txBody>
      </p:sp>
      <p:sp>
        <p:nvSpPr>
          <p:cNvPr id="2" name="Текст 9">
            <a:extLst>
              <a:ext uri="{FF2B5EF4-FFF2-40B4-BE49-F238E27FC236}">
                <a16:creationId xmlns:a16="http://schemas.microsoft.com/office/drawing/2014/main" id="{68BAAE28-7308-3D6D-D16C-55EA29B119FE}"/>
              </a:ext>
            </a:extLst>
          </p:cNvPr>
          <p:cNvSpPr txBox="1">
            <a:spLocks/>
          </p:cNvSpPr>
          <p:nvPr/>
        </p:nvSpPr>
        <p:spPr>
          <a:xfrm>
            <a:off x="1298516" y="6518032"/>
            <a:ext cx="6936767" cy="379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Система получает данные о доходах, расходах и обязательствах пользователя из различных источников.</a:t>
            </a:r>
          </a:p>
          <a:p>
            <a:endParaRPr lang="ru-RU" sz="3600" dirty="0"/>
          </a:p>
          <a:p>
            <a:r>
              <a:rPr lang="ru-RU" sz="3600" dirty="0"/>
              <a:t>Данные очищаются, нормализуются и формируют единую финансовую модель.</a:t>
            </a:r>
            <a:endParaRPr lang="ru-RU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55BECD58-6BDD-3DFF-086C-B172E3B48549}"/>
              </a:ext>
            </a:extLst>
          </p:cNvPr>
          <p:cNvSpPr txBox="1">
            <a:spLocks/>
          </p:cNvSpPr>
          <p:nvPr/>
        </p:nvSpPr>
        <p:spPr>
          <a:xfrm>
            <a:off x="1338232" y="5631026"/>
            <a:ext cx="6897051" cy="5935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 и обработка данных</a:t>
            </a:r>
          </a:p>
        </p:txBody>
      </p:sp>
      <p:sp>
        <p:nvSpPr>
          <p:cNvPr id="10" name="Текст 12">
            <a:extLst>
              <a:ext uri="{FF2B5EF4-FFF2-40B4-BE49-F238E27FC236}">
                <a16:creationId xmlns:a16="http://schemas.microsoft.com/office/drawing/2014/main" id="{F30845C9-6AB4-DFA8-C072-67A42C19781A}"/>
              </a:ext>
            </a:extLst>
          </p:cNvPr>
          <p:cNvSpPr txBox="1">
            <a:spLocks/>
          </p:cNvSpPr>
          <p:nvPr/>
        </p:nvSpPr>
        <p:spPr>
          <a:xfrm>
            <a:off x="8674101" y="5631026"/>
            <a:ext cx="6937374" cy="59355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sz="3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Данные и контроль</a:t>
            </a:r>
          </a:p>
        </p:txBody>
      </p:sp>
      <p:sp>
        <p:nvSpPr>
          <p:cNvPr id="11" name="Текст 13">
            <a:extLst>
              <a:ext uri="{FF2B5EF4-FFF2-40B4-BE49-F238E27FC236}">
                <a16:creationId xmlns:a16="http://schemas.microsoft.com/office/drawing/2014/main" id="{6A4D6AC5-DE75-FE04-8E15-26A752563B49}"/>
              </a:ext>
            </a:extLst>
          </p:cNvPr>
          <p:cNvSpPr txBox="1">
            <a:spLocks/>
          </p:cNvSpPr>
          <p:nvPr/>
        </p:nvSpPr>
        <p:spPr>
          <a:xfrm>
            <a:off x="16054389" y="5631025"/>
            <a:ext cx="7966196" cy="59355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sz="3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Выбор решения и рекомендации</a:t>
            </a:r>
          </a:p>
        </p:txBody>
      </p:sp>
      <p:sp>
        <p:nvSpPr>
          <p:cNvPr id="12" name="Текст 14">
            <a:extLst>
              <a:ext uri="{FF2B5EF4-FFF2-40B4-BE49-F238E27FC236}">
                <a16:creationId xmlns:a16="http://schemas.microsoft.com/office/drawing/2014/main" id="{6042F825-7359-141F-5365-BE52A70039E9}"/>
              </a:ext>
            </a:extLst>
          </p:cNvPr>
          <p:cNvSpPr txBox="1">
            <a:spLocks/>
          </p:cNvSpPr>
          <p:nvPr/>
        </p:nvSpPr>
        <p:spPr>
          <a:xfrm>
            <a:off x="8674101" y="6518032"/>
            <a:ext cx="6936767" cy="379571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/>
              <a:t>Рассчитываются ключевые показатели: доступный ресурс, ликвидность и долговая нагрузка.</a:t>
            </a:r>
            <a:endParaRPr lang="ru-RU" sz="3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3600" dirty="0"/>
            </a:br>
            <a:r>
              <a:rPr lang="ru-RU" sz="3600" dirty="0"/>
              <a:t>Дополнительно выполняется прогноз денежных потоков и анализ ограничений.</a:t>
            </a:r>
            <a:endParaRPr lang="ru-RU" sz="3600" dirty="0">
              <a:solidFill>
                <a:schemeClr val="tx2"/>
              </a:solidFill>
            </a:endParaRP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B0815AF9-B59E-1683-A310-138D58B873BB}"/>
              </a:ext>
            </a:extLst>
          </p:cNvPr>
          <p:cNvSpPr txBox="1">
            <a:spLocks/>
          </p:cNvSpPr>
          <p:nvPr/>
        </p:nvSpPr>
        <p:spPr>
          <a:xfrm>
            <a:off x="16054996" y="6518032"/>
            <a:ext cx="6936767" cy="379571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>
                <a:solidFill>
                  <a:schemeClr val="tx2"/>
                </a:solidFill>
              </a:rPr>
              <a:t>Формируются альтернативные варианты действий, которые ранжируются по заданным критериям.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3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>
                <a:solidFill>
                  <a:schemeClr val="tx2"/>
                </a:solidFill>
              </a:rPr>
              <a:t>Система предлагает оптимальное решение и сопровождает его понятным пояснением.</a:t>
            </a:r>
          </a:p>
        </p:txBody>
      </p:sp>
    </p:spTree>
    <p:extLst>
      <p:ext uri="{BB962C8B-B14F-4D97-AF65-F5344CB8AC3E}">
        <p14:creationId xmlns:p14="http://schemas.microsoft.com/office/powerpoint/2010/main" val="2990265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FAA7-9FB8-9888-B9B3-5F688699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99A120BB-49E2-804D-3E93-F510C604D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Как это работает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CA7EFCA6-BEDB-4EDE-8D14-28CE2301B5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104B1C47-0DDC-2A81-E59A-C918358082F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00F05D0-C95B-C799-7DFB-6B1E3B35E2A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925BE61D-6342-B055-D150-52D11532A1A2}"/>
              </a:ext>
            </a:extLst>
          </p:cNvPr>
          <p:cNvSpPr txBox="1">
            <a:spLocks/>
          </p:cNvSpPr>
          <p:nvPr/>
        </p:nvSpPr>
        <p:spPr>
          <a:xfrm>
            <a:off x="1298517" y="3739646"/>
            <a:ext cx="21244960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Данные → Анализ → Альтернативы → Выбор → Рекомендация</a:t>
            </a:r>
          </a:p>
        </p:txBody>
      </p:sp>
      <p:sp>
        <p:nvSpPr>
          <p:cNvPr id="2" name="Текст 9">
            <a:extLst>
              <a:ext uri="{FF2B5EF4-FFF2-40B4-BE49-F238E27FC236}">
                <a16:creationId xmlns:a16="http://schemas.microsoft.com/office/drawing/2014/main" id="{141A8DAA-BAEE-904D-2D6F-7529621B25BB}"/>
              </a:ext>
            </a:extLst>
          </p:cNvPr>
          <p:cNvSpPr txBox="1">
            <a:spLocks/>
          </p:cNvSpPr>
          <p:nvPr/>
        </p:nvSpPr>
        <p:spPr>
          <a:xfrm>
            <a:off x="1298516" y="6518032"/>
            <a:ext cx="6936767" cy="379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Система получает данные о доходах, расходах и обязательствах пользователя из различных источников.</a:t>
            </a:r>
          </a:p>
          <a:p>
            <a:endParaRPr lang="ru-RU" sz="3600" dirty="0"/>
          </a:p>
          <a:p>
            <a:r>
              <a:rPr lang="ru-RU" sz="3600" dirty="0"/>
              <a:t>Данные очищаются, нормализуются и формируют единую финансовую модель.</a:t>
            </a:r>
            <a:endParaRPr lang="ru-RU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E7DE5102-0E28-6BDE-058C-8B4ADC63C056}"/>
              </a:ext>
            </a:extLst>
          </p:cNvPr>
          <p:cNvSpPr txBox="1">
            <a:spLocks/>
          </p:cNvSpPr>
          <p:nvPr/>
        </p:nvSpPr>
        <p:spPr>
          <a:xfrm>
            <a:off x="1338232" y="5631026"/>
            <a:ext cx="6897051" cy="5935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 и обработка данных</a:t>
            </a:r>
          </a:p>
        </p:txBody>
      </p:sp>
      <p:sp>
        <p:nvSpPr>
          <p:cNvPr id="10" name="Текст 12">
            <a:extLst>
              <a:ext uri="{FF2B5EF4-FFF2-40B4-BE49-F238E27FC236}">
                <a16:creationId xmlns:a16="http://schemas.microsoft.com/office/drawing/2014/main" id="{7E7365F3-0C67-F660-1EB2-949C2248A307}"/>
              </a:ext>
            </a:extLst>
          </p:cNvPr>
          <p:cNvSpPr txBox="1">
            <a:spLocks/>
          </p:cNvSpPr>
          <p:nvPr/>
        </p:nvSpPr>
        <p:spPr>
          <a:xfrm>
            <a:off x="8674101" y="5631026"/>
            <a:ext cx="6937374" cy="59355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sz="3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Данные и контроль</a:t>
            </a:r>
          </a:p>
        </p:txBody>
      </p:sp>
      <p:sp>
        <p:nvSpPr>
          <p:cNvPr id="11" name="Текст 13">
            <a:extLst>
              <a:ext uri="{FF2B5EF4-FFF2-40B4-BE49-F238E27FC236}">
                <a16:creationId xmlns:a16="http://schemas.microsoft.com/office/drawing/2014/main" id="{692428E3-216B-F2D4-AD2C-447A8E6DE5B3}"/>
              </a:ext>
            </a:extLst>
          </p:cNvPr>
          <p:cNvSpPr txBox="1">
            <a:spLocks/>
          </p:cNvSpPr>
          <p:nvPr/>
        </p:nvSpPr>
        <p:spPr>
          <a:xfrm>
            <a:off x="16054389" y="5631025"/>
            <a:ext cx="7966196" cy="59355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sz="3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Выбор решения и рекомендации</a:t>
            </a:r>
          </a:p>
        </p:txBody>
      </p:sp>
      <p:sp>
        <p:nvSpPr>
          <p:cNvPr id="12" name="Текст 14">
            <a:extLst>
              <a:ext uri="{FF2B5EF4-FFF2-40B4-BE49-F238E27FC236}">
                <a16:creationId xmlns:a16="http://schemas.microsoft.com/office/drawing/2014/main" id="{42AC1AD1-BB30-0636-6E48-53A64F533936}"/>
              </a:ext>
            </a:extLst>
          </p:cNvPr>
          <p:cNvSpPr txBox="1">
            <a:spLocks/>
          </p:cNvSpPr>
          <p:nvPr/>
        </p:nvSpPr>
        <p:spPr>
          <a:xfrm>
            <a:off x="8674101" y="6518032"/>
            <a:ext cx="6936767" cy="379571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/>
              <a:t>Рассчитываются ключевые показатели: доступный ресурс, ликвидность и долговая нагрузка.</a:t>
            </a:r>
            <a:endParaRPr lang="ru-RU" sz="3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3600" dirty="0"/>
            </a:br>
            <a:r>
              <a:rPr lang="ru-RU" sz="3600" dirty="0"/>
              <a:t>Дополнительно выполняется прогноз денежных потоков и анализ ограничений.</a:t>
            </a:r>
            <a:endParaRPr lang="ru-RU" sz="3600" dirty="0">
              <a:solidFill>
                <a:schemeClr val="tx2"/>
              </a:solidFill>
            </a:endParaRP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1DE9CEAE-0B35-761E-C464-BE8F8C56991E}"/>
              </a:ext>
            </a:extLst>
          </p:cNvPr>
          <p:cNvSpPr txBox="1">
            <a:spLocks/>
          </p:cNvSpPr>
          <p:nvPr/>
        </p:nvSpPr>
        <p:spPr>
          <a:xfrm>
            <a:off x="16054996" y="6518032"/>
            <a:ext cx="6936767" cy="379571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>
                <a:solidFill>
                  <a:schemeClr val="tx2"/>
                </a:solidFill>
              </a:rPr>
              <a:t>Формируются альтернативные варианты действий, которые ранжируются по заданным критериям.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3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>
                <a:solidFill>
                  <a:schemeClr val="tx2"/>
                </a:solidFill>
              </a:rPr>
              <a:t>Система предлагает оптимальное решение и сопровождает его понятным пояснением.</a:t>
            </a:r>
          </a:p>
        </p:txBody>
      </p:sp>
    </p:spTree>
    <p:extLst>
      <p:ext uri="{BB962C8B-B14F-4D97-AF65-F5344CB8AC3E}">
        <p14:creationId xmlns:p14="http://schemas.microsoft.com/office/powerpoint/2010/main" val="365207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2461027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 и ценность продукта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C7C66-46C4-A4FB-71C7-127E03380089}"/>
              </a:ext>
            </a:extLst>
          </p:cNvPr>
          <p:cNvSpPr txBox="1"/>
          <p:nvPr/>
        </p:nvSpPr>
        <p:spPr>
          <a:xfrm>
            <a:off x="1298516" y="6989901"/>
            <a:ext cx="98194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 переводит процесс принятия финансовых решений из интуитивного в алгоритмически обоснованный.</a:t>
            </a:r>
          </a:p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Обеспечивается автоматический анализ данных, учёт ограничений и выбор оптимальной альтернативы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C67A9-2DCF-B57A-3E3D-6E3959590362}"/>
              </a:ext>
            </a:extLst>
          </p:cNvPr>
          <p:cNvSpPr txBox="1"/>
          <p:nvPr/>
        </p:nvSpPr>
        <p:spPr>
          <a:xfrm>
            <a:off x="1298515" y="5152354"/>
            <a:ext cx="91819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и обоснованность решений: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B6B89-557D-EB00-F84B-8FF8496D1FA8}"/>
              </a:ext>
            </a:extLst>
          </p:cNvPr>
          <p:cNvSpPr txBox="1"/>
          <p:nvPr/>
        </p:nvSpPr>
        <p:spPr>
          <a:xfrm>
            <a:off x="12529224" y="6989901"/>
            <a:ext cx="98194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Рекомендации формируются с учётом целей, риска и текущего финансового состояния пользователя.</a:t>
            </a:r>
          </a:p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Пользователь получает не просто аналитику, а конкретные действия, направленные на улучшение финансовой устойчивости.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6DF46-A7EA-3F78-C50E-A7F06B05004D}"/>
              </a:ext>
            </a:extLst>
          </p:cNvPr>
          <p:cNvSpPr txBox="1"/>
          <p:nvPr/>
        </p:nvSpPr>
        <p:spPr>
          <a:xfrm>
            <a:off x="12529223" y="5152354"/>
            <a:ext cx="91819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Персонализация и практическая польза:</a:t>
            </a:r>
          </a:p>
        </p:txBody>
      </p:sp>
    </p:spTree>
    <p:extLst>
      <p:ext uri="{BB962C8B-B14F-4D97-AF65-F5344CB8AC3E}">
        <p14:creationId xmlns:p14="http://schemas.microsoft.com/office/powerpoint/2010/main" val="408985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665C-4D45-88BA-CEB3-56C036FD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20903800-AEFD-FA58-BBCF-5C6B75AE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 решения задачи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35DE8AE-D6AC-5BF1-79F1-9C8A71B0C7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3A4E852D-2200-DF0B-D36E-4BA98056C49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74AA80-14F2-262B-1726-F788B000F9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10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6DF17-1261-F16F-8C2B-C79A79D6FBEA}"/>
              </a:ext>
            </a:extLst>
          </p:cNvPr>
          <p:cNvSpPr txBox="1"/>
          <p:nvPr/>
        </p:nvSpPr>
        <p:spPr>
          <a:xfrm>
            <a:off x="1949331" y="4184473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Доходы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/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8E1A0F-D043-DF5A-D74C-C2E98C9CBA2D}"/>
              </a:ext>
            </a:extLst>
          </p:cNvPr>
          <p:cNvSpPr txBox="1"/>
          <p:nvPr/>
        </p:nvSpPr>
        <p:spPr>
          <a:xfrm>
            <a:off x="1949331" y="5199455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Расходы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/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774511A-5D6F-C7C2-A868-D99F3D7B8017}"/>
              </a:ext>
            </a:extLst>
          </p:cNvPr>
          <p:cNvSpPr txBox="1"/>
          <p:nvPr/>
        </p:nvSpPr>
        <p:spPr>
          <a:xfrm>
            <a:off x="10635117" y="3427759"/>
            <a:ext cx="4378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Чистый денежный поток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/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41B9F-E766-C592-BF12-98E0768D9F76}"/>
              </a:ext>
            </a:extLst>
          </p:cNvPr>
          <p:cNvSpPr txBox="1"/>
          <p:nvPr/>
        </p:nvSpPr>
        <p:spPr>
          <a:xfrm>
            <a:off x="1916023" y="7187080"/>
            <a:ext cx="4378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Обязательства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/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/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B22DC7-3E67-C4C2-98CD-3408A418AFF5}"/>
              </a:ext>
            </a:extLst>
          </p:cNvPr>
          <p:cNvSpPr txBox="1"/>
          <p:nvPr/>
        </p:nvSpPr>
        <p:spPr>
          <a:xfrm>
            <a:off x="10611069" y="7147872"/>
            <a:ext cx="48966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Плановый платёж по обязательству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/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D96A736-A62E-37B6-E96A-4D4CA2853E82}"/>
              </a:ext>
            </a:extLst>
          </p:cNvPr>
          <p:cNvSpPr txBox="1"/>
          <p:nvPr/>
        </p:nvSpPr>
        <p:spPr>
          <a:xfrm>
            <a:off x="1298516" y="3286598"/>
            <a:ext cx="6626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Денежные потоки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2F69E-6ECA-3E02-9306-6D1CFFD71F44}"/>
              </a:ext>
            </a:extLst>
          </p:cNvPr>
          <p:cNvSpPr txBox="1"/>
          <p:nvPr/>
        </p:nvSpPr>
        <p:spPr>
          <a:xfrm>
            <a:off x="1298516" y="6220391"/>
            <a:ext cx="9636184" cy="64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Обязательства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20BD08-C64B-480E-9257-842C52101B10}"/>
              </a:ext>
            </a:extLst>
          </p:cNvPr>
          <p:cNvSpPr txBox="1"/>
          <p:nvPr/>
        </p:nvSpPr>
        <p:spPr>
          <a:xfrm>
            <a:off x="1298516" y="8813688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Параметры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/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CE6CC6F-59CA-6321-55A6-B12FFAA596B5}"/>
              </a:ext>
            </a:extLst>
          </p:cNvPr>
          <p:cNvSpPr txBox="1"/>
          <p:nvPr/>
        </p:nvSpPr>
        <p:spPr>
          <a:xfrm>
            <a:off x="1298516" y="10354122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Финансовые цели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/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Доходы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Расходы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01000" r="-48348" b="-12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1000" b="-12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99010" r="-48348" b="-1114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99010" b="-1114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302000" b="-10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402000" b="-9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02000" b="-8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73333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707000" b="-6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807000" b="-5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907000" b="-4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07000" b="-3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96040" b="-217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208000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3080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009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9653-0129-D04C-2E30-EF574B25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CF5F58F-12CF-3039-0764-38DDC4840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03422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пользователя модель должна быть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а)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простой	 </a:t>
            </a: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б)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доступной </a:t>
            </a: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в)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понятной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D1D0026-EAD7-15CA-FE28-F1BD5AA3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1996A98-AB3C-542B-B266-7C0D8E6D60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66A0F9-7C34-5406-3BBA-9CA8BE8E9A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611BE-C814-D802-CBF0-D9E7A04ED626}"/>
              </a:ext>
            </a:extLst>
          </p:cNvPr>
          <p:cNvSpPr txBox="1"/>
          <p:nvPr/>
        </p:nvSpPr>
        <p:spPr>
          <a:xfrm>
            <a:off x="1298516" y="4520312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Поэтому в модели используются </a:t>
            </a:r>
            <a:r>
              <a:rPr lang="ru-RU" sz="40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три</a:t>
            </a:r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базовых показателя: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8EAD-CCF7-0965-CE82-36E74E9C3AFD}"/>
              </a:ext>
            </a:extLst>
          </p:cNvPr>
          <p:cNvSpPr txBox="1"/>
          <p:nvPr/>
        </p:nvSpPr>
        <p:spPr>
          <a:xfrm>
            <a:off x="1298516" y="6427535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Финансовый ресурс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ADCFB-F584-9B60-93FB-228AB70DFF9B}"/>
              </a:ext>
            </a:extLst>
          </p:cNvPr>
          <p:cNvSpPr txBox="1"/>
          <p:nvPr/>
        </p:nvSpPr>
        <p:spPr>
          <a:xfrm>
            <a:off x="1298516" y="8334758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Коэффициент ликвидности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361FE-3AEE-183C-174D-C81D4ECDE0DD}"/>
              </a:ext>
            </a:extLst>
          </p:cNvPr>
          <p:cNvSpPr txBox="1"/>
          <p:nvPr/>
        </p:nvSpPr>
        <p:spPr>
          <a:xfrm>
            <a:off x="1468804" y="10892423"/>
            <a:ext cx="6611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Долговая нагрузка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B4D2FB-53FC-CE05-20D9-9F757F7A3A3C}"/>
                  </a:ext>
                </a:extLst>
              </p:cNvPr>
              <p:cNvSpPr txBox="1"/>
              <p:nvPr/>
            </p:nvSpPr>
            <p:spPr>
              <a:xfrm>
                <a:off x="7257143" y="5733078"/>
                <a:ext cx="7620000" cy="1940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sz="4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B4D2FB-53FC-CE05-20D9-9F757F7A3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43" y="5733078"/>
                <a:ext cx="7620000" cy="1940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AD33B3-1BD7-8641-818E-A73E02AB8106}"/>
                  </a:ext>
                </a:extLst>
              </p:cNvPr>
              <p:cNvSpPr txBox="1"/>
              <p:nvPr/>
            </p:nvSpPr>
            <p:spPr>
              <a:xfrm>
                <a:off x="9327016" y="8010793"/>
                <a:ext cx="4824412" cy="2231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AD33B3-1BD7-8641-818E-A73E02AB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016" y="8010793"/>
                <a:ext cx="4824412" cy="2231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403814-79D9-7BE5-8901-325508E99F46}"/>
                  </a:ext>
                </a:extLst>
              </p:cNvPr>
              <p:cNvSpPr txBox="1"/>
              <p:nvPr/>
            </p:nvSpPr>
            <p:spPr>
              <a:xfrm>
                <a:off x="9550399" y="10557582"/>
                <a:ext cx="4601029" cy="176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4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403814-79D9-7BE5-8901-325508E99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399" y="10557582"/>
                <a:ext cx="4601029" cy="1767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42170E-48B4-5CBE-8BEF-743373732990}"/>
                  </a:ext>
                </a:extLst>
              </p:cNvPr>
              <p:cNvSpPr txBox="1"/>
              <p:nvPr/>
            </p:nvSpPr>
            <p:spPr>
              <a:xfrm>
                <a:off x="15224594" y="5834428"/>
                <a:ext cx="8449097" cy="6583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доступный ресурс в момент </a:t>
                </a:r>
                <a14:m>
                  <m:oMath xmlns:m="http://schemas.openxmlformats.org/officeDocument/2006/math"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текущий баланс;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чистый денежный поток;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</a:rPr>
                  <a:t> – платежи по обязательствам;</a:t>
                </a:r>
              </a:p>
              <a:p>
                <a:pPr>
                  <a:buNone/>
                </a:pPr>
                <a:endParaRPr lang="ru-RU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коэффициент ликвидности;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баланс;</a:t>
                </a:r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3200" dirty="0"/>
                  <a:t> – суммарные расходы за период;</a:t>
                </a:r>
              </a:p>
              <a:p>
                <a:endParaRPr lang="ru-RU" sz="3200" dirty="0"/>
              </a:p>
              <a:p>
                <a:endParaRPr lang="ru-RU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коэффициент долговой нагрузки;</a:t>
                </a:r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сумма платежей по обязательствам;</a:t>
                </a:r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3200" dirty="0"/>
                  <a:t> – сумма доходов.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42170E-48B4-5CBE-8BEF-74337373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4594" y="5834428"/>
                <a:ext cx="8449097" cy="6583918"/>
              </a:xfrm>
              <a:prstGeom prst="rect">
                <a:avLst/>
              </a:prstGeom>
              <a:blipFill>
                <a:blip r:embed="rId6"/>
                <a:stretch>
                  <a:fillRect t="-1296" r="-505" b="-2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7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A403-E195-5FB5-B2C7-E374A86F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8BBDC26-A8D1-7B7A-FB7E-7FBEBE15A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среда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инструменты разработки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E41399-3142-8C23-8D6D-533D2BB079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A20C514-B45D-9927-8648-01011D869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AACAFA6-F064-A579-2CF6-38725A5501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42CF7EE-E333-1139-3EC1-F1C31574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3105"/>
              </p:ext>
            </p:extLst>
          </p:nvPr>
        </p:nvGraphicFramePr>
        <p:xfrm>
          <a:off x="1298516" y="4294885"/>
          <a:ext cx="21803151" cy="7744715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4397434">
                  <a:extLst>
                    <a:ext uri="{9D8B030D-6E8A-4147-A177-3AD203B41FA5}">
                      <a16:colId xmlns:a16="http://schemas.microsoft.com/office/drawing/2014/main" val="2306128875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1049280081"/>
                    </a:ext>
                  </a:extLst>
                </a:gridCol>
                <a:gridCol w="10604867">
                  <a:extLst>
                    <a:ext uri="{9D8B030D-6E8A-4147-A177-3AD203B41FA5}">
                      <a16:colId xmlns:a16="http://schemas.microsoft.com/office/drawing/2014/main" val="3986087481"/>
                    </a:ext>
                  </a:extLst>
                </a:gridCol>
              </a:tblGrid>
              <a:tr h="87113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Инструмент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Назначение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Роль в системе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8085270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Python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Язык программирования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Реализация всей логики системы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1600734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FastAPI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Веб-фреймворк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Обработка HTTP-запросов, построение API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022744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Uvicorn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ASGI-сервер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Запуск и выполнение приложения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6580337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SQLAlchemy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ORM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Работа с базой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5676788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Pydantic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Валидация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Проверка входных и выходных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3123396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pydantic-settings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Конфигурация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Управление настройками приложения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3221875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python-dotenv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Работа с переменными среды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Загрузка конфигурации из .env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9816682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Jinja2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Шаблонизатор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Формирование HTML-интерфейса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13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489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92BF-5260-78FC-2996-88F66889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A79DE2C7-211B-47C9-B670-1B924386E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D4EF0F6-3416-0F7F-A0CA-9BE15289C0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86677B3-781F-B368-8283-1B11AED3D0F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8ECC9E8-1BA7-4D55-DF29-FEEB91451B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1AFD9-07E7-6600-2B20-E559D98D417E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Главная панель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CC7E8C-CB1D-5E9A-DB06-0DEC224EA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6" y="3994484"/>
            <a:ext cx="22012650" cy="84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49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3BB7E-510D-C185-B0B6-13EC9B17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A7B6AC85-ECB1-E36A-B8AD-6FE61B497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52A695-EB97-C143-830B-9D5462FFDD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AA00A85-3B2B-BDEF-1063-F56D936F4F8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445D008A-107B-BE44-B3F7-64FAEA630B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1C72F-FD4F-5D21-9BEC-7A12B5CDD744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Разделы управления обязательствами и целями в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1959D1-CC25-6E3F-9CC2-9C6CE18E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6" y="4161472"/>
            <a:ext cx="22285384" cy="77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84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C25F-1ADB-82FE-6D79-A16E7E86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B746627-5613-BDAF-D85E-6EF898946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C78B57B-D1CE-511F-4C93-91A36F8F65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B975FEBF-8E0F-3579-366B-C17B29A78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F9D37536-5852-5FA5-86F8-B19DE0B6D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83D87-56A5-88E8-04F6-3918A90C64E0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Журнал доходов и расходов в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92320E-F582-BCA9-8108-406FEA5F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048"/>
          <a:stretch>
            <a:fillRect/>
          </a:stretch>
        </p:blipFill>
        <p:spPr>
          <a:xfrm>
            <a:off x="1298516" y="3976322"/>
            <a:ext cx="18932584" cy="845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9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C3EC-1BE3-5CCD-AA6B-15F77714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58DB6063-7853-7D9C-F80B-52828673C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A0329B5-C19F-E172-DA4B-E4B2BD3F04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4883210-25C0-937F-69CA-0D15D9B4445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B25A2B4-6907-B355-1951-6B6718A6593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2EB17D-EDFD-88E8-F393-69D9C218CBD1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ключевых показателей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9E3B23-F7EB-A03F-D1CF-6237B1E9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883"/>
          <a:stretch>
            <a:fillRect/>
          </a:stretch>
        </p:blipFill>
        <p:spPr>
          <a:xfrm>
            <a:off x="1298516" y="4176830"/>
            <a:ext cx="22314911" cy="67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5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A88E-F825-5336-C5D3-2070B6BC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71B67E8-5BD9-990F-FACA-B4E7C0934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B33224A-7AE5-75D5-CAAA-1BFAD4BAF4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ADB8801-083B-B6D6-C68A-29FBD4CA24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94935F8-23B0-7B33-6F07-777CBCACC4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5C364-B127-A439-86D4-DBA055B63DA9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финансового профиля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4FF82F-40BF-1B88-3EFA-70955FBB9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69"/>
          <a:stretch>
            <a:fillRect/>
          </a:stretch>
        </p:blipFill>
        <p:spPr>
          <a:xfrm>
            <a:off x="1298516" y="4343400"/>
            <a:ext cx="22508676" cy="631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3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15CA-C709-4869-09A8-220B307D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0316C-22C4-E217-9958-F3228FF1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" y="1496859"/>
            <a:ext cx="22858730" cy="111341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0CEC0C-BFE1-26C2-5291-017C54BE6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70" y="1460720"/>
            <a:ext cx="12914630" cy="2302254"/>
          </a:xfrm>
          <a:prstGeom prst="rect">
            <a:avLst/>
          </a:prstGeom>
        </p:spPr>
      </p:pic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887635D2-7BD3-6111-D7F1-0EF03CF83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4C19B348-A311-B947-9176-5127450A17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3A18CCA-9EBC-21CA-284C-801EEADAC29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66E4EDA1-EE76-DF4D-61CF-3B939F9C79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2C8A4-25AB-0AF5-641D-AD75E6F6A8D8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рекомендаций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56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6459-11D6-9282-CBC5-49777676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2FA901C-2DCA-FE31-40C3-13A6A4C78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85134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 расчета показателей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22CC976-D405-AFE2-4ECC-3496042FA3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CCDFC764-7988-A857-AEFB-46D6515C255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C817AE8A-A74A-673F-4EB6-D886F6C0FE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44D72-7AD6-613F-0283-E275A4F19E22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Сценарный анализ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0B300CE-5296-E8F6-ACCC-4107AD24D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04838"/>
              </p:ext>
            </p:extLst>
          </p:nvPr>
        </p:nvGraphicFramePr>
        <p:xfrm>
          <a:off x="1298516" y="4297679"/>
          <a:ext cx="21961534" cy="7302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6867">
                  <a:extLst>
                    <a:ext uri="{9D8B030D-6E8A-4147-A177-3AD203B41FA5}">
                      <a16:colId xmlns:a16="http://schemas.microsoft.com/office/drawing/2014/main" val="1255311946"/>
                    </a:ext>
                  </a:extLst>
                </a:gridCol>
                <a:gridCol w="3246867">
                  <a:extLst>
                    <a:ext uri="{9D8B030D-6E8A-4147-A177-3AD203B41FA5}">
                      <a16:colId xmlns:a16="http://schemas.microsoft.com/office/drawing/2014/main" val="172800185"/>
                    </a:ext>
                  </a:extLst>
                </a:gridCol>
                <a:gridCol w="2792430">
                  <a:extLst>
                    <a:ext uri="{9D8B030D-6E8A-4147-A177-3AD203B41FA5}">
                      <a16:colId xmlns:a16="http://schemas.microsoft.com/office/drawing/2014/main" val="3659574217"/>
                    </a:ext>
                  </a:extLst>
                </a:gridCol>
                <a:gridCol w="4065926">
                  <a:extLst>
                    <a:ext uri="{9D8B030D-6E8A-4147-A177-3AD203B41FA5}">
                      <a16:colId xmlns:a16="http://schemas.microsoft.com/office/drawing/2014/main" val="2716467162"/>
                    </a:ext>
                  </a:extLst>
                </a:gridCol>
                <a:gridCol w="2201991">
                  <a:extLst>
                    <a:ext uri="{9D8B030D-6E8A-4147-A177-3AD203B41FA5}">
                      <a16:colId xmlns:a16="http://schemas.microsoft.com/office/drawing/2014/main" val="3301088240"/>
                    </a:ext>
                  </a:extLst>
                </a:gridCol>
                <a:gridCol w="1639337">
                  <a:extLst>
                    <a:ext uri="{9D8B030D-6E8A-4147-A177-3AD203B41FA5}">
                      <a16:colId xmlns:a16="http://schemas.microsoft.com/office/drawing/2014/main" val="3672411152"/>
                    </a:ext>
                  </a:extLst>
                </a:gridCol>
                <a:gridCol w="1521249">
                  <a:extLst>
                    <a:ext uri="{9D8B030D-6E8A-4147-A177-3AD203B41FA5}">
                      <a16:colId xmlns:a16="http://schemas.microsoft.com/office/drawing/2014/main" val="4161136170"/>
                    </a:ext>
                  </a:extLst>
                </a:gridCol>
                <a:gridCol w="3246867">
                  <a:extLst>
                    <a:ext uri="{9D8B030D-6E8A-4147-A177-3AD203B41FA5}">
                      <a16:colId xmlns:a16="http://schemas.microsoft.com/office/drawing/2014/main" val="3022255985"/>
                    </a:ext>
                  </a:extLst>
                </a:gridCol>
              </a:tblGrid>
              <a:tr h="74197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Сценарий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Доходы,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Расходы,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Обязательства,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Rt,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Lt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Dt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Результат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9491917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167000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36500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23500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107000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1,78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Стабильное состояние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975705316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100000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15000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5000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0,04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Низкая ликвидность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324409855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3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60000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50000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-10000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-0,10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0,50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Высокая долговая нагрузка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07891602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60000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0,43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Умеренное состояние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02000310"/>
                  </a:ext>
                </a:extLst>
              </a:tr>
              <a:tr h="72896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180000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70000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1,25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0,06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</a:rPr>
                        <a:t>Наличие ресурса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83937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578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AF1F-00B4-41AA-8F46-F71CD444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D132FED4-A23C-7DBD-4A47-35A7B7F5A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Выводы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9443D9E3-20AD-B7F3-5A87-219DA43EA9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03F6FDA-5FC8-DC59-714A-437DA8C8EE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81D5722-2A63-402A-716F-32E71D0BC8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20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95AA6-498D-AC91-B7CE-FB537CBC8165}"/>
              </a:ext>
            </a:extLst>
          </p:cNvPr>
          <p:cNvSpPr txBox="1"/>
          <p:nvPr/>
        </p:nvSpPr>
        <p:spPr>
          <a:xfrm>
            <a:off x="1562100" y="3399800"/>
            <a:ext cx="21717000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разработана интеллектуальная система поддержки принятия решений в сфере персональных финансов;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предложен алгоритм выбора и ранжирования финансовых решений с учётом ограничений и целей пользователя;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реализована математическая модель оценки финансового состояния;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создан программный прототип с возможностью анализа и формирования рекомендаций;– обеспечена персонализация и объяснимость принимаемых решений;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подтверждена эффективность подхода на основе сценарного анализа;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практическая значимость заключается в повышении качества и устойчивости финансовых решений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899044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Ленинский проспект, д. 4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Москва, 119049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тел. +7 (495) 955-00-32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mail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kancela@misis.ru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misis.ru</a:t>
            </a: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732</TotalTime>
  <Words>2081</Words>
  <Application>Microsoft Office PowerPoint</Application>
  <PresentationFormat>Произвольный</PresentationFormat>
  <Paragraphs>399</Paragraphs>
  <Slides>21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TT Norms Pro Medium</vt:lpstr>
      <vt:lpstr>Cambria Math</vt:lpstr>
      <vt:lpstr>Times New Roman</vt:lpstr>
      <vt:lpstr>Tahoma</vt:lpstr>
      <vt:lpstr>TT Norms Pro</vt:lpstr>
      <vt:lpstr>Calibri</vt:lpstr>
      <vt:lpstr>Arial</vt:lpstr>
      <vt:lpstr>Misis</vt:lpstr>
      <vt:lpstr>Система поддержки принятия решений (СППР) в сфере персональных финансов</vt:lpstr>
      <vt:lpstr>Проблема пользователя</vt:lpstr>
      <vt:lpstr>Классы подходов к СППР  в персональных финансах</vt:lpstr>
      <vt:lpstr>Типовые зоны решений в персональных финансах</vt:lpstr>
      <vt:lpstr>Почему существующие решения не работают</vt:lpstr>
      <vt:lpstr>Наше решение</vt:lpstr>
      <vt:lpstr>Как это работает</vt:lpstr>
      <vt:lpstr>Как это работает</vt:lpstr>
      <vt:lpstr>Преимущества и ценность продукта</vt:lpstr>
      <vt:lpstr>Математическая модель решения задачи</vt:lpstr>
      <vt:lpstr>Для пользователя модель должна быть а) простой  б) доступной в) понятной</vt:lpstr>
      <vt:lpstr>Программная среда  и инструменты разработки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Результаты расчета показателей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A T</cp:lastModifiedBy>
  <cp:revision>94</cp:revision>
  <dcterms:created xsi:type="dcterms:W3CDTF">2022-07-26T11:52:44Z</dcterms:created>
  <dcterms:modified xsi:type="dcterms:W3CDTF">2026-04-15T05:26:46Z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2026-02-14T18:52:21Z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cf9eee5f-0de2-42c5-8f66-ffb185aa2cad</vt:lpwstr>
  </property>
  <property fmtid="{D5CDD505-2E9C-101B-9397-08002B2CF9AE}" pid="7" name="MSIP_Label_defa4170-0d19-0005-0004-bc88714345d2_ActionId">
    <vt:lpwstr>2092aea2-0836-4eda-9e1a-614292534f0b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