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22"/>
  </p:notesMasterIdLst>
  <p:sldIdLst>
    <p:sldId id="256" r:id="rId2"/>
    <p:sldId id="281" r:id="rId3"/>
    <p:sldId id="282" r:id="rId4"/>
    <p:sldId id="283" r:id="rId5"/>
    <p:sldId id="305" r:id="rId6"/>
    <p:sldId id="306" r:id="rId7"/>
    <p:sldId id="307" r:id="rId8"/>
    <p:sldId id="264" r:id="rId9"/>
    <p:sldId id="294" r:id="rId10"/>
    <p:sldId id="295" r:id="rId11"/>
    <p:sldId id="296" r:id="rId12"/>
    <p:sldId id="297" r:id="rId13"/>
    <p:sldId id="299" r:id="rId14"/>
    <p:sldId id="300" r:id="rId15"/>
    <p:sldId id="301" r:id="rId16"/>
    <p:sldId id="302" r:id="rId17"/>
    <p:sldId id="303" r:id="rId18"/>
    <p:sldId id="304" r:id="rId19"/>
    <p:sldId id="298" r:id="rId20"/>
    <p:sldId id="272" r:id="rId21"/>
  </p:sldIdLst>
  <p:sldSz cx="24382413" cy="13716000"/>
  <p:notesSz cx="6858000" cy="9144000"/>
  <p:embeddedFontLst>
    <p:embeddedFont>
      <p:font typeface="Cambria Math" panose="02040503050406030204" pitchFamily="18" charset="0"/>
      <p:regular r:id="rId23"/>
    </p:embeddedFont>
    <p:embeddedFont>
      <p:font typeface="Tahoma" panose="020B0604030504040204" pitchFamily="34" charset="0"/>
      <p:regular r:id="rId24"/>
      <p:bold r:id="rId25"/>
      <p:italic r:id="rId26"/>
    </p:embeddedFont>
    <p:embeddedFont>
      <p:font typeface="TT Norms Pro" panose="02000503030000090003" charset="0"/>
      <p:regular r:id="rId27"/>
      <p:bold r:id="rId28"/>
      <p:italic r:id="rId29"/>
      <p:boldItalic r:id="rId30"/>
    </p:embeddedFont>
    <p:embeddedFont>
      <p:font typeface="TT Norms Pro Medium" panose="02000803020000090003" charset="0"/>
      <p:regular r:id="rId31"/>
      <p:italic r:id="rId32"/>
    </p:embeddedFont>
  </p:embeddedFontLst>
  <p:custDataLst>
    <p:tags r:id="rId33"/>
  </p:custDataLst>
  <p:defaultTextStyle>
    <a:defPPr>
      <a:defRPr lang="ru-RU"/>
    </a:defPPr>
    <a:lvl1pPr marL="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6" userDrawn="1">
          <p15:clr>
            <a:srgbClr val="A4A3A4"/>
          </p15:clr>
        </p15:guide>
        <p15:guide id="2" pos="1507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77" autoAdjust="0"/>
    <p:restoredTop sz="84284" autoAdjust="0"/>
  </p:normalViewPr>
  <p:slideViewPr>
    <p:cSldViewPr snapToGrid="0" showGuides="1">
      <p:cViewPr varScale="1">
        <p:scale>
          <a:sx n="55" d="100"/>
          <a:sy n="55" d="100"/>
        </p:scale>
        <p:origin x="120" y="942"/>
      </p:cViewPr>
      <p:guideLst>
        <p:guide orient="horz" pos="7926"/>
        <p:guide pos="1507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01" d="100"/>
          <a:sy n="101" d="100"/>
        </p:scale>
        <p:origin x="2508" y="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AE627D-15EB-40F5-AEC0-AD078B3D9203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FAC02-5901-4D7E-90A5-4DB54C8C6E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0496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C7033-2652-2630-1D0B-3814ABF3B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B9A632F-585A-280F-BCB8-261AD5A5EF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E698374-A389-4918-2DB1-E58D3ADE4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A96792-5570-E824-D1EE-2E128099E7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3524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9A3EE-1694-7D52-2F30-3B73BBC5E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908114D-04D9-C70D-DCC3-F77FE4CB58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E6FEA6E-6BA5-D0B5-A855-92F1296D9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147025-F189-DB98-BB3F-3C2A308151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8627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8AC5E-23D9-EF93-269E-C96FEAA79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86FA46F-373C-8923-3C3F-B912C8D54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632DB55-BC77-FA5B-FF89-6ED3196FC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AD1C7B-783A-5C64-9D81-AD5DDE119C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8579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BF2FD-1166-4F76-A512-ADC60B1DE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F6FC4FE-FF1C-184C-FBCD-459D343D6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F526B83-5625-761F-55E6-557655FE7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A116514-7593-AABD-4C3E-B105761E09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4205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F961C-9543-57F3-9C2E-D4BFEF641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BCD46EB-9D63-ABD8-EDDA-C9DEE31A1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99183C7-2753-476F-C4F0-0B0B3D837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7FC851-D523-03AB-C0E1-CE82475F35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1903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54241-A454-95AE-4F1B-5BE2AD59B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9EEA578-901D-B0FA-1FB4-1B4F36F92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2DDD21A-1E8B-1AD5-BFCD-09D5CFBD6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FE1536-CC36-01D2-B302-416B8AE3AA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554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AF242-1A68-18FE-1DB4-BC9872E8F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832E8E7-8165-673E-81B1-C3A0FB39E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FCFAC0F-3A68-CB10-B0CA-17A746107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9391BC-FB0E-0CE5-9A56-1D222FFEED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72731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4D622-6B2C-8C81-215D-37D7C36BF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906F4FE-9AA8-E060-E126-B2E8F91AE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6FEC90A-5729-755A-2CFB-8A75245FF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12116E1-35C8-715B-69D6-B818E4EE20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745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65250-8582-D143-CB0C-F5F8E8547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82FE532-A125-C50A-E1DE-33BF2A335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DA84C69-F8AB-E0AD-4BD1-7D353323D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95ACFE-E9CC-B6F8-771E-4F92F5EEA1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5267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7B43F-4CD1-C44B-8585-3B33447DD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DF3E406-657C-0231-B507-E3868E902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2EB4AC5-0AD3-E7CD-33FE-4F42D8692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AFD084-9DE1-A16B-EF99-B0DC02EFCA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6405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3FE99-0BF8-39B4-C7F0-AA08F2FC2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2FF3A16-0C94-D8BE-F695-6FAD41D45C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AF314BF-A004-727A-3262-F122B203C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8814CF-C150-7C43-BE68-F756B6D881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92254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B5D11-08A8-B0BB-89E2-0AF9DE6A5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4E2CBB5-2F0C-747A-5923-7AE64A881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DD34E44-D264-DFB9-EEE8-78F040ECB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CE9F69A-90C2-8670-2272-A4363F67B1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7786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8F76D-BC56-922C-4777-73F0AF13E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003E4FF-B3F9-774D-7AAF-FD721F655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7054272-D1E3-F6FD-FB8D-8552BD5B0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3AFC5F1-DF11-E4BE-9738-4B79FABBD4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78498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F14AA-C306-21B5-D615-A22FE238F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EEBECED-F7A0-E88E-FA1D-217A9132D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9575318-07FA-5225-660B-B2830D0E3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A88445-BCD7-B021-B54D-0A14F5D8A7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00604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9AE2F-004E-E1BE-88B5-59E8F71FE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7AD11DA-2D6D-8775-41E7-5906A6205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75996A9-6A9E-004C-B954-E56BD3CE3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045A5D4-7EA1-D471-2EFF-B82021FEAC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96387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541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5185743"/>
            <a:ext cx="9952581" cy="3850681"/>
          </a:xfrm>
        </p:spPr>
        <p:txBody>
          <a:bodyPr anchor="t">
            <a:noAutofit/>
          </a:bodyPr>
          <a:lstStyle>
            <a:lvl1pPr algn="l">
              <a:lnSpc>
                <a:spcPts val="7700"/>
              </a:lnSpc>
              <a:defRPr sz="86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dirty="0"/>
              <a:t>Заголовок презентации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8516" y="9036424"/>
            <a:ext cx="9952581" cy="199955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ru-RU" dirty="0"/>
              <a:t>Фамилия Имя Отчество</a:t>
            </a:r>
            <a:br>
              <a:rPr lang="ru-RU" dirty="0"/>
            </a:br>
            <a:r>
              <a:rPr lang="ru-RU" dirty="0"/>
              <a:t>Должность спикера в одну</a:t>
            </a:r>
            <a:br>
              <a:rPr lang="ru-RU" dirty="0"/>
            </a:br>
            <a:r>
              <a:rPr lang="ru-RU" dirty="0"/>
              <a:t>или более строк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00460" y="11867187"/>
            <a:ext cx="3033416" cy="7302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0560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7890843"/>
            <a:ext cx="9952581" cy="2091357"/>
          </a:xfrm>
        </p:spPr>
        <p:txBody>
          <a:bodyPr anchor="t">
            <a:noAutofit/>
          </a:bodyPr>
          <a:lstStyle>
            <a:lvl1pPr algn="l">
              <a:lnSpc>
                <a:spcPts val="7700"/>
              </a:lnSpc>
              <a:defRPr sz="86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презентации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8516" y="10362149"/>
            <a:ext cx="9952581" cy="121022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ru-RU" dirty="0"/>
              <a:t>Подзаголовок в одну, две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00460" y="11867187"/>
            <a:ext cx="3033416" cy="7302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054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или глав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6362700" y="5147643"/>
            <a:ext cx="12573000" cy="5539407"/>
          </a:xfrm>
        </p:spPr>
        <p:txBody>
          <a:bodyPr anchor="t">
            <a:noAutofit/>
          </a:bodyPr>
          <a:lstStyle>
            <a:lvl1pPr marL="0" marR="0" indent="0" algn="l" defTabSz="1828709" rtl="0" eaLnBrk="1" fontAlgn="auto" latinLnBrk="0" hangingPunct="1">
              <a:lnSpc>
                <a:spcPts val="13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9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1828709" rtl="0" eaLnBrk="1" fontAlgn="auto" latinLnBrk="0" hangingPunct="1">
              <a:lnSpc>
                <a:spcPts val="13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  </a:t>
            </a:r>
            <a:r>
              <a:rPr lang="ru-RU" dirty="0"/>
              <a:t>Заголовок</a:t>
            </a:r>
            <a:br>
              <a:rPr lang="ru-RU" dirty="0"/>
            </a:br>
            <a:r>
              <a:rPr lang="en-US" dirty="0"/>
              <a:t>       </a:t>
            </a:r>
            <a:r>
              <a:rPr lang="ru-RU" dirty="0"/>
              <a:t>раздела</a:t>
            </a:r>
            <a:br>
              <a:rPr lang="ru-RU" dirty="0"/>
            </a:br>
            <a:r>
              <a:rPr lang="ru-RU" dirty="0"/>
              <a:t>или главы</a:t>
            </a:r>
            <a:br>
              <a:rPr lang="ru-R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81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или глава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7620000" y="5147643"/>
            <a:ext cx="12573000" cy="3748707"/>
          </a:xfrm>
        </p:spPr>
        <p:txBody>
          <a:bodyPr anchor="t">
            <a:noAutofit/>
          </a:bodyPr>
          <a:lstStyle>
            <a:lvl1pPr algn="l">
              <a:lnSpc>
                <a:spcPts val="13700"/>
              </a:lnSpc>
              <a:defRPr sz="159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en-US" dirty="0"/>
            </a:br>
            <a:r>
              <a:rPr lang="en-US" dirty="0"/>
              <a:t>     </a:t>
            </a:r>
            <a:r>
              <a:rPr lang="ru-RU" dirty="0"/>
              <a:t>короткий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600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или глав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7" y="2163817"/>
            <a:ext cx="7451784" cy="3130078"/>
          </a:xfrm>
        </p:spPr>
        <p:txBody>
          <a:bodyPr anchor="t">
            <a:noAutofit/>
          </a:bodyPr>
          <a:lstStyle>
            <a:lvl1pPr algn="l">
              <a:lnSpc>
                <a:spcPts val="7700"/>
              </a:lnSpc>
              <a:defRPr sz="86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  <a:br>
              <a:rPr lang="ru-RU" dirty="0"/>
            </a:br>
            <a:r>
              <a:rPr lang="ru-RU" dirty="0"/>
              <a:t>или главы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8516" y="7017374"/>
            <a:ext cx="9952581" cy="29929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ru-RU" dirty="0"/>
              <a:t>При наличии может</a:t>
            </a:r>
            <a:br>
              <a:rPr lang="ru-RU" dirty="0"/>
            </a:br>
            <a:r>
              <a:rPr lang="ru-RU" dirty="0"/>
              <a:t>размещаться общая</a:t>
            </a:r>
            <a:br>
              <a:rPr lang="ru-RU" dirty="0"/>
            </a:br>
            <a:r>
              <a:rPr lang="ru-RU" dirty="0"/>
              <a:t>информация данного</a:t>
            </a:r>
            <a:br>
              <a:rPr lang="ru-RU" dirty="0"/>
            </a:br>
            <a:r>
              <a:rPr lang="ru-RU" dirty="0"/>
              <a:t>раздела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00460" y="11867187"/>
            <a:ext cx="3033416" cy="7302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906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6" y="4379496"/>
            <a:ext cx="10626783" cy="10507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What is Lorem Ipsum?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6" y="5787113"/>
            <a:ext cx="10626783" cy="654299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is simply dummy </a:t>
            </a:r>
            <a:br>
              <a:rPr lang="en-US" dirty="0"/>
            </a:br>
            <a:r>
              <a:rPr lang="en-US" dirty="0"/>
              <a:t>of the printing and typesetting industry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Lorem Ipsum has been the industry's</a:t>
            </a:r>
            <a:br>
              <a:rPr lang="en-US" dirty="0"/>
            </a:br>
            <a:r>
              <a:rPr lang="en-US" dirty="0"/>
              <a:t>standard dummy text ever since the 1500s, when an unknown printer took a galley</a:t>
            </a:r>
            <a:br>
              <a:rPr lang="en-US" dirty="0"/>
            </a:br>
            <a:r>
              <a:rPr lang="en-US" dirty="0"/>
              <a:t>of type and scrambled it to make a type</a:t>
            </a:r>
            <a:br>
              <a:rPr lang="en-US" dirty="0"/>
            </a:br>
            <a:r>
              <a:rPr lang="en-US" dirty="0"/>
              <a:t>specimen book</a:t>
            </a:r>
            <a:endParaRPr lang="ru-RU" dirty="0"/>
          </a:p>
        </p:txBody>
      </p:sp>
      <p:sp>
        <p:nvSpPr>
          <p:cNvPr id="9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18060989" y="9152022"/>
            <a:ext cx="4930774" cy="59355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endParaRPr lang="ru-RU" dirty="0"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0989" y="9745579"/>
            <a:ext cx="4930774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is simply dummy text</a:t>
            </a:r>
            <a:br>
              <a:rPr lang="en-US" dirty="0"/>
            </a:br>
            <a:r>
              <a:rPr lang="en-US" dirty="0"/>
              <a:t>Lorem Ipsum is simply </a:t>
            </a:r>
            <a:endParaRPr lang="ru-RU" dirty="0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5878842" y="8839203"/>
            <a:ext cx="2120397" cy="226995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72</a:t>
            </a:r>
            <a:endParaRPr lang="ru-RU" dirty="0"/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16050292" y="4474746"/>
            <a:ext cx="7362158" cy="247850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«Хотел бы отметить особую роль НИТУ «</a:t>
            </a:r>
            <a:r>
              <a:rPr lang="ru-RU" dirty="0" err="1"/>
              <a:t>МИСиС</a:t>
            </a:r>
            <a:r>
              <a:rPr lang="ru-RU" dirty="0"/>
              <a:t>»</a:t>
            </a:r>
            <a:br>
              <a:rPr lang="ru-RU" dirty="0"/>
            </a:br>
            <a:r>
              <a:rPr lang="ru-RU" dirty="0"/>
              <a:t>в подготовке специалистов для предприятий ОМК.</a:t>
            </a:r>
            <a:br>
              <a:rPr lang="ru-RU" dirty="0"/>
            </a:br>
            <a:r>
              <a:rPr lang="ru-RU" dirty="0"/>
              <a:t>Блестящее качество образования и глубина знаний</a:t>
            </a:r>
            <a:br>
              <a:rPr lang="ru-RU" dirty="0"/>
            </a:br>
            <a:r>
              <a:rPr lang="ru-RU" dirty="0"/>
              <a:t>наших сотрудников, уникальные учебные программы</a:t>
            </a:r>
            <a:br>
              <a:rPr lang="ru-RU" dirty="0"/>
            </a:br>
            <a:r>
              <a:rPr lang="ru-RU" dirty="0"/>
              <a:t>университета, в том числе разработанные специально</a:t>
            </a:r>
            <a:br>
              <a:rPr lang="ru-RU" dirty="0"/>
            </a:br>
            <a:r>
              <a:rPr lang="ru-RU" dirty="0"/>
              <a:t>для нас, — один из главных факторов успеха ОМК»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7" hasCustomPrompt="1"/>
          </p:nvPr>
        </p:nvSpPr>
        <p:spPr>
          <a:xfrm>
            <a:off x="16050292" y="7110162"/>
            <a:ext cx="7362158" cy="30931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Анатолий Седых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8" hasCustomPrompt="1"/>
          </p:nvPr>
        </p:nvSpPr>
        <p:spPr>
          <a:xfrm>
            <a:off x="16050292" y="7382126"/>
            <a:ext cx="7362158" cy="8284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Председатель правления АО «ОМК».</a:t>
            </a:r>
            <a:br>
              <a:rPr lang="ru-RU" dirty="0"/>
            </a:br>
            <a:r>
              <a:rPr lang="ru-RU" dirty="0"/>
              <a:t>Выпускник МИСИС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950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 userDrawn="1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 userDrawn="1">
          <p15:clr>
            <a:srgbClr val="FBAE40"/>
          </p15:clr>
        </p15:guide>
        <p15:guide id="16" orient="horz" pos="55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737165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раздела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7" y="3760060"/>
            <a:ext cx="8461710" cy="293014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 is simply dummy</a:t>
            </a:r>
            <a:br>
              <a:rPr lang="en-US" dirty="0"/>
            </a:br>
            <a:r>
              <a:rPr lang="en-US" dirty="0"/>
              <a:t>text of the printing and typesetting</a:t>
            </a:r>
            <a:br>
              <a:rPr lang="en-US" dirty="0"/>
            </a:br>
            <a:r>
              <a:rPr lang="en-US" dirty="0"/>
              <a:t>industry. Lorem Ipsum has been</a:t>
            </a:r>
            <a:br>
              <a:rPr lang="en-US" dirty="0"/>
            </a:br>
            <a:r>
              <a:rPr lang="en-US" dirty="0"/>
              <a:t>the industry's standard dummy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363313" y="7655253"/>
            <a:ext cx="10682129" cy="467486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has been the industry's </a:t>
            </a:r>
            <a:br>
              <a:rPr lang="en-US" dirty="0"/>
            </a:br>
            <a:r>
              <a:rPr lang="en-US" dirty="0"/>
              <a:t>standard dummy text ever since the 1500s,</a:t>
            </a:r>
            <a:br>
              <a:rPr lang="en-US" dirty="0"/>
            </a:br>
            <a:r>
              <a:rPr lang="en-US" dirty="0"/>
              <a:t>when an unknown printer took a galley </a:t>
            </a:r>
          </a:p>
          <a:p>
            <a:pPr lvl="0"/>
            <a:r>
              <a:rPr lang="en-US" dirty="0"/>
              <a:t>Lorem Ipsum has been the industry's </a:t>
            </a:r>
            <a:br>
              <a:rPr lang="en-US" dirty="0"/>
            </a:br>
            <a:r>
              <a:rPr lang="en-US" dirty="0"/>
              <a:t>standard dummy text ever since the 1500s,</a:t>
            </a:r>
            <a:br>
              <a:rPr lang="en-US" dirty="0"/>
            </a:br>
            <a:r>
              <a:rPr lang="en-US" dirty="0"/>
              <a:t>when an unknown printer took a galley</a:t>
            </a:r>
            <a:endParaRPr lang="ru-RU" dirty="0"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2354962" y="5364110"/>
            <a:ext cx="3256513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</a:t>
            </a:r>
            <a:br>
              <a:rPr lang="en-US" dirty="0"/>
            </a:br>
            <a:r>
              <a:rPr lang="en-US" dirty="0"/>
              <a:t>dummy text</a:t>
            </a:r>
            <a:endParaRPr lang="ru-RU" dirty="0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2297582" y="3326258"/>
            <a:ext cx="3313893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23</a:t>
            </a:r>
            <a:endParaRPr lang="ru-RU" dirty="0"/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1298516" y="7672908"/>
            <a:ext cx="7129868" cy="247850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«НИТУ «МИСИС» полноправно вошёл в «обойму» тех организаций, которые сотрудничают с CERN. Теперь НИТУ «МИСИС» — не только университет, блистающий в области новых материалов и технологий, но и организация, имеющая отношение к участию России  в самых ярких проектах в области</a:t>
            </a:r>
            <a:r>
              <a:rPr lang="en-US" dirty="0"/>
              <a:t> </a:t>
            </a:r>
            <a:r>
              <a:rPr lang="ru-RU" dirty="0"/>
              <a:t>физики частиц»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7" hasCustomPrompt="1"/>
          </p:nvPr>
        </p:nvSpPr>
        <p:spPr>
          <a:xfrm>
            <a:off x="1298516" y="10548418"/>
            <a:ext cx="7129868" cy="2719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Григорий Трубников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8" hasCustomPrompt="1"/>
          </p:nvPr>
        </p:nvSpPr>
        <p:spPr>
          <a:xfrm>
            <a:off x="1298516" y="10820381"/>
            <a:ext cx="7129868" cy="8284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заместитель министра науки </a:t>
            </a:r>
            <a:br>
              <a:rPr lang="ru-RU" dirty="0"/>
            </a:br>
            <a:r>
              <a:rPr lang="ru-RU" dirty="0"/>
              <a:t>и высшего образования РФ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6047487" y="5364110"/>
            <a:ext cx="3256513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</a:t>
            </a:r>
            <a:br>
              <a:rPr lang="en-US" dirty="0"/>
            </a:br>
            <a:r>
              <a:rPr lang="en-US" dirty="0"/>
              <a:t>dummy text</a:t>
            </a:r>
            <a:endParaRPr lang="ru-RU" dirty="0"/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5990107" y="3326258"/>
            <a:ext cx="3313893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115</a:t>
            </a:r>
            <a:endParaRPr lang="ru-RU" dirty="0"/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4" hasCustomPrompt="1"/>
          </p:nvPr>
        </p:nvSpPr>
        <p:spPr>
          <a:xfrm>
            <a:off x="19722471" y="5364110"/>
            <a:ext cx="3256513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</a:t>
            </a:r>
            <a:br>
              <a:rPr lang="en-US" dirty="0"/>
            </a:br>
            <a:r>
              <a:rPr lang="en-US" dirty="0"/>
              <a:t>dummy text</a:t>
            </a:r>
            <a:endParaRPr lang="ru-RU" dirty="0"/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19665091" y="3326258"/>
            <a:ext cx="3313893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9824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7" y="2030650"/>
            <a:ext cx="6956483" cy="293014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 is simply</a:t>
            </a:r>
            <a:br>
              <a:rPr lang="en-US" dirty="0"/>
            </a:br>
            <a:r>
              <a:rPr lang="en-US" dirty="0"/>
              <a:t>dummy text of the printing and typesetting industry</a:t>
            </a:r>
          </a:p>
          <a:p>
            <a:pPr lvl="0"/>
            <a:r>
              <a:rPr lang="en-US" dirty="0"/>
              <a:t>Lorem Ipsum has been</a:t>
            </a:r>
            <a:br>
              <a:rPr lang="en-US" dirty="0"/>
            </a:br>
            <a:r>
              <a:rPr lang="en-US" dirty="0"/>
              <a:t>the industry's standard dummy text ever since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347575" y="8534188"/>
            <a:ext cx="10738355" cy="9566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 Lorem</a:t>
            </a:r>
            <a:endParaRPr lang="ru-RU" dirty="0"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2354962" y="3744860"/>
            <a:ext cx="3761338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 dummy</a:t>
            </a:r>
            <a:br>
              <a:rPr lang="en-US" dirty="0"/>
            </a:br>
            <a:r>
              <a:rPr lang="en-US" dirty="0"/>
              <a:t>text of the printing</a:t>
            </a:r>
            <a:endParaRPr lang="ru-RU" dirty="0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2297582" y="1707008"/>
            <a:ext cx="3749905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62%</a:t>
            </a:r>
            <a:endParaRPr lang="ru-RU" dirty="0"/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1298516" y="7096435"/>
            <a:ext cx="6135954" cy="287550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«НИТУ «МИСИС» полноправно вошёл в «обойму» тех организаций, которые сотрудничают с CERN. Теперь НИТУ «МИСИС» — не только университет, блистающий в области новых материалов и технологий, но и организация, имеющая отношение к участию  России в самых ярких проектах в области</a:t>
            </a:r>
            <a:r>
              <a:rPr lang="en-US" dirty="0"/>
              <a:t> </a:t>
            </a:r>
            <a:r>
              <a:rPr lang="ru-RU" dirty="0"/>
              <a:t>физики частиц»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7" hasCustomPrompt="1"/>
          </p:nvPr>
        </p:nvSpPr>
        <p:spPr>
          <a:xfrm>
            <a:off x="1298516" y="10309875"/>
            <a:ext cx="6956484" cy="27196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Григорий Трубников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8" hasCustomPrompt="1"/>
          </p:nvPr>
        </p:nvSpPr>
        <p:spPr>
          <a:xfrm>
            <a:off x="1298516" y="10581838"/>
            <a:ext cx="6956484" cy="82911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заместитель министра науки </a:t>
            </a:r>
            <a:br>
              <a:rPr lang="ru-RU" dirty="0"/>
            </a:br>
            <a:r>
              <a:rPr lang="ru-RU" dirty="0"/>
              <a:t>и высшего образования РФ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4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2363313" y="9448799"/>
            <a:ext cx="10738355" cy="29003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is simply dummy text of the</a:t>
            </a:r>
            <a:br>
              <a:rPr lang="en-US" dirty="0"/>
            </a:br>
            <a:r>
              <a:rPr lang="en-US" dirty="0"/>
              <a:t>printing and typesetting industry Lorem Ipsum has been the industry's standard dummy text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3563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103759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раздела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6" y="3655596"/>
            <a:ext cx="10626783" cy="10507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What is Lorem Ipsum?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5399" y="5123398"/>
            <a:ext cx="6937375" cy="6542999"/>
          </a:xfrm>
        </p:spPr>
        <p:txBody>
          <a:bodyPr>
            <a:noAutofit/>
          </a:bodyPr>
          <a:lstStyle>
            <a:lvl1pPr marL="723900" indent="-723900">
              <a:lnSpc>
                <a:spcPct val="100000"/>
              </a:lnSpc>
              <a:spcBef>
                <a:spcPts val="0"/>
              </a:spcBef>
              <a:buFontTx/>
              <a:buBlip>
                <a:blip r:embed="rId3"/>
              </a:buBlip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Организация и управление научно-образовательным</a:t>
            </a:r>
            <a:br>
              <a:rPr lang="ru-RU" dirty="0"/>
            </a:br>
            <a:r>
              <a:rPr lang="ru-RU" dirty="0"/>
              <a:t>процессом по программам</a:t>
            </a:r>
            <a:br>
              <a:rPr lang="ru-RU" dirty="0"/>
            </a:br>
            <a:r>
              <a:rPr lang="ru-RU" dirty="0"/>
              <a:t>подготовки научно-</a:t>
            </a:r>
            <a:br>
              <a:rPr lang="ru-RU" dirty="0"/>
            </a:br>
            <a:r>
              <a:rPr lang="ru-RU" dirty="0"/>
              <a:t>педагогических кадров</a:t>
            </a:r>
            <a:br>
              <a:rPr lang="ru-RU" dirty="0"/>
            </a:br>
            <a:r>
              <a:rPr lang="ru-RU" dirty="0"/>
              <a:t>в аспирантуре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ru-RU" dirty="0"/>
              <a:t>Разработка нормативной</a:t>
            </a:r>
            <a:br>
              <a:rPr lang="ru-RU" dirty="0"/>
            </a:br>
            <a:r>
              <a:rPr lang="ru-RU" dirty="0"/>
              <a:t>и методической документации</a:t>
            </a:r>
            <a:br>
              <a:rPr lang="ru-RU" dirty="0"/>
            </a:br>
            <a:r>
              <a:rPr lang="ru-RU" dirty="0"/>
              <a:t>по осуществлению </a:t>
            </a:r>
            <a:br>
              <a:rPr lang="ru-RU" dirty="0"/>
            </a:br>
            <a:r>
              <a:rPr lang="ru-RU" dirty="0"/>
              <a:t>научно-образовательной</a:t>
            </a:r>
            <a:br>
              <a:rPr lang="ru-RU" dirty="0"/>
            </a:br>
            <a:r>
              <a:rPr lang="ru-RU" dirty="0"/>
              <a:t>деятельности в аспирантуре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8674101" y="5123397"/>
            <a:ext cx="6937374" cy="6542999"/>
          </a:xfrm>
        </p:spPr>
        <p:txBody>
          <a:bodyPr>
            <a:noAutofit/>
          </a:bodyPr>
          <a:lstStyle>
            <a:lvl1pPr marL="723900" indent="-723900">
              <a:lnSpc>
                <a:spcPct val="100000"/>
              </a:lnSpc>
              <a:spcBef>
                <a:spcPts val="0"/>
              </a:spcBef>
              <a:buFontTx/>
              <a:buBlip>
                <a:blip r:embed="rId3"/>
              </a:buBlip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Организация и управление научно-образовательным</a:t>
            </a:r>
            <a:br>
              <a:rPr lang="ru-RU" dirty="0"/>
            </a:br>
            <a:r>
              <a:rPr lang="ru-RU" dirty="0"/>
              <a:t>процессом по программам</a:t>
            </a:r>
            <a:br>
              <a:rPr lang="ru-RU" dirty="0"/>
            </a:br>
            <a:r>
              <a:rPr lang="ru-RU" dirty="0"/>
              <a:t>подготовки научно-</a:t>
            </a:r>
            <a:br>
              <a:rPr lang="ru-RU" dirty="0"/>
            </a:br>
            <a:r>
              <a:rPr lang="ru-RU" dirty="0"/>
              <a:t>педагогических кадров</a:t>
            </a:r>
            <a:br>
              <a:rPr lang="ru-RU" dirty="0"/>
            </a:br>
            <a:r>
              <a:rPr lang="ru-RU" dirty="0"/>
              <a:t>в аспирантуре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ru-RU" dirty="0"/>
              <a:t>Разработка нормативной</a:t>
            </a:r>
            <a:br>
              <a:rPr lang="ru-RU" dirty="0"/>
            </a:br>
            <a:r>
              <a:rPr lang="ru-RU" dirty="0"/>
              <a:t>и методической документации</a:t>
            </a:r>
            <a:br>
              <a:rPr lang="ru-RU" dirty="0"/>
            </a:br>
            <a:r>
              <a:rPr lang="ru-RU" dirty="0"/>
              <a:t>по осуществлению </a:t>
            </a:r>
            <a:br>
              <a:rPr lang="ru-RU" dirty="0"/>
            </a:br>
            <a:r>
              <a:rPr lang="ru-RU" dirty="0"/>
              <a:t>научно-образовательной</a:t>
            </a:r>
            <a:br>
              <a:rPr lang="ru-RU" dirty="0"/>
            </a:br>
            <a:r>
              <a:rPr lang="ru-RU" dirty="0"/>
              <a:t>деятельности в аспирантуре</a:t>
            </a: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6052801" y="5123397"/>
            <a:ext cx="6938961" cy="6542999"/>
          </a:xfrm>
        </p:spPr>
        <p:txBody>
          <a:bodyPr>
            <a:noAutofit/>
          </a:bodyPr>
          <a:lstStyle>
            <a:lvl1pPr marL="723900" indent="-723900">
              <a:lnSpc>
                <a:spcPct val="100000"/>
              </a:lnSpc>
              <a:spcBef>
                <a:spcPts val="0"/>
              </a:spcBef>
              <a:buFontTx/>
              <a:buBlip>
                <a:blip r:embed="rId3"/>
              </a:buBlip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Организация и управление научно-образовательным</a:t>
            </a:r>
            <a:br>
              <a:rPr lang="ru-RU" dirty="0"/>
            </a:br>
            <a:r>
              <a:rPr lang="ru-RU" dirty="0"/>
              <a:t>процессом по программам</a:t>
            </a:r>
            <a:br>
              <a:rPr lang="ru-RU" dirty="0"/>
            </a:br>
            <a:r>
              <a:rPr lang="ru-RU" dirty="0"/>
              <a:t>подготовки научно-</a:t>
            </a:r>
            <a:br>
              <a:rPr lang="ru-RU" dirty="0"/>
            </a:br>
            <a:r>
              <a:rPr lang="ru-RU" dirty="0"/>
              <a:t>педагогических кадров</a:t>
            </a:r>
            <a:br>
              <a:rPr lang="ru-RU" dirty="0"/>
            </a:br>
            <a:r>
              <a:rPr lang="ru-RU" dirty="0"/>
              <a:t>в аспирантуре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ru-RU" dirty="0"/>
              <a:t>Разработка нормативной</a:t>
            </a:r>
            <a:br>
              <a:rPr lang="ru-RU" dirty="0"/>
            </a:br>
            <a:r>
              <a:rPr lang="ru-RU" dirty="0"/>
              <a:t>и методической документации</a:t>
            </a:r>
            <a:br>
              <a:rPr lang="ru-RU" dirty="0"/>
            </a:br>
            <a:r>
              <a:rPr lang="ru-RU" dirty="0"/>
              <a:t>по осуществлению </a:t>
            </a:r>
            <a:br>
              <a:rPr lang="ru-RU" dirty="0"/>
            </a:br>
            <a:r>
              <a:rPr lang="ru-RU" dirty="0"/>
              <a:t>научно-образовательной</a:t>
            </a:r>
            <a:br>
              <a:rPr lang="ru-RU" dirty="0"/>
            </a:br>
            <a:r>
              <a:rPr lang="ru-RU" dirty="0"/>
              <a:t>деятельности в аспирантуре</a:t>
            </a:r>
          </a:p>
        </p:txBody>
      </p:sp>
    </p:spTree>
    <p:extLst>
      <p:ext uri="{BB962C8B-B14F-4D97-AF65-F5344CB8AC3E}">
        <p14:creationId xmlns:p14="http://schemas.microsoft.com/office/powerpoint/2010/main" val="3236260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 userDrawn="1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6" y="7924800"/>
            <a:ext cx="6936767" cy="37957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Управление науки формирует приоритетные направления научно-исследовательской деятельности университета </a:t>
            </a:r>
            <a:br>
              <a:rPr lang="ru-RU" dirty="0"/>
            </a:br>
            <a:r>
              <a:rPr lang="ru-RU" dirty="0"/>
              <a:t>с целью создания и освоения </a:t>
            </a:r>
            <a:br>
              <a:rPr lang="ru-RU" dirty="0"/>
            </a:br>
            <a:r>
              <a:rPr lang="ru-RU" dirty="0"/>
              <a:t>новых технологий, становления </a:t>
            </a:r>
            <a:br>
              <a:rPr lang="ru-RU" dirty="0"/>
            </a:br>
            <a:r>
              <a:rPr lang="ru-RU" dirty="0"/>
              <a:t>и развития научных школ</a:t>
            </a:r>
          </a:p>
        </p:txBody>
      </p:sp>
      <p:sp>
        <p:nvSpPr>
          <p:cNvPr id="9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1338232" y="7037794"/>
            <a:ext cx="6897051" cy="59355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Достижения науки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8674101" y="7037794"/>
            <a:ext cx="6937374" cy="59355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Научное сообщество</a:t>
            </a: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6054389" y="7037793"/>
            <a:ext cx="6937374" cy="59355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События отрасли</a:t>
            </a:r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4" hasCustomPrompt="1"/>
          </p:nvPr>
        </p:nvSpPr>
        <p:spPr>
          <a:xfrm>
            <a:off x="8674101" y="7924800"/>
            <a:ext cx="6936767" cy="37957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Управление науки занимается развитием научно-технического потенциала подразделений университета, отдельных сотрудников и университета</a:t>
            </a:r>
            <a:br>
              <a:rPr lang="ru-RU" dirty="0"/>
            </a:br>
            <a:r>
              <a:rPr lang="ru-RU" dirty="0"/>
              <a:t>в целом, способствует правовой охране</a:t>
            </a:r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16054996" y="7924800"/>
            <a:ext cx="6936767" cy="37957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Информация о реализуемых образовательных программах,</a:t>
            </a:r>
            <a:br>
              <a:rPr lang="ru-RU" dirty="0"/>
            </a:br>
            <a:r>
              <a:rPr lang="ru-RU" dirty="0"/>
              <a:t>в том числе о реализуемых адаптированных образователь-</a:t>
            </a:r>
            <a:br>
              <a:rPr lang="ru-RU" dirty="0"/>
            </a:br>
            <a:r>
              <a:rPr lang="ru-RU" dirty="0" err="1"/>
              <a:t>ных</a:t>
            </a:r>
            <a:r>
              <a:rPr lang="ru-RU" dirty="0"/>
              <a:t> программах, с указанием </a:t>
            </a:r>
            <a:br>
              <a:rPr lang="ru-RU" dirty="0"/>
            </a:br>
            <a:r>
              <a:rPr lang="ru-RU" dirty="0"/>
              <a:t>в отношении каждой </a:t>
            </a:r>
            <a:r>
              <a:rPr lang="ru-RU" dirty="0" err="1"/>
              <a:t>образо</a:t>
            </a:r>
            <a:r>
              <a:rPr lang="ru-RU" dirty="0"/>
              <a:t>-</a:t>
            </a:r>
            <a:br>
              <a:rPr lang="ru-RU" dirty="0"/>
            </a:br>
            <a:r>
              <a:rPr lang="ru-RU" dirty="0" err="1"/>
              <a:t>вательной</a:t>
            </a:r>
            <a:r>
              <a:rPr lang="ru-RU" dirty="0"/>
              <a:t> программы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0" y="4776190"/>
            <a:ext cx="2217600" cy="18396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351" y="4599790"/>
            <a:ext cx="1764000" cy="2016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6300" y="4401790"/>
            <a:ext cx="1924670" cy="22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35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е плаш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2442825" y="4707604"/>
            <a:ext cx="11939588" cy="5712745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7765" y="4572755"/>
            <a:ext cx="10627535" cy="77002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>
                <a:solidFill>
                  <a:schemeClr val="tx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</a:t>
            </a:r>
            <a:br>
              <a:rPr lang="en-US" dirty="0"/>
            </a:br>
            <a:r>
              <a:rPr lang="en-US" dirty="0"/>
              <a:t>of the printing and typesetting industry</a:t>
            </a:r>
          </a:p>
          <a:p>
            <a:pPr lvl="0"/>
            <a:r>
              <a:rPr lang="en-US" dirty="0"/>
              <a:t>Lorem Ipsum has been the industry's standard dummy text ever since the 1500s, when an unknown printer took a galley </a:t>
            </a:r>
            <a:br>
              <a:rPr lang="en-US" dirty="0"/>
            </a:br>
            <a:r>
              <a:rPr lang="en-US" dirty="0"/>
              <a:t>of type and scrambled it to make a type </a:t>
            </a:r>
            <a:br>
              <a:rPr lang="en-US" dirty="0"/>
            </a:br>
            <a:r>
              <a:rPr lang="en-US" dirty="0"/>
              <a:t>specimen book. It has survived not only </a:t>
            </a:r>
            <a:br>
              <a:rPr lang="en-US" dirty="0"/>
            </a:br>
            <a:r>
              <a:rPr lang="en-US" dirty="0"/>
              <a:t>five centuries, but also the leap into electronic typesetting, remaining essentially unchanged. It was </a:t>
            </a:r>
            <a:r>
              <a:rPr lang="en-US" dirty="0" err="1"/>
              <a:t>popularised</a:t>
            </a:r>
            <a:endParaRPr lang="en-US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6035339" y="5373052"/>
            <a:ext cx="6937374" cy="118014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3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1-е место</a:t>
            </a:r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16035946" y="6648450"/>
            <a:ext cx="6936767" cy="33147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>
                <a:solidFill>
                  <a:schemeClr val="bg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 err="1"/>
              <a:t>cреди</a:t>
            </a:r>
            <a:r>
              <a:rPr lang="ru-RU" dirty="0"/>
              <a:t> вузов Проекта 5–100 </a:t>
            </a:r>
            <a:br>
              <a:rPr lang="ru-RU" dirty="0"/>
            </a:br>
            <a:r>
              <a:rPr lang="ru-RU" dirty="0"/>
              <a:t>по количеству публикаций </a:t>
            </a:r>
            <a:br>
              <a:rPr lang="ru-RU" dirty="0"/>
            </a:br>
            <a:r>
              <a:rPr lang="ru-RU" dirty="0"/>
              <a:t>в материаловедении </a:t>
            </a:r>
            <a:br>
              <a:rPr lang="ru-RU" dirty="0"/>
            </a:br>
            <a:r>
              <a:rPr lang="ru-RU" dirty="0"/>
              <a:t>в журналах первого квартиля по SNIP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3279" y="5430202"/>
            <a:ext cx="2167200" cy="181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15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е плашк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/>
          <p:cNvSpPr/>
          <p:nvPr userDrawn="1"/>
        </p:nvSpPr>
        <p:spPr>
          <a:xfrm>
            <a:off x="0" y="4707604"/>
            <a:ext cx="24382413" cy="73700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7765" y="6553200"/>
            <a:ext cx="10627535" cy="20574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</a:t>
            </a:r>
            <a:br>
              <a:rPr lang="en-US" dirty="0"/>
            </a:br>
            <a:r>
              <a:rPr lang="en-US" dirty="0"/>
              <a:t>of the printing and typesetting industry</a:t>
            </a:r>
          </a:p>
          <a:p>
            <a:pPr lvl="0"/>
            <a:r>
              <a:rPr lang="en-US" dirty="0"/>
              <a:t>Lorem Ipsum is simply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14" name="Текст 6"/>
          <p:cNvSpPr>
            <a:spLocks noGrp="1"/>
          </p:cNvSpPr>
          <p:nvPr>
            <p:ph type="body" sz="quarter" idx="26" hasCustomPrompt="1"/>
          </p:nvPr>
        </p:nvSpPr>
        <p:spPr>
          <a:xfrm>
            <a:off x="1297765" y="5646681"/>
            <a:ext cx="106275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  <p:sp>
        <p:nvSpPr>
          <p:cNvPr id="20" name="Текст 6"/>
          <p:cNvSpPr>
            <a:spLocks noGrp="1"/>
          </p:cNvSpPr>
          <p:nvPr>
            <p:ph type="body" sz="quarter" idx="27" hasCustomPrompt="1"/>
          </p:nvPr>
        </p:nvSpPr>
        <p:spPr>
          <a:xfrm>
            <a:off x="1297765" y="9692640"/>
            <a:ext cx="10627535" cy="20574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</a:t>
            </a:r>
            <a:br>
              <a:rPr lang="en-US" dirty="0"/>
            </a:br>
            <a:r>
              <a:rPr lang="en-US" dirty="0"/>
              <a:t>of the printing and typesetting industry</a:t>
            </a:r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8" hasCustomPrompt="1"/>
          </p:nvPr>
        </p:nvSpPr>
        <p:spPr>
          <a:xfrm>
            <a:off x="1297765" y="8786121"/>
            <a:ext cx="106275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  <p:sp>
        <p:nvSpPr>
          <p:cNvPr id="24" name="Текст 6"/>
          <p:cNvSpPr>
            <a:spLocks noGrp="1"/>
          </p:cNvSpPr>
          <p:nvPr>
            <p:ph type="body" sz="quarter" idx="29" hasCustomPrompt="1"/>
          </p:nvPr>
        </p:nvSpPr>
        <p:spPr>
          <a:xfrm>
            <a:off x="12364228" y="6553200"/>
            <a:ext cx="10627535" cy="519684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  <a:br>
              <a:rPr lang="en-US" dirty="0"/>
            </a:br>
            <a:r>
              <a:rPr lang="en-US" dirty="0"/>
              <a:t>It has survived not only five centuries</a:t>
            </a:r>
          </a:p>
        </p:txBody>
      </p:sp>
      <p:sp>
        <p:nvSpPr>
          <p:cNvPr id="25" name="Текст 6"/>
          <p:cNvSpPr>
            <a:spLocks noGrp="1"/>
          </p:cNvSpPr>
          <p:nvPr>
            <p:ph type="body" sz="quarter" idx="30" hasCustomPrompt="1"/>
          </p:nvPr>
        </p:nvSpPr>
        <p:spPr>
          <a:xfrm>
            <a:off x="12364228" y="5646681"/>
            <a:ext cx="106275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</p:spTree>
    <p:extLst>
      <p:ext uri="{BB962C8B-B14F-4D97-AF65-F5344CB8AC3E}">
        <p14:creationId xmlns:p14="http://schemas.microsoft.com/office/powerpoint/2010/main" val="766217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е плашк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/>
          <p:cNvSpPr/>
          <p:nvPr userDrawn="1"/>
        </p:nvSpPr>
        <p:spPr>
          <a:xfrm>
            <a:off x="1" y="3907504"/>
            <a:ext cx="11668538" cy="73700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7" hasCustomPrompt="1"/>
          </p:nvPr>
        </p:nvSpPr>
        <p:spPr>
          <a:xfrm>
            <a:off x="1297766" y="5697107"/>
            <a:ext cx="9217834" cy="507691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8" hasCustomPrompt="1"/>
          </p:nvPr>
        </p:nvSpPr>
        <p:spPr>
          <a:xfrm>
            <a:off x="1297765" y="4790588"/>
            <a:ext cx="92178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2297582" y="4370696"/>
            <a:ext cx="3749905" cy="209748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62%</a:t>
            </a:r>
            <a:endParaRPr lang="ru-RU" dirty="0"/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2354962" y="6468184"/>
            <a:ext cx="3761338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 dummy</a:t>
            </a:r>
            <a:br>
              <a:rPr lang="en-US" dirty="0"/>
            </a:br>
            <a:r>
              <a:rPr lang="en-US" dirty="0"/>
              <a:t>text of the printing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1510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6" y="7281725"/>
            <a:ext cx="10626783" cy="10507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What is Lorem Ipsum?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6" y="8328993"/>
            <a:ext cx="14312959" cy="367747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is simply dummy text of the printing and</a:t>
            </a:r>
            <a:br>
              <a:rPr lang="en-US" dirty="0"/>
            </a:br>
            <a:r>
              <a:rPr lang="en-US" dirty="0"/>
              <a:t>typesetting industry. Lorem Ipsum has been the industry's</a:t>
            </a:r>
            <a:br>
              <a:rPr lang="en-US" dirty="0"/>
            </a:br>
            <a:r>
              <a:rPr lang="en-US" dirty="0"/>
              <a:t>standard dummy text ever since the 1500s, when </a:t>
            </a:r>
            <a:br>
              <a:rPr lang="en-US" dirty="0"/>
            </a:br>
            <a:r>
              <a:rPr lang="en-US" dirty="0"/>
              <a:t>an unknown printer took a galley of type and scrambled</a:t>
            </a:r>
            <a:br>
              <a:rPr lang="en-US" dirty="0"/>
            </a:br>
            <a:r>
              <a:rPr lang="en-US" dirty="0"/>
              <a:t>it to make a type specimen book</a:t>
            </a:r>
            <a:endParaRPr lang="ru-RU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55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я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7" y="4572001"/>
            <a:ext cx="10626784" cy="367747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Стратегической целью НИТУ «МИСИС», согласно </a:t>
            </a:r>
            <a:br>
              <a:rPr lang="ru-RU" dirty="0"/>
            </a:br>
            <a:r>
              <a:rPr lang="ru-RU" dirty="0"/>
              <a:t>участию в Проекте «5–100», является вхождение </a:t>
            </a:r>
            <a:br>
              <a:rPr lang="ru-RU" dirty="0"/>
            </a:br>
            <a:r>
              <a:rPr lang="ru-RU" dirty="0"/>
              <a:t>и закрепление в числе ведущих мировых университетов </a:t>
            </a:r>
            <a:br>
              <a:rPr lang="ru-RU" dirty="0"/>
            </a:br>
            <a:r>
              <a:rPr lang="ru-RU" dirty="0"/>
              <a:t>по основным международным рейтингам (THE, QS), </a:t>
            </a:r>
            <a:br>
              <a:rPr lang="ru-RU" dirty="0"/>
            </a:br>
            <a:r>
              <a:rPr lang="ru-RU" dirty="0"/>
              <a:t>за счёт фундаментальных и прикладных исследований мирового уровня в материаловедении, нано- и </a:t>
            </a:r>
            <a:r>
              <a:rPr lang="ru-RU" dirty="0" err="1"/>
              <a:t>био</a:t>
            </a:r>
            <a:r>
              <a:rPr lang="ru-RU" dirty="0"/>
              <a:t>-</a:t>
            </a:r>
            <a:br>
              <a:rPr lang="ru-RU" dirty="0"/>
            </a:br>
            <a:r>
              <a:rPr lang="ru-RU" dirty="0"/>
              <a:t>технологиях, металлургии и горном деле.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11" name="Прямоугольник 10"/>
          <p:cNvSpPr/>
          <p:nvPr userDrawn="1"/>
        </p:nvSpPr>
        <p:spPr>
          <a:xfrm>
            <a:off x="0" y="8533870"/>
            <a:ext cx="11939588" cy="339308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4943270" y="8909945"/>
            <a:ext cx="6982029" cy="118014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3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ТОП-10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4956411" y="10189483"/>
            <a:ext cx="6968889" cy="13796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spc="-70" baseline="0">
                <a:solidFill>
                  <a:schemeClr val="bg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Среди лучших вузов России, </a:t>
            </a:r>
            <a:br>
              <a:rPr lang="ru-RU" dirty="0"/>
            </a:br>
            <a:r>
              <a:rPr lang="ru-RU" dirty="0"/>
              <a:t>по версии «Интерфакс»</a:t>
            </a:r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581" y="9141922"/>
            <a:ext cx="2286000" cy="189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409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103759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раздела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6035130" y="2029598"/>
            <a:ext cx="6956632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Название данного</a:t>
            </a:r>
            <a:br>
              <a:rPr lang="ru-RU" dirty="0"/>
            </a:br>
            <a:r>
              <a:rPr lang="ru-RU" dirty="0"/>
              <a:t>блока информации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6056666" y="3664028"/>
            <a:ext cx="6937374" cy="26572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Постоянный поиск наиболее эффективных действующих</a:t>
            </a:r>
            <a:br>
              <a:rPr lang="ru-RU" dirty="0"/>
            </a:br>
            <a:r>
              <a:rPr lang="ru-RU" dirty="0"/>
              <a:t>веществ и их комбинаций,</a:t>
            </a:r>
            <a:br>
              <a:rPr lang="ru-RU" dirty="0"/>
            </a:br>
            <a:r>
              <a:rPr lang="ru-RU" dirty="0"/>
              <a:t>а также оригинальные</a:t>
            </a:r>
            <a:br>
              <a:rPr lang="ru-RU" dirty="0"/>
            </a:br>
            <a:r>
              <a:rPr lang="ru-RU" dirty="0"/>
              <a:t>инновационные препараты</a:t>
            </a:r>
          </a:p>
        </p:txBody>
      </p:sp>
    </p:spTree>
    <p:extLst>
      <p:ext uri="{BB962C8B-B14F-4D97-AF65-F5344CB8AC3E}">
        <p14:creationId xmlns:p14="http://schemas.microsoft.com/office/powerpoint/2010/main" val="2522694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6035130" y="2029598"/>
            <a:ext cx="6956632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Название данного</a:t>
            </a:r>
            <a:br>
              <a:rPr lang="ru-RU" dirty="0"/>
            </a:br>
            <a:r>
              <a:rPr lang="ru-RU" dirty="0"/>
              <a:t>блока информации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6056666" y="3664028"/>
            <a:ext cx="6937374" cy="26572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Постоянный поиск наиболее эффективных действующих</a:t>
            </a:r>
            <a:br>
              <a:rPr lang="ru-RU" dirty="0"/>
            </a:br>
            <a:r>
              <a:rPr lang="ru-RU" dirty="0"/>
              <a:t>веществ и их комбинаций,</a:t>
            </a:r>
            <a:br>
              <a:rPr lang="ru-RU" dirty="0"/>
            </a:br>
            <a:r>
              <a:rPr lang="ru-RU" dirty="0"/>
              <a:t>а также оригинальные</a:t>
            </a:r>
            <a:br>
              <a:rPr lang="ru-RU" dirty="0"/>
            </a:br>
            <a:r>
              <a:rPr lang="ru-RU" dirty="0"/>
              <a:t>инновационные препараты</a:t>
            </a: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042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103759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раздела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368" y="3512130"/>
            <a:ext cx="3259345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Таблица 2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5007804" y="3512131"/>
            <a:ext cx="6937374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Сопроводительный текст</a:t>
            </a:r>
            <a:br>
              <a:rPr lang="ru-RU" dirty="0"/>
            </a:br>
            <a:r>
              <a:rPr lang="ru-RU" dirty="0"/>
              <a:t>к данной таблице</a:t>
            </a:r>
          </a:p>
        </p:txBody>
      </p:sp>
    </p:spTree>
    <p:extLst>
      <p:ext uri="{BB962C8B-B14F-4D97-AF65-F5344CB8AC3E}">
        <p14:creationId xmlns:p14="http://schemas.microsoft.com/office/powerpoint/2010/main" val="1398338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298516" y="10086693"/>
            <a:ext cx="6937374" cy="26572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Ленинский проспект, д. 4</a:t>
            </a:r>
            <a:br>
              <a:rPr lang="ru-RU" dirty="0"/>
            </a:br>
            <a:r>
              <a:rPr lang="ru-RU" dirty="0"/>
              <a:t>Москва, 119049</a:t>
            </a:r>
            <a:br>
              <a:rPr lang="ru-RU" dirty="0"/>
            </a:br>
            <a:r>
              <a:rPr lang="ru-RU" dirty="0"/>
              <a:t>тел. +7 (495) 955-00-32</a:t>
            </a:r>
            <a:br>
              <a:rPr lang="ru-RU" dirty="0"/>
            </a:br>
            <a:r>
              <a:rPr lang="ru-RU" dirty="0"/>
              <a:t>e-</a:t>
            </a:r>
            <a:r>
              <a:rPr lang="ru-RU" dirty="0" err="1"/>
              <a:t>mail</a:t>
            </a:r>
            <a:r>
              <a:rPr lang="ru-RU" dirty="0"/>
              <a:t>: kancela@misis.ru</a:t>
            </a:r>
            <a:br>
              <a:rPr lang="ru-RU" dirty="0"/>
            </a:br>
            <a:r>
              <a:rPr lang="ru-RU" dirty="0"/>
              <a:t>misis.ru</a:t>
            </a: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7184650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658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5E2A4-72D4-4DC4-9470-54C0EE06E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532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6" r:id="rId3"/>
    <p:sldLayoutId id="2147483677" r:id="rId4"/>
    <p:sldLayoutId id="2147483678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</p:sldLayoutIdLst>
  <p:hf hdr="0"/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98516" y="4158222"/>
            <a:ext cx="13789084" cy="3838664"/>
          </a:xfrm>
        </p:spPr>
        <p:txBody>
          <a:bodyPr/>
          <a:lstStyle/>
          <a:p>
            <a:r>
              <a:rPr lang="ru-RU" sz="5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Система поддержки принятия решений (СППР) в сфере персональных финансов</a:t>
            </a:r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98516" y="8542069"/>
            <a:ext cx="9952581" cy="1999559"/>
          </a:xfrm>
        </p:spPr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Фамилия Имя Отчество</a:t>
            </a:r>
          </a:p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Должность (не более двух строк)</a:t>
            </a:r>
          </a:p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Дата 11"/>
          <p:cNvSpPr>
            <a:spLocks noGrp="1"/>
          </p:cNvSpPr>
          <p:nvPr>
            <p:ph type="dt" sz="half" idx="10"/>
          </p:nvPr>
        </p:nvSpPr>
        <p:spPr>
          <a:xfrm>
            <a:off x="1300459" y="11867187"/>
            <a:ext cx="5761821" cy="730250"/>
          </a:xfrm>
        </p:spPr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Дата проведения (пример: 12.04.2023)</a:t>
            </a:r>
          </a:p>
        </p:txBody>
      </p:sp>
      <p:sp>
        <p:nvSpPr>
          <p:cNvPr id="2" name="Дата 11">
            <a:extLst>
              <a:ext uri="{FF2B5EF4-FFF2-40B4-BE49-F238E27FC236}">
                <a16:creationId xmlns:a16="http://schemas.microsoft.com/office/drawing/2014/main" id="{EC80368E-2407-E700-0EAC-FFDA58FBA3C2}"/>
              </a:ext>
            </a:extLst>
          </p:cNvPr>
          <p:cNvSpPr txBox="1">
            <a:spLocks/>
          </p:cNvSpPr>
          <p:nvPr/>
        </p:nvSpPr>
        <p:spPr>
          <a:xfrm>
            <a:off x="1300459" y="11322004"/>
            <a:ext cx="593692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1828709" rtl="0" eaLnBrk="1" latinLnBrk="0" hangingPunct="1"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91435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09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063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417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771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126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480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483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Место проведения (пример: Ректорат)</a:t>
            </a:r>
          </a:p>
        </p:txBody>
      </p:sp>
    </p:spTree>
    <p:extLst>
      <p:ext uri="{BB962C8B-B14F-4D97-AF65-F5344CB8AC3E}">
        <p14:creationId xmlns:p14="http://schemas.microsoft.com/office/powerpoint/2010/main" val="897167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5B1EB-00D2-E98D-5B2C-BB0D022B6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72EE2417-6D0A-E866-5DBD-A46B0C7880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Проблема пользователя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F57F986B-566A-AC3B-E867-5FBF121A97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Пользователи принимают финансовые решения интуитивно, без системного анализа и формализованных критериев.</a:t>
            </a:r>
            <a:br>
              <a:rPr lang="ru-RU" dirty="0"/>
            </a:br>
            <a:r>
              <a:rPr lang="ru-RU" dirty="0"/>
              <a:t>Отсутствие структурированного подхода приводит к ошибкам в распределении средств и снижению эффективности управления финансами.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4237544-FE3B-A2EA-40B8-E2C209DE5D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Финансовые решения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5B02A5-CB0E-D265-23EC-CE2893B4122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59BAC3B-9D0D-4EF7-8CE2-9F2E0CC1F23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341825A3-2C8D-96BE-50EB-6F386C1EFE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ru-RU" dirty="0"/>
              <a:t>Данные и контроль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1A2A1681-2CC0-C657-F300-6C80592CA60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ru-RU" dirty="0"/>
              <a:t>Сложность выбора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046B5ACF-E17A-6E67-D1EE-BF2AEF1E140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Финансовые данные разрознены: операции учитываются в разных источниках или частично вручную.</a:t>
            </a:r>
            <a:br>
              <a:rPr lang="ru-RU" dirty="0"/>
            </a:br>
            <a:r>
              <a:rPr lang="ru-RU" dirty="0"/>
              <a:t>Это затрудняет получение целостной картины финансового состояния и контроль денежных потоков.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7BF1D29A-3DD5-54E5-2F36-D0355E18DD0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ru-RU" dirty="0"/>
              <a:t>Большое количество финансовых инструментов и стратегий усложняет выбор оптимального решения.</a:t>
            </a:r>
            <a:br>
              <a:rPr lang="ru-RU" dirty="0"/>
            </a:br>
            <a:r>
              <a:rPr lang="ru-RU" dirty="0"/>
              <a:t>При этом пользователю сложно учитывать одновременно цели, ограничения и уровень риска.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Номер слайда 16">
            <a:extLst>
              <a:ext uri="{FF2B5EF4-FFF2-40B4-BE49-F238E27FC236}">
                <a16:creationId xmlns:a16="http://schemas.microsoft.com/office/drawing/2014/main" id="{947A9635-3760-E79C-6ABE-EE457A16B87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2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646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91051-7DC9-445A-984E-331FC553A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F1B6D93E-8A70-DA02-97FB-3933CA012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Классы подходов к СППР </a:t>
            </a:r>
            <a:b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персональных финансах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3012721E-B1F8-5560-FCDE-253A395EF09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AD6CA95E-DAE2-887E-70F7-0F883EB402E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AA5D1D62-0D36-AC9D-FAD9-B61E18ABEC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3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E5BFC2C1-04FE-2E47-6C5F-73B11CCF44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113568"/>
              </p:ext>
            </p:extLst>
          </p:nvPr>
        </p:nvGraphicFramePr>
        <p:xfrm>
          <a:off x="1415142" y="4465692"/>
          <a:ext cx="21686526" cy="7944024"/>
        </p:xfrm>
        <a:graphic>
          <a:graphicData uri="http://schemas.openxmlformats.org/drawingml/2006/table">
            <a:tbl>
              <a:tblPr firstRow="1" firstCol="1" bandRow="1">
                <a:tableStyleId>{1E171933-4619-4E11-9A3F-F7608DF75F80}</a:tableStyleId>
              </a:tblPr>
              <a:tblGrid>
                <a:gridCol w="10843263">
                  <a:extLst>
                    <a:ext uri="{9D8B030D-6E8A-4147-A177-3AD203B41FA5}">
                      <a16:colId xmlns:a16="http://schemas.microsoft.com/office/drawing/2014/main" val="2350489032"/>
                    </a:ext>
                  </a:extLst>
                </a:gridCol>
                <a:gridCol w="10843263">
                  <a:extLst>
                    <a:ext uri="{9D8B030D-6E8A-4147-A177-3AD203B41FA5}">
                      <a16:colId xmlns:a16="http://schemas.microsoft.com/office/drawing/2014/main" val="3673458030"/>
                    </a:ext>
                  </a:extLst>
                </a:gridCol>
              </a:tblGrid>
              <a:tr h="1002042">
                <a:tc>
                  <a:txBody>
                    <a:bodyPr/>
                    <a:lstStyle/>
                    <a:p>
                      <a:pPr marL="0" marR="0" lvl="0" indent="0" algn="ctr" defTabSz="18287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48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Класс подхода</a:t>
                      </a:r>
                      <a:endParaRPr kumimoji="0" lang="ru-RU" sz="4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810" marR="3810" marT="3810" marB="3810" anchor="ctr"/>
                </a:tc>
                <a:tc>
                  <a:txBody>
                    <a:bodyPr/>
                    <a:lstStyle/>
                    <a:p>
                      <a:pPr marL="0" marR="0" lvl="0" indent="0" algn="ctr" defTabSz="18287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48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Типовые задачи</a:t>
                      </a:r>
                      <a:endParaRPr kumimoji="0" lang="ru-RU" sz="4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2644756"/>
                  </a:ext>
                </a:extLst>
              </a:tr>
              <a:tr h="1156997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Правила и эвристики (rule-based)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бюджетирование, лимиты по категориям, простые рекомендации (резерв, контроль долгов)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10324570"/>
                  </a:ext>
                </a:extLst>
              </a:tr>
              <a:tr h="1156997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Скоринговые модели и индексы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оценка финансового состояния, риск-профиль, устойчивость бюджета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43269468"/>
                  </a:ext>
                </a:extLst>
              </a:tr>
              <a:tr h="1156997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 dirty="0">
                          <a:effectLst/>
                          <a:latin typeface="+mn-lt"/>
                        </a:rPr>
                        <a:t>Прогнозирование денежных потоков </a:t>
                      </a:r>
                    </a:p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 dirty="0">
                          <a:effectLst/>
                          <a:latin typeface="+mn-lt"/>
                        </a:rPr>
                        <a:t>(временные ряды, ML-модели)</a:t>
                      </a:r>
                      <a:endParaRPr lang="ru-RU" sz="3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 dirty="0">
                          <a:effectLst/>
                          <a:latin typeface="+mn-lt"/>
                        </a:rPr>
                        <a:t>прогноз доходов/ расходов, оценка вероятности кассового разрыва, сценарное планирование</a:t>
                      </a:r>
                      <a:endParaRPr lang="ru-RU" sz="3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28525567"/>
                  </a:ext>
                </a:extLst>
              </a:tr>
              <a:tr h="1156997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Многокритериальный выбор и ранжирование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выбор стратегии распределения свободных средств, ранжирование альтернатив по полезности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69798307"/>
                  </a:ext>
                </a:extLst>
              </a:tr>
              <a:tr h="1156997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 dirty="0">
                          <a:effectLst/>
                          <a:latin typeface="+mn-lt"/>
                        </a:rPr>
                        <a:t>Оптимизационные модели </a:t>
                      </a:r>
                    </a:p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 dirty="0">
                          <a:effectLst/>
                          <a:latin typeface="+mn-lt"/>
                        </a:rPr>
                        <a:t>(линейные/ целочисленные/ стохастические)</a:t>
                      </a:r>
                      <a:endParaRPr lang="ru-RU" sz="3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  <a:latin typeface="+mn-lt"/>
                        </a:rPr>
                        <a:t>оптимальный план платежей по долгам; формирование резерва; план накоплений под цели</a:t>
                      </a:r>
                      <a:endParaRPr lang="ru-RU" sz="360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56339844"/>
                  </a:ext>
                </a:extLst>
              </a:tr>
              <a:tr h="1156997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 dirty="0">
                          <a:effectLst/>
                          <a:latin typeface="+mn-lt"/>
                        </a:rPr>
                        <a:t>Гибридные подходы (правила + прогноз + оптимизация/ ранжирование)</a:t>
                      </a:r>
                      <a:endParaRPr lang="ru-RU" sz="3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2800" dirty="0">
                          <a:effectLst/>
                          <a:latin typeface="+mn-lt"/>
                        </a:rPr>
                        <a:t>комплексное планирование: бюджет + долги + цели + риск</a:t>
                      </a:r>
                      <a:endParaRPr lang="ru-RU" sz="3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68731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979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58C33-C9C9-06BC-F1B9-249EB691F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7C62AE8A-4D00-7F31-0E25-B07EB4DBA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Типовые зоны решений в персональных финансах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84B0D442-10D2-CB50-2021-FE7A2D85B70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97163C9E-7A82-49AC-FDDA-F9B2508201C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D80A6562-83D6-F027-9466-CF00C2C6044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4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D9B78DF-4DA6-AA19-45C6-0BBE000C3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506" y="4337384"/>
            <a:ext cx="22108250" cy="760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497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5195853" cy="1878793"/>
          </a:xfrm>
        </p:spPr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Почему существующие решения </a:t>
            </a:r>
            <a:r>
              <a:rPr lang="ru-RU" sz="72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 работают</a:t>
            </a:r>
            <a:endParaRPr lang="ru-RU" sz="7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2"/>
          </p:nvPr>
        </p:nvSpPr>
        <p:spPr>
          <a:xfrm>
            <a:off x="1297766" y="6060831"/>
            <a:ext cx="10167404" cy="2057400"/>
          </a:xfrm>
        </p:spPr>
        <p:txBody>
          <a:bodyPr/>
          <a:lstStyle/>
          <a:p>
            <a:r>
              <a:rPr lang="ru-RU" dirty="0"/>
              <a:t>Функциональность ограничивается аналитикой без формирования конкретных решений.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Название презентации в одну или несколько строк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26"/>
          </p:nvPr>
        </p:nvSpPr>
        <p:spPr>
          <a:xfrm>
            <a:off x="1297765" y="5154312"/>
            <a:ext cx="10627535" cy="1039869"/>
          </a:xfrm>
        </p:spPr>
        <p:txBody>
          <a:bodyPr/>
          <a:lstStyle/>
          <a:p>
            <a:r>
              <a:rPr lang="ru-RU" dirty="0"/>
              <a:t>Фокус на учёте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27"/>
          </p:nvPr>
        </p:nvSpPr>
        <p:spPr>
          <a:xfrm>
            <a:off x="1297765" y="9200271"/>
            <a:ext cx="10627535" cy="2057400"/>
          </a:xfrm>
        </p:spPr>
        <p:txBody>
          <a:bodyPr/>
          <a:lstStyle/>
          <a:p>
            <a:r>
              <a:rPr lang="ru-RU" dirty="0"/>
              <a:t>Системы не используют формализованные алгоритмы выбора и не предлагают альтернативы. Рекомендации либо отсутствуют, либо носят общий характер.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28"/>
          </p:nvPr>
        </p:nvSpPr>
        <p:spPr>
          <a:xfrm>
            <a:off x="1297765" y="8293752"/>
            <a:ext cx="10627535" cy="1039869"/>
          </a:xfrm>
        </p:spPr>
        <p:txBody>
          <a:bodyPr/>
          <a:lstStyle/>
          <a:p>
            <a:r>
              <a:rPr lang="ru-RU" dirty="0"/>
              <a:t>Отсутствие интеллекта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29"/>
          </p:nvPr>
        </p:nvSpPr>
        <p:spPr>
          <a:xfrm>
            <a:off x="12364228" y="6060831"/>
            <a:ext cx="10627535" cy="5196840"/>
          </a:xfrm>
        </p:spPr>
        <p:txBody>
          <a:bodyPr/>
          <a:lstStyle/>
          <a:p>
            <a:r>
              <a:rPr lang="ru-RU" dirty="0"/>
              <a:t>Не учитываются индивидуальные параметры: цели, ограничения, риск-профиль и текущая ситуация.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В результате пользователь остаётся </a:t>
            </a:r>
          </a:p>
          <a:p>
            <a:r>
              <a:rPr lang="ru-RU" dirty="0"/>
              <a:t>один на один с выбором и принимает решения интуитивно.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30"/>
          </p:nvPr>
        </p:nvSpPr>
        <p:spPr>
          <a:xfrm>
            <a:off x="12364228" y="5154312"/>
            <a:ext cx="10627535" cy="1039869"/>
          </a:xfrm>
        </p:spPr>
        <p:txBody>
          <a:bodyPr/>
          <a:lstStyle/>
          <a:p>
            <a:r>
              <a:rPr lang="ru-RU" dirty="0"/>
              <a:t>Игнорирование пользователя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5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312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BEDD1-5386-3668-9716-10E479F39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03458870-7AF0-C9F6-7FCB-99BC2F3F5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sz="8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Наше решение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AA875A60-ECAA-CAC2-6327-474944179D1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0BCF18F1-1890-F7B8-9A6B-2DB8CB03CE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EAF766DD-9122-CDC5-40EB-FF4B6069804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6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Текст 13">
            <a:extLst>
              <a:ext uri="{FF2B5EF4-FFF2-40B4-BE49-F238E27FC236}">
                <a16:creationId xmlns:a16="http://schemas.microsoft.com/office/drawing/2014/main" id="{C889A7E9-D49A-8E64-D5B3-2CAD6DD2DAB0}"/>
              </a:ext>
            </a:extLst>
          </p:cNvPr>
          <p:cNvSpPr txBox="1">
            <a:spLocks/>
          </p:cNvSpPr>
          <p:nvPr/>
        </p:nvSpPr>
        <p:spPr>
          <a:xfrm>
            <a:off x="1298517" y="5713457"/>
            <a:ext cx="6772822" cy="5196840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4000" dirty="0"/>
              <a:t>Разработана система поддержки принятия решений, анализирующая персональные финансовые данные пользователя.</a:t>
            </a:r>
          </a:p>
          <a:p>
            <a:pPr marL="0" indent="0">
              <a:buNone/>
            </a:pPr>
            <a:r>
              <a:rPr lang="ru-RU" sz="4000" dirty="0"/>
              <a:t>Система формирует обоснованные рекомендации на основе алгоритмической обработки информации.</a:t>
            </a:r>
            <a:endParaRPr lang="ru-RU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Текст 14">
            <a:extLst>
              <a:ext uri="{FF2B5EF4-FFF2-40B4-BE49-F238E27FC236}">
                <a16:creationId xmlns:a16="http://schemas.microsoft.com/office/drawing/2014/main" id="{B144FEB6-8F28-9646-FDC1-FC2644FFF73C}"/>
              </a:ext>
            </a:extLst>
          </p:cNvPr>
          <p:cNvSpPr txBox="1">
            <a:spLocks/>
          </p:cNvSpPr>
          <p:nvPr/>
        </p:nvSpPr>
        <p:spPr>
          <a:xfrm>
            <a:off x="1298517" y="3739646"/>
            <a:ext cx="6956484" cy="1039869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5200" dirty="0">
                <a:solidFill>
                  <a:schemeClr val="accent1"/>
                </a:solidFill>
                <a:latin typeface="TT Norms Pro Medium" panose="020B0103030101020204" pitchFamily="34" charset="0"/>
              </a:rPr>
              <a:t>Интеллектуальная СППР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57C0DE5B-319D-44EE-7FF2-5EEEFA037054}"/>
              </a:ext>
            </a:extLst>
          </p:cNvPr>
          <p:cNvSpPr txBox="1">
            <a:spLocks/>
          </p:cNvSpPr>
          <p:nvPr/>
        </p:nvSpPr>
        <p:spPr>
          <a:xfrm>
            <a:off x="8654991" y="5713457"/>
            <a:ext cx="6772822" cy="5196840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4000" dirty="0"/>
              <a:t>Реализован механизм генерации и ранжирования альтернатив с учётом ограничений по ресурсам, риску и целям.</a:t>
            </a:r>
          </a:p>
          <a:p>
            <a:pPr marL="0" indent="0">
              <a:buNone/>
            </a:pPr>
            <a:r>
              <a:rPr lang="ru-RU" sz="4000" dirty="0"/>
              <a:t>Выбор решения осуществляется на основе формализованных критериев.</a:t>
            </a:r>
            <a:endParaRPr lang="ru-RU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Текст 14">
            <a:extLst>
              <a:ext uri="{FF2B5EF4-FFF2-40B4-BE49-F238E27FC236}">
                <a16:creationId xmlns:a16="http://schemas.microsoft.com/office/drawing/2014/main" id="{A7587A92-EF53-5456-7E0E-5733F5DBD728}"/>
              </a:ext>
            </a:extLst>
          </p:cNvPr>
          <p:cNvSpPr txBox="1">
            <a:spLocks/>
          </p:cNvSpPr>
          <p:nvPr/>
        </p:nvSpPr>
        <p:spPr>
          <a:xfrm>
            <a:off x="8654991" y="3739646"/>
            <a:ext cx="6956484" cy="1039869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5200" dirty="0">
                <a:solidFill>
                  <a:schemeClr val="accent1"/>
                </a:solidFill>
                <a:latin typeface="TT Norms Pro Medium" panose="020B0103030101020204" pitchFamily="34" charset="0"/>
              </a:rPr>
              <a:t>Алгоритмический выбор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7DF07F55-1B22-485A-E3AC-1DD39EE040EE}"/>
              </a:ext>
            </a:extLst>
          </p:cNvPr>
          <p:cNvSpPr txBox="1">
            <a:spLocks/>
          </p:cNvSpPr>
          <p:nvPr/>
        </p:nvSpPr>
        <p:spPr>
          <a:xfrm>
            <a:off x="16311075" y="5713457"/>
            <a:ext cx="6772822" cy="5196840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4000" dirty="0"/>
              <a:t>Система учитывает индивидуальные параметры пользователя и адаптирует рекомендации под его ситуацию.</a:t>
            </a:r>
          </a:p>
          <a:p>
            <a:pPr marL="0" indent="0">
              <a:buNone/>
            </a:pPr>
            <a:r>
              <a:rPr lang="ru-RU" sz="4000" dirty="0"/>
              <a:t>Каждое решение сопровождается пояснением, что повышает доверие и понимание.</a:t>
            </a:r>
            <a:endParaRPr lang="ru-RU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Текст 14">
            <a:extLst>
              <a:ext uri="{FF2B5EF4-FFF2-40B4-BE49-F238E27FC236}">
                <a16:creationId xmlns:a16="http://schemas.microsoft.com/office/drawing/2014/main" id="{44C057A1-66F9-2B2A-CFD4-B113CE413603}"/>
              </a:ext>
            </a:extLst>
          </p:cNvPr>
          <p:cNvSpPr txBox="1">
            <a:spLocks/>
          </p:cNvSpPr>
          <p:nvPr/>
        </p:nvSpPr>
        <p:spPr>
          <a:xfrm>
            <a:off x="16311075" y="3739646"/>
            <a:ext cx="6956484" cy="1039869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5200" dirty="0">
                <a:solidFill>
                  <a:schemeClr val="accent1"/>
                </a:solidFill>
                <a:latin typeface="TT Norms Pro Medium" panose="020B0103030101020204" pitchFamily="34" charset="0"/>
              </a:rPr>
              <a:t>Персонализация и прозрачность</a:t>
            </a:r>
          </a:p>
        </p:txBody>
      </p:sp>
    </p:spTree>
    <p:extLst>
      <p:ext uri="{BB962C8B-B14F-4D97-AF65-F5344CB8AC3E}">
        <p14:creationId xmlns:p14="http://schemas.microsoft.com/office/powerpoint/2010/main" val="3212871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F9449-286D-DE94-87FB-94025078D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87244F77-6773-8E2D-9296-A37F4F79C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sz="8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Как это работает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ADFCCAAE-F7D7-AD1B-93D2-39884FC8489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294FEAA5-1C25-7CD9-2956-188D9C63EB1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573DF5B5-A92D-5645-F048-D7FB37B4109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7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Текст 14">
            <a:extLst>
              <a:ext uri="{FF2B5EF4-FFF2-40B4-BE49-F238E27FC236}">
                <a16:creationId xmlns:a16="http://schemas.microsoft.com/office/drawing/2014/main" id="{4DEED777-2C39-CC4E-2AA2-957C3599884D}"/>
              </a:ext>
            </a:extLst>
          </p:cNvPr>
          <p:cNvSpPr txBox="1">
            <a:spLocks/>
          </p:cNvSpPr>
          <p:nvPr/>
        </p:nvSpPr>
        <p:spPr>
          <a:xfrm>
            <a:off x="1298517" y="3739646"/>
            <a:ext cx="21244960" cy="1039869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5200" dirty="0">
                <a:solidFill>
                  <a:schemeClr val="accent1"/>
                </a:solidFill>
                <a:latin typeface="TT Norms Pro Medium" panose="020B0103030101020204" pitchFamily="34" charset="0"/>
              </a:rPr>
              <a:t>Данные → Анализ → Альтернативы → Выбор → Рекомендация</a:t>
            </a:r>
          </a:p>
        </p:txBody>
      </p:sp>
      <p:sp>
        <p:nvSpPr>
          <p:cNvPr id="2" name="Текст 9">
            <a:extLst>
              <a:ext uri="{FF2B5EF4-FFF2-40B4-BE49-F238E27FC236}">
                <a16:creationId xmlns:a16="http://schemas.microsoft.com/office/drawing/2014/main" id="{68BAAE28-7308-3D6D-D16C-55EA29B119FE}"/>
              </a:ext>
            </a:extLst>
          </p:cNvPr>
          <p:cNvSpPr txBox="1">
            <a:spLocks/>
          </p:cNvSpPr>
          <p:nvPr/>
        </p:nvSpPr>
        <p:spPr>
          <a:xfrm>
            <a:off x="1298516" y="6518032"/>
            <a:ext cx="6936767" cy="379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dirty="0"/>
              <a:t>Система получает данные о доходах, расходах и обязательствах пользователя из различных источников.</a:t>
            </a:r>
          </a:p>
          <a:p>
            <a:endParaRPr lang="ru-RU" sz="3600" dirty="0"/>
          </a:p>
          <a:p>
            <a:r>
              <a:rPr lang="ru-RU" sz="3600" dirty="0"/>
              <a:t>Данные очищаются, нормализуются и формируют единую финансовую модель.</a:t>
            </a:r>
            <a:endParaRPr lang="ru-RU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Текст 10">
            <a:extLst>
              <a:ext uri="{FF2B5EF4-FFF2-40B4-BE49-F238E27FC236}">
                <a16:creationId xmlns:a16="http://schemas.microsoft.com/office/drawing/2014/main" id="{55BECD58-6BDD-3DFF-086C-B172E3B48549}"/>
              </a:ext>
            </a:extLst>
          </p:cNvPr>
          <p:cNvSpPr txBox="1">
            <a:spLocks/>
          </p:cNvSpPr>
          <p:nvPr/>
        </p:nvSpPr>
        <p:spPr>
          <a:xfrm>
            <a:off x="1338232" y="5631026"/>
            <a:ext cx="6897051" cy="5935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Сбор и обработка данных</a:t>
            </a:r>
          </a:p>
        </p:txBody>
      </p:sp>
      <p:sp>
        <p:nvSpPr>
          <p:cNvPr id="10" name="Текст 12">
            <a:extLst>
              <a:ext uri="{FF2B5EF4-FFF2-40B4-BE49-F238E27FC236}">
                <a16:creationId xmlns:a16="http://schemas.microsoft.com/office/drawing/2014/main" id="{F30845C9-6AB4-DFA8-C072-67A42C19781A}"/>
              </a:ext>
            </a:extLst>
          </p:cNvPr>
          <p:cNvSpPr txBox="1">
            <a:spLocks/>
          </p:cNvSpPr>
          <p:nvPr/>
        </p:nvSpPr>
        <p:spPr>
          <a:xfrm>
            <a:off x="8674101" y="5631026"/>
            <a:ext cx="6937374" cy="593557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ru-RU" sz="37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Данные и контроль</a:t>
            </a:r>
          </a:p>
        </p:txBody>
      </p:sp>
      <p:sp>
        <p:nvSpPr>
          <p:cNvPr id="11" name="Текст 13">
            <a:extLst>
              <a:ext uri="{FF2B5EF4-FFF2-40B4-BE49-F238E27FC236}">
                <a16:creationId xmlns:a16="http://schemas.microsoft.com/office/drawing/2014/main" id="{6A4D6AC5-DE75-FE04-8E15-26A752563B49}"/>
              </a:ext>
            </a:extLst>
          </p:cNvPr>
          <p:cNvSpPr txBox="1">
            <a:spLocks/>
          </p:cNvSpPr>
          <p:nvPr/>
        </p:nvSpPr>
        <p:spPr>
          <a:xfrm>
            <a:off x="16054389" y="5631025"/>
            <a:ext cx="7966196" cy="593557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ru-RU" sz="37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Выбор решения и рекомендации</a:t>
            </a:r>
          </a:p>
        </p:txBody>
      </p:sp>
      <p:sp>
        <p:nvSpPr>
          <p:cNvPr id="12" name="Текст 14">
            <a:extLst>
              <a:ext uri="{FF2B5EF4-FFF2-40B4-BE49-F238E27FC236}">
                <a16:creationId xmlns:a16="http://schemas.microsoft.com/office/drawing/2014/main" id="{6042F825-7359-141F-5365-BE52A70039E9}"/>
              </a:ext>
            </a:extLst>
          </p:cNvPr>
          <p:cNvSpPr txBox="1">
            <a:spLocks/>
          </p:cNvSpPr>
          <p:nvPr/>
        </p:nvSpPr>
        <p:spPr>
          <a:xfrm>
            <a:off x="8674101" y="6518032"/>
            <a:ext cx="6936767" cy="3795712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600" dirty="0"/>
              <a:t>Рассчитываются ключевые показатели: доступный ресурс, ликвидность и долговая нагрузка.</a:t>
            </a:r>
            <a:endParaRPr lang="ru-RU" sz="3600" dirty="0">
              <a:solidFill>
                <a:schemeClr val="tx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ru-RU" sz="3600" dirty="0"/>
            </a:br>
            <a:r>
              <a:rPr lang="ru-RU" sz="3600" dirty="0"/>
              <a:t>Дополнительно выполняется прогноз денежных потоков и анализ ограничений.</a:t>
            </a:r>
            <a:endParaRPr lang="ru-RU" sz="3600" dirty="0">
              <a:solidFill>
                <a:schemeClr val="tx2"/>
              </a:solidFill>
            </a:endParaRPr>
          </a:p>
        </p:txBody>
      </p:sp>
      <p:sp>
        <p:nvSpPr>
          <p:cNvPr id="13" name="Текст 15">
            <a:extLst>
              <a:ext uri="{FF2B5EF4-FFF2-40B4-BE49-F238E27FC236}">
                <a16:creationId xmlns:a16="http://schemas.microsoft.com/office/drawing/2014/main" id="{B0815AF9-B59E-1683-A310-138D58B873BB}"/>
              </a:ext>
            </a:extLst>
          </p:cNvPr>
          <p:cNvSpPr txBox="1">
            <a:spLocks/>
          </p:cNvSpPr>
          <p:nvPr/>
        </p:nvSpPr>
        <p:spPr>
          <a:xfrm>
            <a:off x="16054996" y="6518032"/>
            <a:ext cx="6936767" cy="3795712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600" dirty="0">
                <a:solidFill>
                  <a:schemeClr val="tx2"/>
                </a:solidFill>
              </a:rPr>
              <a:t>Формируются альтернативные варианты действий, которые ранжируются по заданным критериям.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3600" dirty="0">
              <a:solidFill>
                <a:schemeClr val="tx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600" dirty="0">
                <a:solidFill>
                  <a:schemeClr val="tx2"/>
                </a:solidFill>
              </a:rPr>
              <a:t>Система предлагает оптимальное решение и сопровождает его понятным пояснением.</a:t>
            </a:r>
          </a:p>
        </p:txBody>
      </p:sp>
    </p:spTree>
    <p:extLst>
      <p:ext uri="{BB962C8B-B14F-4D97-AF65-F5344CB8AC3E}">
        <p14:creationId xmlns:p14="http://schemas.microsoft.com/office/powerpoint/2010/main" val="2990265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2461027" cy="1878793"/>
          </a:xfrm>
        </p:spPr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Преимущества и ценность продукта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8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EC7C66-46C4-A4FB-71C7-127E03380089}"/>
              </a:ext>
            </a:extLst>
          </p:cNvPr>
          <p:cNvSpPr txBox="1"/>
          <p:nvPr/>
        </p:nvSpPr>
        <p:spPr>
          <a:xfrm>
            <a:off x="1298516" y="6989901"/>
            <a:ext cx="981942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3900" indent="-723900">
              <a:buBlip>
                <a:blip r:embed="rId2"/>
              </a:buBlip>
            </a:pPr>
            <a:r>
              <a:rPr lang="ru-RU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Система переводит процесс принятия финансовых решений из интуитивного в алгоритмически обоснованный.</a:t>
            </a:r>
          </a:p>
          <a:p>
            <a:pPr marL="723900" indent="-723900">
              <a:buBlip>
                <a:blip r:embed="rId2"/>
              </a:buBlip>
            </a:pPr>
            <a:r>
              <a:rPr lang="ru-RU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Обеспечивается автоматический анализ данных, учёт ограничений и выбор оптимальной альтернативы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7C67A9-2DCF-B57A-3E3D-6E3959590362}"/>
              </a:ext>
            </a:extLst>
          </p:cNvPr>
          <p:cNvSpPr txBox="1"/>
          <p:nvPr/>
        </p:nvSpPr>
        <p:spPr>
          <a:xfrm>
            <a:off x="1298515" y="5152354"/>
            <a:ext cx="9181915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20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Автоматизация и обоснованность решений: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7B6B89-557D-EB00-F84B-8FF8496D1FA8}"/>
              </a:ext>
            </a:extLst>
          </p:cNvPr>
          <p:cNvSpPr txBox="1"/>
          <p:nvPr/>
        </p:nvSpPr>
        <p:spPr>
          <a:xfrm>
            <a:off x="12529224" y="6989901"/>
            <a:ext cx="981942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3900" indent="-723900">
              <a:buBlip>
                <a:blip r:embed="rId2"/>
              </a:buBlip>
            </a:pPr>
            <a:r>
              <a:rPr lang="ru-RU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Рекомендации формируются с учётом целей, риска и текущего финансового состояния пользователя.</a:t>
            </a:r>
          </a:p>
          <a:p>
            <a:pPr marL="723900" indent="-723900">
              <a:buBlip>
                <a:blip r:embed="rId2"/>
              </a:buBlip>
            </a:pPr>
            <a:r>
              <a:rPr lang="ru-RU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Пользователь получает не просто аналитику, а конкретные действия, направленные на улучшение финансовой устойчивости.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6DF46-A7EA-3F78-C50E-A7F06B05004D}"/>
              </a:ext>
            </a:extLst>
          </p:cNvPr>
          <p:cNvSpPr txBox="1"/>
          <p:nvPr/>
        </p:nvSpPr>
        <p:spPr>
          <a:xfrm>
            <a:off x="12529223" y="5152354"/>
            <a:ext cx="9181915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20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Персонализация и практическая польза:</a:t>
            </a:r>
          </a:p>
        </p:txBody>
      </p:sp>
    </p:spTree>
    <p:extLst>
      <p:ext uri="{BB962C8B-B14F-4D97-AF65-F5344CB8AC3E}">
        <p14:creationId xmlns:p14="http://schemas.microsoft.com/office/powerpoint/2010/main" val="4089859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2665C-4D45-88BA-CEB3-56C036FD1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20903800-AEFD-FA58-BBCF-5C6B75AE0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2131383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Математическая модель решения задачи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235DE8AE-D6AC-5BF1-79F1-9C8A71B0C77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3A4E852D-2200-DF0B-D36E-4BA98056C49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1174AA80-14F2-262B-1726-F788B000F9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9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6DF17-1261-F16F-8C2B-C79A79D6FBEA}"/>
              </a:ext>
            </a:extLst>
          </p:cNvPr>
          <p:cNvSpPr txBox="1"/>
          <p:nvPr/>
        </p:nvSpPr>
        <p:spPr>
          <a:xfrm>
            <a:off x="1949331" y="4184473"/>
            <a:ext cx="3276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Доходы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721657-4DE3-6394-E7A3-EB48E162ACD5}"/>
                  </a:ext>
                </a:extLst>
              </p:cNvPr>
              <p:cNvSpPr txBox="1"/>
              <p:nvPr/>
            </p:nvSpPr>
            <p:spPr>
              <a:xfrm>
                <a:off x="4105215" y="4184473"/>
                <a:ext cx="45275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721657-4DE3-6394-E7A3-EB48E162A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215" y="4184473"/>
                <a:ext cx="452755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A8E1A0F-D043-DF5A-D74C-C2E98C9CBA2D}"/>
              </a:ext>
            </a:extLst>
          </p:cNvPr>
          <p:cNvSpPr txBox="1"/>
          <p:nvPr/>
        </p:nvSpPr>
        <p:spPr>
          <a:xfrm>
            <a:off x="1949331" y="5199455"/>
            <a:ext cx="3276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Расходы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4600B6-39AF-DDA1-2A46-8C3FB24C8139}"/>
                  </a:ext>
                </a:extLst>
              </p:cNvPr>
              <p:cNvSpPr txBox="1"/>
              <p:nvPr/>
            </p:nvSpPr>
            <p:spPr>
              <a:xfrm>
                <a:off x="4105215" y="5199455"/>
                <a:ext cx="49911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4600B6-39AF-DDA1-2A46-8C3FB24C8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215" y="5199455"/>
                <a:ext cx="499110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774511A-5D6F-C7C2-A868-D99F3D7B8017}"/>
              </a:ext>
            </a:extLst>
          </p:cNvPr>
          <p:cNvSpPr txBox="1"/>
          <p:nvPr/>
        </p:nvSpPr>
        <p:spPr>
          <a:xfrm>
            <a:off x="10635117" y="3427759"/>
            <a:ext cx="437838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Чистый денежный поток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93C530-9722-2C76-498D-7FBF90511A06}"/>
                  </a:ext>
                </a:extLst>
              </p:cNvPr>
              <p:cNvSpPr txBox="1"/>
              <p:nvPr/>
            </p:nvSpPr>
            <p:spPr>
              <a:xfrm>
                <a:off x="10161649" y="4699666"/>
                <a:ext cx="5124450" cy="16673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ru-RU" i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93C530-9722-2C76-498D-7FBF90511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1649" y="4699666"/>
                <a:ext cx="5124450" cy="16673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2A41B9F-E766-C592-BF12-98E0768D9F76}"/>
              </a:ext>
            </a:extLst>
          </p:cNvPr>
          <p:cNvSpPr txBox="1"/>
          <p:nvPr/>
        </p:nvSpPr>
        <p:spPr>
          <a:xfrm>
            <a:off x="1916023" y="7187080"/>
            <a:ext cx="43783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Обязательства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85F68F-1307-234C-1149-B42C23DC6E6B}"/>
                  </a:ext>
                </a:extLst>
              </p:cNvPr>
              <p:cNvSpPr txBox="1"/>
              <p:nvPr/>
            </p:nvSpPr>
            <p:spPr>
              <a:xfrm>
                <a:off x="5225931" y="7200913"/>
                <a:ext cx="4896644" cy="727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85F68F-1307-234C-1149-B42C23DC6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931" y="7200913"/>
                <a:ext cx="4896644" cy="727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E2FA81-112E-0910-26DD-7FD77E5565D8}"/>
                  </a:ext>
                </a:extLst>
              </p:cNvPr>
              <p:cNvSpPr txBox="1"/>
              <p:nvPr/>
            </p:nvSpPr>
            <p:spPr>
              <a:xfrm>
                <a:off x="5074102" y="7838102"/>
                <a:ext cx="437838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E2FA81-112E-0910-26DD-7FD77E556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102" y="7838102"/>
                <a:ext cx="4378384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3B22DC7-3E67-C4C2-98CD-3408A418AFF5}"/>
              </a:ext>
            </a:extLst>
          </p:cNvPr>
          <p:cNvSpPr txBox="1"/>
          <p:nvPr/>
        </p:nvSpPr>
        <p:spPr>
          <a:xfrm>
            <a:off x="10611069" y="7147872"/>
            <a:ext cx="48966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Плановый платёж по обязательству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CE02EC2-2386-7D09-7A0C-26466512B12C}"/>
                  </a:ext>
                </a:extLst>
              </p:cNvPr>
              <p:cNvSpPr txBox="1"/>
              <p:nvPr/>
            </p:nvSpPr>
            <p:spPr>
              <a:xfrm>
                <a:off x="10028299" y="8450706"/>
                <a:ext cx="5257800" cy="6706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CE02EC2-2386-7D09-7A0C-26466512B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8299" y="8450706"/>
                <a:ext cx="5257800" cy="67069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CD96A736-A62E-37B6-E96A-4D4CA2853E82}"/>
              </a:ext>
            </a:extLst>
          </p:cNvPr>
          <p:cNvSpPr txBox="1"/>
          <p:nvPr/>
        </p:nvSpPr>
        <p:spPr>
          <a:xfrm>
            <a:off x="1298516" y="3286598"/>
            <a:ext cx="66262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Денежные потоки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22F69E-6ECA-3E02-9306-6D1CFFD71F44}"/>
              </a:ext>
            </a:extLst>
          </p:cNvPr>
          <p:cNvSpPr txBox="1"/>
          <p:nvPr/>
        </p:nvSpPr>
        <p:spPr>
          <a:xfrm>
            <a:off x="1298516" y="6220391"/>
            <a:ext cx="9636184" cy="643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Обязательства пользователя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20BD08-C64B-480E-9257-842C52101B10}"/>
              </a:ext>
            </a:extLst>
          </p:cNvPr>
          <p:cNvSpPr txBox="1"/>
          <p:nvPr/>
        </p:nvSpPr>
        <p:spPr>
          <a:xfrm>
            <a:off x="1298516" y="8813688"/>
            <a:ext cx="96361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Параметры пользователя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059C1EC-6C12-BB95-DE1A-9A492FD8FE32}"/>
                  </a:ext>
                </a:extLst>
              </p:cNvPr>
              <p:cNvSpPr txBox="1"/>
              <p:nvPr/>
            </p:nvSpPr>
            <p:spPr>
              <a:xfrm>
                <a:off x="1531987" y="9657824"/>
                <a:ext cx="411128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e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059C1EC-6C12-BB95-DE1A-9A492FD8F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987" y="9657824"/>
                <a:ext cx="4111287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9CE6CC6F-59CA-6321-55A6-B12FFAA596B5}"/>
              </a:ext>
            </a:extLst>
          </p:cNvPr>
          <p:cNvSpPr txBox="1"/>
          <p:nvPr/>
        </p:nvSpPr>
        <p:spPr>
          <a:xfrm>
            <a:off x="1298516" y="10354122"/>
            <a:ext cx="96361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 Финансовые цели пользователя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A2D5C47-9CCE-E1FC-535C-07562EF372C9}"/>
                  </a:ext>
                </a:extLst>
              </p:cNvPr>
              <p:cNvSpPr txBox="1"/>
              <p:nvPr/>
            </p:nvSpPr>
            <p:spPr>
              <a:xfrm>
                <a:off x="1365190" y="11111734"/>
                <a:ext cx="5003800" cy="727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A2D5C47-9CCE-E1FC-535C-07562EF37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190" y="11111734"/>
                <a:ext cx="5003800" cy="727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Таблица 30">
                <a:extLst>
                  <a:ext uri="{FF2B5EF4-FFF2-40B4-BE49-F238E27FC236}">
                    <a16:creationId xmlns:a16="http://schemas.microsoft.com/office/drawing/2014/main" id="{0AA55921-B3D2-6600-B992-05AD622D4E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773058"/>
                  </p:ext>
                </p:extLst>
              </p:nvPr>
            </p:nvGraphicFramePr>
            <p:xfrm>
              <a:off x="16529383" y="3286598"/>
              <a:ext cx="7384867" cy="8552579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4976016">
                      <a:extLst>
                        <a:ext uri="{9D8B030D-6E8A-4147-A177-3AD203B41FA5}">
                          <a16:colId xmlns:a16="http://schemas.microsoft.com/office/drawing/2014/main" val="1299177965"/>
                        </a:ext>
                      </a:extLst>
                    </a:gridCol>
                    <a:gridCol w="2408851">
                      <a:extLst>
                        <a:ext uri="{9D8B030D-6E8A-4147-A177-3AD203B41FA5}">
                          <a16:colId xmlns:a16="http://schemas.microsoft.com/office/drawing/2014/main" val="3630810891"/>
                        </a:ext>
                      </a:extLst>
                    </a:gridCol>
                  </a:tblGrid>
                  <a:tr h="592661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Наименование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Обозначение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30947070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Доходы в момент времени </a:t>
                          </a:r>
                          <a14:m>
                            <m:oMath xmlns:m="http://schemas.openxmlformats.org/officeDocument/2006/math">
                              <m:r>
                                <a:rPr lang="ru-RU" sz="2800">
                                  <a:effectLst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01565836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Расходы в момент времени </a:t>
                          </a:r>
                          <a14:m>
                            <m:oMath xmlns:m="http://schemas.openxmlformats.org/officeDocument/2006/math">
                              <m:r>
                                <a:rPr lang="ru-RU" sz="2800">
                                  <a:effectLst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60381278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Чистый денежный поток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422115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Множество обязательств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69206577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Отдельное обязательство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14656706"/>
                      </a:ext>
                    </a:extLst>
                  </a:tr>
                  <a:tr h="636318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Платёж по обязательству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523372304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Параметры пользователя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7042598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Минимальная ликвидность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13290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Уровень риска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62624280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Горизонт планирования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850169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Множество целей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>
                                    <a:effectLst/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032749654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Отдельная цель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82146215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Баланс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3200" dirty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395182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Таблица 30">
                <a:extLst>
                  <a:ext uri="{FF2B5EF4-FFF2-40B4-BE49-F238E27FC236}">
                    <a16:creationId xmlns:a16="http://schemas.microsoft.com/office/drawing/2014/main" id="{0AA55921-B3D2-6600-B992-05AD622D4E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773058"/>
                  </p:ext>
                </p:extLst>
              </p:nvPr>
            </p:nvGraphicFramePr>
            <p:xfrm>
              <a:off x="16529383" y="3286598"/>
              <a:ext cx="7384867" cy="8552579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4976016">
                      <a:extLst>
                        <a:ext uri="{9D8B030D-6E8A-4147-A177-3AD203B41FA5}">
                          <a16:colId xmlns:a16="http://schemas.microsoft.com/office/drawing/2014/main" val="1299177965"/>
                        </a:ext>
                      </a:extLst>
                    </a:gridCol>
                    <a:gridCol w="2408851">
                      <a:extLst>
                        <a:ext uri="{9D8B030D-6E8A-4147-A177-3AD203B41FA5}">
                          <a16:colId xmlns:a16="http://schemas.microsoft.com/office/drawing/2014/main" val="3630810891"/>
                        </a:ext>
                      </a:extLst>
                    </a:gridCol>
                  </a:tblGrid>
                  <a:tr h="592661"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Наименование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Обозначение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30947070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t="-101000" r="-48348" b="-122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01000" b="-1227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1565836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t="-199010" r="-48348" b="-11148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99010" b="-11148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0381278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Чистый денежный поток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302000" b="-102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22115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Множество обязательств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402000" b="-92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206577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Отдельное обязательство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502000" b="-82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4656706"/>
                      </a:ext>
                    </a:extLst>
                  </a:tr>
                  <a:tr h="636318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Платёж по обязательству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573333" b="-68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372304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Параметры пользователя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707000" b="-62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042598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Минимальная ликвидность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807000" b="-52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290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Уровень риска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907000" b="-42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2624280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Горизонт планирования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007000" b="-321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5016973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Множество целей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096040" b="-2178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2749654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Отдельная цель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208000" b="-1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2146215"/>
                      </a:ext>
                    </a:extLst>
                  </a:tr>
                  <a:tr h="610300">
                    <a:tc>
                      <a:txBody>
                        <a:bodyPr/>
                        <a:lstStyle/>
                        <a:p>
                          <a:pPr indent="0" algn="l">
                            <a:lnSpc>
                              <a:spcPct val="100000"/>
                            </a:lnSpc>
                            <a:spcBef>
                              <a:spcPts val="100"/>
                            </a:spcBef>
                            <a:spcAft>
                              <a:spcPts val="100"/>
                            </a:spcAft>
                            <a:buNone/>
                          </a:pPr>
                          <a:r>
                            <a:rPr lang="ru-RU" sz="2800">
                              <a:effectLst/>
                              <a:latin typeface="+mn-lt"/>
                            </a:rPr>
                            <a:t>Баланс</a:t>
                          </a:r>
                          <a:endParaRPr lang="ru-RU" sz="320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blipFill>
                          <a:blip r:embed="rId11"/>
                          <a:stretch>
                            <a:fillRect l="-206835" t="-1308000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95182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70097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89653-0129-D04C-2E30-EF574B254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3CF5F58F-12CF-3039-0764-38DDC4840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2034228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Для пользователя модель должна быть</a:t>
            </a:r>
            <a:b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а) </a:t>
            </a: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простой	 </a:t>
            </a:r>
            <a:r>
              <a:rPr lang="ru-RU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б)</a:t>
            </a: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доступной </a:t>
            </a:r>
            <a:r>
              <a:rPr lang="ru-RU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в) </a:t>
            </a: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понятной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ED1D0026-EAD7-15CA-FE28-F1BD5AA3A0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D1996A98-AB3C-542B-B266-7C0D8E6D60F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1166A0F9-7C34-5406-3BBA-9CA8BE8E9AA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10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1611BE-C814-D802-CBF0-D9E7A04ED626}"/>
              </a:ext>
            </a:extLst>
          </p:cNvPr>
          <p:cNvSpPr txBox="1"/>
          <p:nvPr/>
        </p:nvSpPr>
        <p:spPr>
          <a:xfrm>
            <a:off x="1298516" y="4520312"/>
            <a:ext cx="17308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Поэтому в модели используются </a:t>
            </a:r>
            <a:r>
              <a:rPr lang="ru-RU" sz="4000" b="1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три</a:t>
            </a:r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базовых показателя: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8EAD-CCF7-0965-CE82-36E74E9C3AFD}"/>
              </a:ext>
            </a:extLst>
          </p:cNvPr>
          <p:cNvSpPr txBox="1"/>
          <p:nvPr/>
        </p:nvSpPr>
        <p:spPr>
          <a:xfrm>
            <a:off x="1298516" y="6427535"/>
            <a:ext cx="6952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Финансовый ресурс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3ADCFB-F584-9B60-93FB-228AB70DFF9B}"/>
              </a:ext>
            </a:extLst>
          </p:cNvPr>
          <p:cNvSpPr txBox="1"/>
          <p:nvPr/>
        </p:nvSpPr>
        <p:spPr>
          <a:xfrm>
            <a:off x="1298516" y="8334758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Коэффициент ликвидности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4361FE-3AEE-183C-174D-C81D4ECDE0DD}"/>
              </a:ext>
            </a:extLst>
          </p:cNvPr>
          <p:cNvSpPr txBox="1"/>
          <p:nvPr/>
        </p:nvSpPr>
        <p:spPr>
          <a:xfrm>
            <a:off x="1468804" y="10892423"/>
            <a:ext cx="66117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Долговая нагрузка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3B4D2FB-53FC-CE05-20D9-9F757F7A3A3C}"/>
                  </a:ext>
                </a:extLst>
              </p:cNvPr>
              <p:cNvSpPr txBox="1"/>
              <p:nvPr/>
            </p:nvSpPr>
            <p:spPr>
              <a:xfrm>
                <a:off x="7257143" y="5733078"/>
                <a:ext cx="7620000" cy="19406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4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4400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4400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sz="4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4400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ru-RU" sz="4400" i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ru-RU" sz="4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3B4D2FB-53FC-CE05-20D9-9F757F7A3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143" y="5733078"/>
                <a:ext cx="7620000" cy="19406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AD33B3-1BD7-8641-818E-A73E02AB8106}"/>
                  </a:ext>
                </a:extLst>
              </p:cNvPr>
              <p:cNvSpPr txBox="1"/>
              <p:nvPr/>
            </p:nvSpPr>
            <p:spPr>
              <a:xfrm>
                <a:off x="9327016" y="8010793"/>
                <a:ext cx="4824412" cy="22311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4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4400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ru-RU" sz="4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ru-RU" sz="4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AD33B3-1BD7-8641-818E-A73E02AB8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7016" y="8010793"/>
                <a:ext cx="4824412" cy="22311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403814-79D9-7BE5-8901-325508E99F46}"/>
                  </a:ext>
                </a:extLst>
              </p:cNvPr>
              <p:cNvSpPr txBox="1"/>
              <p:nvPr/>
            </p:nvSpPr>
            <p:spPr>
              <a:xfrm>
                <a:off x="9550399" y="10557582"/>
                <a:ext cx="4601029" cy="176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4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4400" i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4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ru-RU" sz="4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ru-RU" sz="4400" i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RU" sz="4400" i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 sz="4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ru-RU" sz="4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403814-79D9-7BE5-8901-325508E99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0399" y="10557582"/>
                <a:ext cx="4601029" cy="17674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42170E-48B4-5CBE-8BEF-743373732990}"/>
                  </a:ext>
                </a:extLst>
              </p:cNvPr>
              <p:cNvSpPr txBox="1"/>
              <p:nvPr/>
            </p:nvSpPr>
            <p:spPr>
              <a:xfrm>
                <a:off x="15224594" y="5834428"/>
                <a:ext cx="8449097" cy="65839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32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доступный ресурс в момент </a:t>
                </a:r>
                <a14:m>
                  <m:oMath xmlns:m="http://schemas.openxmlformats.org/officeDocument/2006/math">
                    <m:r>
                      <a:rPr lang="ru-RU" sz="3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ru-RU" sz="32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32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текущий баланс;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ru-RU" sz="3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  <m:sSub>
                      <m:sSubPr>
                        <m:ctrlP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32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чистый денежный поток;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ru-RU" sz="3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3200" dirty="0">
                    <a:effectLst/>
                    <a:ea typeface="Times New Roman" panose="02020603050405020304" pitchFamily="18" charset="0"/>
                  </a:rPr>
                  <a:t> – платежи по обязательствам;</a:t>
                </a:r>
              </a:p>
              <a:p>
                <a:pPr>
                  <a:buNone/>
                </a:pPr>
                <a:endParaRPr lang="ru-RU" sz="32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3200" dirty="0"/>
                  <a:t> – коэффициент ликвидности;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3200" dirty="0"/>
                  <a:t> – баланс;</a:t>
                </a:r>
              </a:p>
              <a:p>
                <a14:m>
                  <m:oMath xmlns:m="http://schemas.openxmlformats.org/officeDocument/2006/math">
                    <m:r>
                      <a:rPr lang="ru-RU" sz="3200" i="1"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ru-RU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3200" dirty="0"/>
                  <a:t> – суммарные расходы за период;</a:t>
                </a:r>
              </a:p>
              <a:p>
                <a:endParaRPr lang="ru-RU" sz="3200" dirty="0"/>
              </a:p>
              <a:p>
                <a:endParaRPr lang="ru-RU" sz="32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3200" dirty="0"/>
                  <a:t> – коэффициент долговой нагрузки;</a:t>
                </a:r>
              </a:p>
              <a:p>
                <a14:m>
                  <m:oMath xmlns:m="http://schemas.openxmlformats.org/officeDocument/2006/math">
                    <m:r>
                      <a:rPr lang="ru-RU" sz="3200" i="1"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ru-RU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3200" dirty="0"/>
                  <a:t> – сумма платежей по обязательствам;</a:t>
                </a:r>
              </a:p>
              <a:p>
                <a14:m>
                  <m:oMath xmlns:m="http://schemas.openxmlformats.org/officeDocument/2006/math">
                    <m:r>
                      <a:rPr lang="ru-RU" sz="3200" i="1"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ru-RU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3200" dirty="0"/>
                  <a:t> – сумма доходов.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42170E-48B4-5CBE-8BEF-743373732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24594" y="5834428"/>
                <a:ext cx="8449097" cy="6583918"/>
              </a:xfrm>
              <a:prstGeom prst="rect">
                <a:avLst/>
              </a:prstGeom>
              <a:blipFill>
                <a:blip r:embed="rId6"/>
                <a:stretch>
                  <a:fillRect t="-1296" r="-505" b="-20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2977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1A403-E195-5FB5-B2C7-E374A86F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48BBDC26-A8D1-7B7A-FB7E-7FBEBE15AF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Программная среда </a:t>
            </a:r>
            <a:b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инструменты разработки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A0E41399-3142-8C23-8D6D-533D2BB0795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AA20C514-B45D-9927-8648-01011D86946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0AACAFA6-F064-A579-2CF6-38725A5501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11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642CF7EE-E333-1139-3EC1-F1C315746E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23105"/>
              </p:ext>
            </p:extLst>
          </p:nvPr>
        </p:nvGraphicFramePr>
        <p:xfrm>
          <a:off x="1298516" y="4294885"/>
          <a:ext cx="21803151" cy="7744715"/>
        </p:xfrm>
        <a:graphic>
          <a:graphicData uri="http://schemas.openxmlformats.org/drawingml/2006/table">
            <a:tbl>
              <a:tblPr firstRow="1" firstCol="1" bandRow="1">
                <a:tableStyleId>{17292A2E-F333-43FB-9621-5CBBE7FDCDCB}</a:tableStyleId>
              </a:tblPr>
              <a:tblGrid>
                <a:gridCol w="4397434">
                  <a:extLst>
                    <a:ext uri="{9D8B030D-6E8A-4147-A177-3AD203B41FA5}">
                      <a16:colId xmlns:a16="http://schemas.microsoft.com/office/drawing/2014/main" val="2306128875"/>
                    </a:ext>
                  </a:extLst>
                </a:gridCol>
                <a:gridCol w="6800850">
                  <a:extLst>
                    <a:ext uri="{9D8B030D-6E8A-4147-A177-3AD203B41FA5}">
                      <a16:colId xmlns:a16="http://schemas.microsoft.com/office/drawing/2014/main" val="1049280081"/>
                    </a:ext>
                  </a:extLst>
                </a:gridCol>
                <a:gridCol w="10604867">
                  <a:extLst>
                    <a:ext uri="{9D8B030D-6E8A-4147-A177-3AD203B41FA5}">
                      <a16:colId xmlns:a16="http://schemas.microsoft.com/office/drawing/2014/main" val="3986087481"/>
                    </a:ext>
                  </a:extLst>
                </a:gridCol>
              </a:tblGrid>
              <a:tr h="87113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Инструмент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" marR="3810" marT="3810" marB="381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Назначение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Роль в системе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48085270"/>
                  </a:ext>
                </a:extLst>
              </a:tr>
              <a:tr h="859198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Python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Язык программирования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Реализация всей логики системы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81600734"/>
                  </a:ext>
                </a:extLst>
              </a:tr>
              <a:tr h="859198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FastAPI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Веб-фреймворк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Обработка HTTP-запросов, построение API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6022744"/>
                  </a:ext>
                </a:extLst>
              </a:tr>
              <a:tr h="859198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Uvicorn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ASGI-сервер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Запуск и выполнение приложения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96580337"/>
                  </a:ext>
                </a:extLst>
              </a:tr>
              <a:tr h="859198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SQLAlchemy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ORM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Работа с базой данных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15676788"/>
                  </a:ext>
                </a:extLst>
              </a:tr>
              <a:tr h="859198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Pydantic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Валидация данных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Проверка входных и выходных данных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43123396"/>
                  </a:ext>
                </a:extLst>
              </a:tr>
              <a:tr h="859198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pydantic-settings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Конфигурация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Управление настройками приложения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63221875"/>
                  </a:ext>
                </a:extLst>
              </a:tr>
              <a:tr h="859198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python-dotenv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Работа с переменными среды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Загрузка конфигурации из .env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89816682"/>
                  </a:ext>
                </a:extLst>
              </a:tr>
              <a:tr h="859198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Jinja2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Шаблонизатор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ru-RU" sz="3600" dirty="0">
                          <a:effectLst/>
                        </a:rPr>
                        <a:t>Формирование HTML-интерфейса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5132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9489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A92BF-5260-78FC-2996-88F66889D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A79DE2C7-211B-47C9-B670-1B924386E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Программная реализация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8D4EF0F6-3416-0F7F-A0CA-9BE15289C05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086677B3-781F-B368-8283-1B11AED3D0F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E8ECC9E8-1BA7-4D55-DF29-FEEB91451B3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12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C1AFD9-07E7-6600-2B20-E559D98D417E}"/>
              </a:ext>
            </a:extLst>
          </p:cNvPr>
          <p:cNvSpPr txBox="1"/>
          <p:nvPr/>
        </p:nvSpPr>
        <p:spPr>
          <a:xfrm>
            <a:off x="1298516" y="3055087"/>
            <a:ext cx="17308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Главная панель СППР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CC7E8C-CB1D-5E9A-DB06-0DEC224EA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516" y="3994484"/>
            <a:ext cx="22012650" cy="840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49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3BB7E-510D-C185-B0B6-13EC9B17A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A7B6AC85-ECB1-E36A-B8AD-6FE61B497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Программная реализация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A052A695-EB97-C143-830B-9D5462FFDD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7AA00A85-3B2B-BDEF-1063-F56D936F4F8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445D008A-107B-BE44-B3F7-64FAEA630BE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13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01C72F-FD4F-5D21-9BEC-7A12B5CDD744}"/>
              </a:ext>
            </a:extLst>
          </p:cNvPr>
          <p:cNvSpPr txBox="1"/>
          <p:nvPr/>
        </p:nvSpPr>
        <p:spPr>
          <a:xfrm>
            <a:off x="1298516" y="3055087"/>
            <a:ext cx="17308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Разделы управления обязательствами и целями в СППР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1959D1-CC25-6E3F-9CC2-9C6CE18EE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516" y="4161472"/>
            <a:ext cx="22285384" cy="770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084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2C25F-1ADB-82FE-6D79-A16E7E86C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0B746627-5613-BDAF-D85E-6EF898946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Программная реализация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AC78B57B-D1CE-511F-4C93-91A36F8F65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B975FEBF-8E0F-3579-366B-C17B29A7852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F9D37536-5852-5FA5-86F8-B19DE0B6D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14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B83D87-56A5-88E8-04F6-3918A90C64E0}"/>
              </a:ext>
            </a:extLst>
          </p:cNvPr>
          <p:cNvSpPr txBox="1"/>
          <p:nvPr/>
        </p:nvSpPr>
        <p:spPr>
          <a:xfrm>
            <a:off x="1298516" y="3055087"/>
            <a:ext cx="17308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Журнал доходов и расходов в СППР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A92320E-F582-BCA9-8108-406FEA5FC9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048"/>
          <a:stretch>
            <a:fillRect/>
          </a:stretch>
        </p:blipFill>
        <p:spPr>
          <a:xfrm>
            <a:off x="1298516" y="3976322"/>
            <a:ext cx="18932584" cy="845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791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FC3EC-1BE3-5CCD-AA6B-15F777144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58DB6063-7853-7D9C-F80B-52828673C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Программная реализация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AA0329B5-C19F-E172-DA4B-E4B2BD3F044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D4883210-25C0-937F-69CA-0D15D9B4445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EB25A2B4-6907-B355-1951-6B6718A6593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15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2EB17D-EDFD-88E8-F393-69D9C218CBD1}"/>
              </a:ext>
            </a:extLst>
          </p:cNvPr>
          <p:cNvSpPr txBox="1"/>
          <p:nvPr/>
        </p:nvSpPr>
        <p:spPr>
          <a:xfrm>
            <a:off x="1298516" y="3055087"/>
            <a:ext cx="17308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Панель ключевых показателей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19E3B23-F7EB-A03F-D1CF-6237B1E99B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883"/>
          <a:stretch>
            <a:fillRect/>
          </a:stretch>
        </p:blipFill>
        <p:spPr>
          <a:xfrm>
            <a:off x="1298516" y="4176830"/>
            <a:ext cx="22314911" cy="679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859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EA88E-F825-5336-C5D3-2070B6BC9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371B67E8-5BD9-990F-FACA-B4E7C0934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Программная реализация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6B33224A-7AE5-75D5-CAAA-1BFAD4BAF4B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0ADB8801-083B-B6D6-C68A-29FBD4CA24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194935F8-23B0-7B33-6F07-777CBCACC4D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16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45C364-B127-A439-86D4-DBA055B63DA9}"/>
              </a:ext>
            </a:extLst>
          </p:cNvPr>
          <p:cNvSpPr txBox="1"/>
          <p:nvPr/>
        </p:nvSpPr>
        <p:spPr>
          <a:xfrm>
            <a:off x="1298516" y="3055087"/>
            <a:ext cx="17308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Панель финансового профиля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34FF82F-40BF-1B88-3EFA-70955FBB9C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969"/>
          <a:stretch>
            <a:fillRect/>
          </a:stretch>
        </p:blipFill>
        <p:spPr>
          <a:xfrm>
            <a:off x="1298516" y="4343400"/>
            <a:ext cx="22508676" cy="631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832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615CA-C709-4869-09A8-220B307DF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AD0316C-22C4-E217-9958-F3228FF1D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170" y="1496859"/>
            <a:ext cx="22858730" cy="1113412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70CEC0C-BFE1-26C2-5291-017C54BE6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170" y="1460720"/>
            <a:ext cx="12914630" cy="2302254"/>
          </a:xfrm>
          <a:prstGeom prst="rect">
            <a:avLst/>
          </a:prstGeom>
        </p:spPr>
      </p:pic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887635D2-7BD3-6111-D7F1-0EF03CF832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Программная реализация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4C19B348-A311-B947-9176-5127450A17A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D3A18CCA-9EBC-21CA-284C-801EEADAC29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66E4EDA1-EE76-DF4D-61CF-3B939F9C799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17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A2C8A4-25AB-0AF5-641D-AD75E6F6A8D8}"/>
              </a:ext>
            </a:extLst>
          </p:cNvPr>
          <p:cNvSpPr txBox="1"/>
          <p:nvPr/>
        </p:nvSpPr>
        <p:spPr>
          <a:xfrm>
            <a:off x="1298516" y="3055087"/>
            <a:ext cx="17308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Панель рекомендаций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56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16459-11D6-9282-CBC5-497776769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B2FA901C-2DCA-FE31-40C3-13A6A4C78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8513484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Результаты расчета показателей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622CC976-D405-AFE2-4ECC-3496042FA3C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CCDFC764-7988-A857-AEFB-46D6515C255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C817AE8A-A74A-673F-4EB6-D886F6C0FEE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18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544D72-7AD6-613F-0283-E275A4F19E22}"/>
              </a:ext>
            </a:extLst>
          </p:cNvPr>
          <p:cNvSpPr txBox="1"/>
          <p:nvPr/>
        </p:nvSpPr>
        <p:spPr>
          <a:xfrm>
            <a:off x="1298516" y="3055087"/>
            <a:ext cx="17308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Сценарный анализ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F0B300CE-5296-E8F6-ACCC-4107AD24D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904838"/>
              </p:ext>
            </p:extLst>
          </p:nvPr>
        </p:nvGraphicFramePr>
        <p:xfrm>
          <a:off x="1298516" y="4297679"/>
          <a:ext cx="21961534" cy="73026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46867">
                  <a:extLst>
                    <a:ext uri="{9D8B030D-6E8A-4147-A177-3AD203B41FA5}">
                      <a16:colId xmlns:a16="http://schemas.microsoft.com/office/drawing/2014/main" val="1255311946"/>
                    </a:ext>
                  </a:extLst>
                </a:gridCol>
                <a:gridCol w="3246867">
                  <a:extLst>
                    <a:ext uri="{9D8B030D-6E8A-4147-A177-3AD203B41FA5}">
                      <a16:colId xmlns:a16="http://schemas.microsoft.com/office/drawing/2014/main" val="172800185"/>
                    </a:ext>
                  </a:extLst>
                </a:gridCol>
                <a:gridCol w="2792430">
                  <a:extLst>
                    <a:ext uri="{9D8B030D-6E8A-4147-A177-3AD203B41FA5}">
                      <a16:colId xmlns:a16="http://schemas.microsoft.com/office/drawing/2014/main" val="3659574217"/>
                    </a:ext>
                  </a:extLst>
                </a:gridCol>
                <a:gridCol w="4065926">
                  <a:extLst>
                    <a:ext uri="{9D8B030D-6E8A-4147-A177-3AD203B41FA5}">
                      <a16:colId xmlns:a16="http://schemas.microsoft.com/office/drawing/2014/main" val="2716467162"/>
                    </a:ext>
                  </a:extLst>
                </a:gridCol>
                <a:gridCol w="2201991">
                  <a:extLst>
                    <a:ext uri="{9D8B030D-6E8A-4147-A177-3AD203B41FA5}">
                      <a16:colId xmlns:a16="http://schemas.microsoft.com/office/drawing/2014/main" val="3301088240"/>
                    </a:ext>
                  </a:extLst>
                </a:gridCol>
                <a:gridCol w="1639337">
                  <a:extLst>
                    <a:ext uri="{9D8B030D-6E8A-4147-A177-3AD203B41FA5}">
                      <a16:colId xmlns:a16="http://schemas.microsoft.com/office/drawing/2014/main" val="3672411152"/>
                    </a:ext>
                  </a:extLst>
                </a:gridCol>
                <a:gridCol w="1521249">
                  <a:extLst>
                    <a:ext uri="{9D8B030D-6E8A-4147-A177-3AD203B41FA5}">
                      <a16:colId xmlns:a16="http://schemas.microsoft.com/office/drawing/2014/main" val="4161136170"/>
                    </a:ext>
                  </a:extLst>
                </a:gridCol>
                <a:gridCol w="3246867">
                  <a:extLst>
                    <a:ext uri="{9D8B030D-6E8A-4147-A177-3AD203B41FA5}">
                      <a16:colId xmlns:a16="http://schemas.microsoft.com/office/drawing/2014/main" val="3022255985"/>
                    </a:ext>
                  </a:extLst>
                </a:gridCol>
              </a:tblGrid>
              <a:tr h="741978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Сценарий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" marR="3810" marT="3810" marB="381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Доходы, руб.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Расходы, руб.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Обязательства, руб.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Rt, руб.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Lt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Dt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Результат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79491917"/>
                  </a:ext>
                </a:extLst>
              </a:tr>
              <a:tr h="145792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 dirty="0">
                          <a:effectLst/>
                        </a:rPr>
                        <a:t>1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 dirty="0">
                          <a:effectLst/>
                        </a:rPr>
                        <a:t>167000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36500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23500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107000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1,78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0,14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Стабильное состояние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975705316"/>
                  </a:ext>
                </a:extLst>
              </a:tr>
              <a:tr h="145792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2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120000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 dirty="0">
                          <a:effectLst/>
                        </a:rPr>
                        <a:t>100000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15000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5000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0,04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0,13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Низкая ликвидность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324409855"/>
                  </a:ext>
                </a:extLst>
              </a:tr>
              <a:tr h="145792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 dirty="0">
                          <a:effectLst/>
                        </a:rPr>
                        <a:t>3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100000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 dirty="0">
                          <a:effectLst/>
                        </a:rPr>
                        <a:t>60000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 dirty="0">
                          <a:effectLst/>
                        </a:rPr>
                        <a:t>50000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-10000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-0,10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0,50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Высокая долговая нагрузка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3507891602"/>
                  </a:ext>
                </a:extLst>
              </a:tr>
              <a:tr h="145792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4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200000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120000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20000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60000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0,43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0,10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>
                          <a:effectLst/>
                        </a:rPr>
                        <a:t>Умеренное состояние</a:t>
                      </a:r>
                      <a:endParaRPr lang="ru-RU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1402000310"/>
                  </a:ext>
                </a:extLst>
              </a:tr>
              <a:tr h="72896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5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180000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70000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10000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>
                          <a:effectLst/>
                        </a:rPr>
                        <a:t>100000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 dirty="0">
                          <a:effectLst/>
                        </a:rPr>
                        <a:t>1,25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3600" dirty="0">
                          <a:effectLst/>
                        </a:rPr>
                        <a:t>0,06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ru-RU" sz="2800" dirty="0">
                          <a:effectLst/>
                        </a:rPr>
                        <a:t>Наличие ресурса</a:t>
                      </a:r>
                      <a:endParaRPr lang="ru-RU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2839371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6578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1AF1F-00B4-41AA-8F46-F71CD444B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D132FED4-A23C-7DBD-4A47-35A7B7F5A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4826855" cy="1878793"/>
          </a:xfrm>
        </p:spPr>
        <p:txBody>
          <a:bodyPr/>
          <a:lstStyle/>
          <a:p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Выводы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9443D9E3-20AD-B7F3-5A87-219DA43EA9C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Нижний колонтитул 32">
            <a:extLst>
              <a:ext uri="{FF2B5EF4-FFF2-40B4-BE49-F238E27FC236}">
                <a16:creationId xmlns:a16="http://schemas.microsoft.com/office/drawing/2014/main" id="{D03F6FDA-5FC8-DC59-714A-437DA8C8EEB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алгоритмического обеспечения системы поддержки принятия решений (СППР) в сфере персональных финансов</a:t>
            </a:r>
          </a:p>
        </p:txBody>
      </p:sp>
      <p:sp>
        <p:nvSpPr>
          <p:cNvPr id="34" name="Номер слайда 33">
            <a:extLst>
              <a:ext uri="{FF2B5EF4-FFF2-40B4-BE49-F238E27FC236}">
                <a16:creationId xmlns:a16="http://schemas.microsoft.com/office/drawing/2014/main" id="{181D5722-2A63-402A-716F-32E71D0BC8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/>
              <a:t>19</a:t>
            </a:fld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95AA6-498D-AC91-B7CE-FB537CBC8165}"/>
              </a:ext>
            </a:extLst>
          </p:cNvPr>
          <p:cNvSpPr txBox="1"/>
          <p:nvPr/>
        </p:nvSpPr>
        <p:spPr>
          <a:xfrm>
            <a:off x="1562100" y="3399800"/>
            <a:ext cx="21717000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3900" indent="-723900">
              <a:spcBef>
                <a:spcPts val="2400"/>
              </a:spcBef>
              <a:buBlip>
                <a:blip r:embed="rId3"/>
              </a:buBlip>
            </a:pPr>
            <a:r>
              <a:rPr lang="ru-RU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разработана интеллектуальная система поддержки принятия решений в сфере персональных финансов;</a:t>
            </a:r>
          </a:p>
          <a:p>
            <a:pPr marL="723900" indent="-723900">
              <a:spcBef>
                <a:spcPts val="2400"/>
              </a:spcBef>
              <a:buBlip>
                <a:blip r:embed="rId3"/>
              </a:buBlip>
            </a:pPr>
            <a:r>
              <a:rPr lang="ru-RU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предложен алгоритм выбора и ранжирования финансовых решений с учётом ограничений и целей пользователя;</a:t>
            </a:r>
          </a:p>
          <a:p>
            <a:pPr marL="723900" indent="-723900">
              <a:spcBef>
                <a:spcPts val="2400"/>
              </a:spcBef>
              <a:buBlip>
                <a:blip r:embed="rId3"/>
              </a:buBlip>
            </a:pPr>
            <a:r>
              <a:rPr lang="ru-RU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реализована математическая модель оценки финансового состояния;</a:t>
            </a:r>
          </a:p>
          <a:p>
            <a:pPr marL="723900" indent="-723900">
              <a:spcBef>
                <a:spcPts val="2400"/>
              </a:spcBef>
              <a:buBlip>
                <a:blip r:embed="rId3"/>
              </a:buBlip>
            </a:pPr>
            <a:r>
              <a:rPr lang="ru-RU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создан программный прототип с возможностью анализа и формирования рекомендаций;– обеспечена персонализация и объяснимость принимаемых решений;</a:t>
            </a:r>
          </a:p>
          <a:p>
            <a:pPr marL="723900" indent="-723900">
              <a:spcBef>
                <a:spcPts val="2400"/>
              </a:spcBef>
              <a:buBlip>
                <a:blip r:embed="rId3"/>
              </a:buBlip>
            </a:pPr>
            <a:r>
              <a:rPr lang="ru-RU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подтверждена эффективность подхода на основе сценарного анализа;</a:t>
            </a:r>
          </a:p>
          <a:p>
            <a:pPr marL="723900" indent="-723900">
              <a:spcBef>
                <a:spcPts val="2400"/>
              </a:spcBef>
              <a:buBlip>
                <a:blip r:embed="rId3"/>
              </a:buBlip>
            </a:pPr>
            <a:r>
              <a:rPr lang="ru-RU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практическая значимость заключается в повышении качества и устойчивости финансовых решений пользователя.</a:t>
            </a:r>
          </a:p>
        </p:txBody>
      </p:sp>
    </p:spTree>
    <p:extLst>
      <p:ext uri="{BB962C8B-B14F-4D97-AF65-F5344CB8AC3E}">
        <p14:creationId xmlns:p14="http://schemas.microsoft.com/office/powerpoint/2010/main" val="899044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Ленинский проспект, д. 4</a:t>
            </a:r>
            <a:b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Москва, 119049</a:t>
            </a:r>
            <a:b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тел. +7 (495) 955-00-32</a:t>
            </a:r>
            <a:b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e-</a:t>
            </a:r>
            <a:r>
              <a:rPr lang="ru-RU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mail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kancela@misis.ru</a:t>
            </a:r>
            <a:b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misis.ru</a:t>
            </a:r>
          </a:p>
        </p:txBody>
      </p:sp>
      <p:sp>
        <p:nvSpPr>
          <p:cNvPr id="7" name="Заголовок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Спасибо</a:t>
            </a:r>
            <a:b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9126711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7b046ea12b569ac8bf86d82b576cb1034ccd2f"/>
</p:tagLst>
</file>

<file path=ppt/theme/theme1.xml><?xml version="1.0" encoding="utf-8"?>
<a:theme xmlns:a="http://schemas.openxmlformats.org/drawingml/2006/main" name="Misis">
  <a:themeElements>
    <a:clrScheme name="MISIS">
      <a:dk1>
        <a:sysClr val="windowText" lastClr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732</TotalTime>
  <Words>1935</Words>
  <Application>Microsoft Office PowerPoint</Application>
  <PresentationFormat>Произвольный</PresentationFormat>
  <Paragraphs>377</Paragraphs>
  <Slides>20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8" baseType="lpstr">
      <vt:lpstr>Cambria Math</vt:lpstr>
      <vt:lpstr>Times New Roman</vt:lpstr>
      <vt:lpstr>Tahoma</vt:lpstr>
      <vt:lpstr>TT Norms Pro</vt:lpstr>
      <vt:lpstr>Calibri</vt:lpstr>
      <vt:lpstr>TT Norms Pro Medium</vt:lpstr>
      <vt:lpstr>Arial</vt:lpstr>
      <vt:lpstr>Misis</vt:lpstr>
      <vt:lpstr>Система поддержки принятия решений (СППР) в сфере персональных финансов</vt:lpstr>
      <vt:lpstr>Проблема пользователя</vt:lpstr>
      <vt:lpstr>Классы подходов к СППР  в персональных финансах</vt:lpstr>
      <vt:lpstr>Типовые зоны решений в персональных финансах</vt:lpstr>
      <vt:lpstr>Почему существующие решения не работают</vt:lpstr>
      <vt:lpstr>Наше решение</vt:lpstr>
      <vt:lpstr>Как это работает</vt:lpstr>
      <vt:lpstr>Преимущества и ценность продукта</vt:lpstr>
      <vt:lpstr>Математическая модель решения задачи</vt:lpstr>
      <vt:lpstr>Для пользователя модель должна быть а) простой  б) доступной в) понятной</vt:lpstr>
      <vt:lpstr>Программная среда  и инструменты разработки</vt:lpstr>
      <vt:lpstr>Программная реализация</vt:lpstr>
      <vt:lpstr>Программная реализация</vt:lpstr>
      <vt:lpstr>Программная реализация</vt:lpstr>
      <vt:lpstr>Программная реализация</vt:lpstr>
      <vt:lpstr>Программная реализация</vt:lpstr>
      <vt:lpstr>Программная реализация</vt:lpstr>
      <vt:lpstr>Результаты расчета показателей</vt:lpstr>
      <vt:lpstr>Выводы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ДД</dc:creator>
  <cp:lastModifiedBy>A T</cp:lastModifiedBy>
  <cp:revision>95</cp:revision>
  <dcterms:created xsi:type="dcterms:W3CDTF">2022-07-26T11:52:44Z</dcterms:created>
  <dcterms:modified xsi:type="dcterms:W3CDTF">2026-04-15T06:07:44Z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2026-02-14T18:52:21Z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cf9eee5f-0de2-42c5-8f66-ffb185aa2cad</vt:lpwstr>
  </property>
  <property fmtid="{D5CDD505-2E9C-101B-9397-08002B2CF9AE}" pid="7" name="MSIP_Label_defa4170-0d19-0005-0004-bc88714345d2_ActionId">
    <vt:lpwstr>2092aea2-0836-4eda-9e1a-614292534f0b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