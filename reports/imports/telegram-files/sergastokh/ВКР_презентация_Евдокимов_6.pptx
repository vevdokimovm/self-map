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60" r:id="rId1"/>
  </p:sldMasterIdLst>
  <p:notesMasterIdLst>
    <p:notesMasterId r:id="rId17"/>
  </p:notesMasterIdLst>
  <p:sldIdLst>
    <p:sldId id="256" r:id="rId2"/>
    <p:sldId id="262" r:id="rId3"/>
    <p:sldId id="263" r:id="rId4"/>
    <p:sldId id="312" r:id="rId5"/>
    <p:sldId id="294" r:id="rId6"/>
    <p:sldId id="313" r:id="rId7"/>
    <p:sldId id="295" r:id="rId8"/>
    <p:sldId id="289" r:id="rId9"/>
    <p:sldId id="296" r:id="rId10"/>
    <p:sldId id="314" r:id="rId11"/>
    <p:sldId id="315" r:id="rId12"/>
    <p:sldId id="316" r:id="rId13"/>
    <p:sldId id="317" r:id="rId14"/>
    <p:sldId id="318" r:id="rId15"/>
    <p:sldId id="282" r:id="rId16"/>
  </p:sldIdLst>
  <p:sldSz cx="24382413" cy="13716000"/>
  <p:notesSz cx="6858000" cy="9144000"/>
  <p:embeddedFontLst>
    <p:embeddedFont>
      <p:font typeface="Cambria Math" panose="02040503050406030204" pitchFamily="18" charset="0"/>
      <p:regular r:id="rId18"/>
    </p:embeddedFont>
    <p:embeddedFont>
      <p:font typeface="Tahoma" panose="020B0604030504040204" pitchFamily="34" charset="0"/>
      <p:regular r:id="rId19"/>
      <p:bold r:id="rId20"/>
      <p:italic r:id="rId21"/>
    </p:embeddedFont>
    <p:embeddedFont>
      <p:font typeface="TT Norms Pro"/>
      <p:regular r:id="rId22"/>
      <p:bold r:id="rId23"/>
      <p:italic r:id="rId24"/>
      <p:boldItalic r:id="rId25"/>
    </p:embeddedFont>
    <p:embeddedFont>
      <p:font typeface="TT Norms Pro Medium"/>
      <p:regular r:id="rId26"/>
      <p:italic r:id="rId27"/>
    </p:embeddedFont>
  </p:embeddedFontLst>
  <p:custDataLst>
    <p:tags r:id="rId28"/>
  </p:custDataLst>
  <p:defaultTextStyle>
    <a:defPPr>
      <a:defRPr lang="ru-RU"/>
    </a:defPPr>
    <a:lvl1pPr marL="0" algn="l" defTabSz="182870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354" algn="l" defTabSz="182870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709" algn="l" defTabSz="182870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063" algn="l" defTabSz="182870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417" algn="l" defTabSz="182870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1771" algn="l" defTabSz="182870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126" algn="l" defTabSz="182870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0480" algn="l" defTabSz="182870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4834" algn="l" defTabSz="182870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926" userDrawn="1">
          <p15:clr>
            <a:srgbClr val="A4A3A4"/>
          </p15:clr>
        </p15:guide>
        <p15:guide id="2" pos="1507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E171933-4619-4E11-9A3F-F7608DF75F80}" styleName="Средний стиль 1 — акцент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D27102A9-8310-4765-A935-A1911B00CA55}" styleName="Светлый стиль 1 — акцент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7292A2E-F333-43FB-9621-5CBBE7FDCDCB}" styleName="Светлый стиль 2 — акцент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732" y="1524"/>
      </p:cViewPr>
      <p:guideLst>
        <p:guide orient="horz" pos="7926"/>
        <p:guide pos="15073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5T17:14:40.21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7214 2008 16383 0 0,'2'0'0'0'0,"0"0"0"0"0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AE627D-15EB-40F5-AEC0-AD078B3D9203}" type="datetimeFigureOut">
              <a:rPr lang="ru-RU" smtClean="0"/>
              <a:t>27.04.2026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3FAC02-5901-4D7E-90A5-4DB54C8C6E8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04962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8709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914354" algn="l" defTabSz="1828709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828709" algn="l" defTabSz="1828709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2743063" algn="l" defTabSz="1828709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3657417" algn="l" defTabSz="1828709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4571771" algn="l" defTabSz="1828709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6126" algn="l" defTabSz="1828709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400480" algn="l" defTabSz="1828709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4834" algn="l" defTabSz="1828709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D683D0-02A6-3EDB-A084-A40B5BBE6E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BA0E3E0C-8B7E-3F8B-4BB6-F88CC877AF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CD86DE4C-ABAD-89FC-837B-DDB396ACB6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как изменить картинку</a:t>
            </a:r>
          </a:p>
          <a:p>
            <a:r>
              <a:rPr lang="ru-RU"/>
              <a:t>правый клик по изображению - формат изображения</a:t>
            </a:r>
          </a:p>
          <a:p>
            <a:r>
              <a:rPr lang="ru-RU"/>
              <a:t>вкладка заливка - рисунок или текстура</a:t>
            </a:r>
          </a:p>
          <a:p>
            <a:r>
              <a:rPr lang="ru-RU"/>
              <a:t>выбрать рисунок</a:t>
            </a:r>
          </a:p>
          <a:p>
            <a:r>
              <a:rPr lang="ru-RU"/>
              <a:t>вкладка формат - Обрезка - заливка - двигать за круглые точки в углах</a:t>
            </a:r>
          </a:p>
          <a:p>
            <a:r>
              <a:rPr lang="ru-RU"/>
              <a:t>увеличивать и двигать картинку, чтобы получить нужное изображение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A6D8515-2CE0-A3D5-2732-B2DDCB7CBB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3FAC02-5901-4D7E-90A5-4DB54C8C6E87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81268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AF961C-9543-57F3-9C2E-D4BFEF641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7BCD46EB-9D63-ABD8-EDDA-C9DEE31A17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399183C7-2753-476F-C4F0-0B0B3D837A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как изменить картинку</a:t>
            </a:r>
          </a:p>
          <a:p>
            <a:r>
              <a:rPr lang="ru-RU"/>
              <a:t>правый клик по изображению - формат изображения</a:t>
            </a:r>
          </a:p>
          <a:p>
            <a:r>
              <a:rPr lang="ru-RU"/>
              <a:t>вкладка заливка - рисунок или текстура</a:t>
            </a:r>
          </a:p>
          <a:p>
            <a:r>
              <a:rPr lang="ru-RU"/>
              <a:t>выбрать рисунок</a:t>
            </a:r>
          </a:p>
          <a:p>
            <a:r>
              <a:rPr lang="ru-RU"/>
              <a:t>вкладка формат - Обрезка - заливка - двигать за круглые точки в углах</a:t>
            </a:r>
          </a:p>
          <a:p>
            <a:r>
              <a:rPr lang="ru-RU"/>
              <a:t>увеличивать и двигать картинку, чтобы получить нужное изображение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07FC851-D523-03AB-C0E1-CE82475F35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3FAC02-5901-4D7E-90A5-4DB54C8C6E87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19037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2605C0-4E4C-514E-283B-2367DABDDA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6261A0A7-2550-E115-991A-7EAAF7C73E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FC6CC622-38A9-A5E7-2AC7-7F5CA52B84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как изменить картинку</a:t>
            </a:r>
          </a:p>
          <a:p>
            <a:r>
              <a:rPr lang="ru-RU"/>
              <a:t>правый клик по изображению - формат изображения</a:t>
            </a:r>
          </a:p>
          <a:p>
            <a:r>
              <a:rPr lang="ru-RU"/>
              <a:t>вкладка заливка - рисунок или текстура</a:t>
            </a:r>
          </a:p>
          <a:p>
            <a:r>
              <a:rPr lang="ru-RU"/>
              <a:t>выбрать рисунок</a:t>
            </a:r>
          </a:p>
          <a:p>
            <a:r>
              <a:rPr lang="ru-RU"/>
              <a:t>вкладка формат - Обрезка - заливка - двигать за круглые точки в углах</a:t>
            </a:r>
          </a:p>
          <a:p>
            <a:r>
              <a:rPr lang="ru-RU"/>
              <a:t>увеличивать и двигать картинку, чтобы получить нужное изображение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23C8B11-C392-5AFD-6171-B63F5AECC8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3FAC02-5901-4D7E-90A5-4DB54C8C6E87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52875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A54241-A454-95AE-4F1B-5BE2AD59BC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A9EEA578-901D-B0FA-1FB4-1B4F36F92F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2DDD21A-1E8B-1AD5-BFCD-09D5CFBD6B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как изменить картинку</a:t>
            </a:r>
          </a:p>
          <a:p>
            <a:r>
              <a:rPr lang="ru-RU"/>
              <a:t>правый клик по изображению - формат изображения</a:t>
            </a:r>
          </a:p>
          <a:p>
            <a:r>
              <a:rPr lang="ru-RU"/>
              <a:t>вкладка заливка - рисунок или текстура</a:t>
            </a:r>
          </a:p>
          <a:p>
            <a:r>
              <a:rPr lang="ru-RU"/>
              <a:t>выбрать рисунок</a:t>
            </a:r>
          </a:p>
          <a:p>
            <a:r>
              <a:rPr lang="ru-RU"/>
              <a:t>вкладка формат - Обрезка - заливка - двигать за круглые точки в углах</a:t>
            </a:r>
          </a:p>
          <a:p>
            <a:r>
              <a:rPr lang="ru-RU"/>
              <a:t>увеличивать и двигать картинку, чтобы получить нужное изображение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7FE1536-CC36-01D2-B302-416B8AE3AA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3FAC02-5901-4D7E-90A5-4DB54C8C6E87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5540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A96047-F300-9FA2-D38A-D6161F6A2E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6438A95D-9691-37A6-9807-A0E91DEC1B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CFFA023C-9C6E-1027-BD9D-25DD796506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как изменить картинку</a:t>
            </a:r>
          </a:p>
          <a:p>
            <a:r>
              <a:rPr lang="ru-RU"/>
              <a:t>правый клик по изображению - формат изображения</a:t>
            </a:r>
          </a:p>
          <a:p>
            <a:r>
              <a:rPr lang="ru-RU"/>
              <a:t>вкладка заливка - рисунок или текстура</a:t>
            </a:r>
          </a:p>
          <a:p>
            <a:r>
              <a:rPr lang="ru-RU"/>
              <a:t>выбрать рисунок</a:t>
            </a:r>
          </a:p>
          <a:p>
            <a:r>
              <a:rPr lang="ru-RU"/>
              <a:t>вкладка формат - Обрезка - заливка - двигать за круглые точки в углах</a:t>
            </a:r>
          </a:p>
          <a:p>
            <a:r>
              <a:rPr lang="ru-RU"/>
              <a:t>увеличивать и двигать картинку, чтобы получить нужное изображение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128E0A0-F704-DC60-24BA-D43ACF62221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3FAC02-5901-4D7E-90A5-4DB54C8C6E87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55873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4AF242-1A68-18FE-1DB4-BC9872E8F5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E832E8E7-8165-673E-81B1-C3A0FB39E0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FCFAC0F-3A68-CB10-B0CA-17A746107D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как изменить картинку</a:t>
            </a:r>
          </a:p>
          <a:p>
            <a:r>
              <a:rPr lang="ru-RU"/>
              <a:t>правый клик по изображению - формат изображения</a:t>
            </a:r>
          </a:p>
          <a:p>
            <a:r>
              <a:rPr lang="ru-RU"/>
              <a:t>вкладка заливка - рисунок или текстура</a:t>
            </a:r>
          </a:p>
          <a:p>
            <a:r>
              <a:rPr lang="ru-RU"/>
              <a:t>выбрать рисунок</a:t>
            </a:r>
          </a:p>
          <a:p>
            <a:r>
              <a:rPr lang="ru-RU"/>
              <a:t>вкладка формат - Обрезка - заливка - двигать за круглые точки в углах</a:t>
            </a:r>
          </a:p>
          <a:p>
            <a:r>
              <a:rPr lang="ru-RU"/>
              <a:t>увеличивать и двигать картинку, чтобы получить нужное изображение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09391BC-FB0E-0CE5-9A56-1D222FFEEDF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3FAC02-5901-4D7E-90A5-4DB54C8C6E87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172731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ACC791-9689-B3E3-246C-33F0FEBC93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5603BFEF-0815-709B-A763-E7E69B743F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478E5D1A-B5E7-6532-13CC-E4E9578FE6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как изменить картинку</a:t>
            </a:r>
          </a:p>
          <a:p>
            <a:r>
              <a:rPr lang="ru-RU"/>
              <a:t>правый клик по изображению - формат изображения</a:t>
            </a:r>
          </a:p>
          <a:p>
            <a:r>
              <a:rPr lang="ru-RU"/>
              <a:t>вкладка заливка - рисунок или текстура</a:t>
            </a:r>
          </a:p>
          <a:p>
            <a:r>
              <a:rPr lang="ru-RU"/>
              <a:t>выбрать рисунок</a:t>
            </a:r>
          </a:p>
          <a:p>
            <a:r>
              <a:rPr lang="ru-RU"/>
              <a:t>вкладка формат - Обрезка - заливка - двигать за круглые точки в углах</a:t>
            </a:r>
          </a:p>
          <a:p>
            <a:r>
              <a:rPr lang="ru-RU"/>
              <a:t>увеличивать и двигать картинку, чтобы получить нужное изображение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FD41DCB-6E6A-E5B6-B3CD-3DB3A39BB93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3FAC02-5901-4D7E-90A5-4DB54C8C6E87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4606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125E75-2D3B-2EA4-69C2-089738335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2725F40A-777D-7463-D108-14FFA5A8FB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A83EEA3A-BCC8-3E08-6AC5-09F1E88D37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как изменить картинку</a:t>
            </a:r>
          </a:p>
          <a:p>
            <a:r>
              <a:rPr lang="ru-RU"/>
              <a:t>правый клик по изображению - формат изображения</a:t>
            </a:r>
          </a:p>
          <a:p>
            <a:r>
              <a:rPr lang="ru-RU"/>
              <a:t>вкладка заливка - рисунок или текстура</a:t>
            </a:r>
          </a:p>
          <a:p>
            <a:r>
              <a:rPr lang="ru-RU"/>
              <a:t>выбрать рисунок</a:t>
            </a:r>
          </a:p>
          <a:p>
            <a:r>
              <a:rPr lang="ru-RU"/>
              <a:t>вкладка формат - Обрезка - заливка - двигать за круглые точки в углах</a:t>
            </a:r>
          </a:p>
          <a:p>
            <a:r>
              <a:rPr lang="ru-RU"/>
              <a:t>увеличивать и двигать картинку, чтобы получить нужное изображение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EF45708-2E8E-C486-55AB-CCC68B2D6CE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3FAC02-5901-4D7E-90A5-4DB54C8C6E87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31309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01B649-672C-BAE3-7B7E-2E03E8B724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82780AB9-4BCE-EED6-6643-3B62268F72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2C2254B-35DE-5E95-C5AD-8A72049505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как изменить картинку</a:t>
            </a:r>
          </a:p>
          <a:p>
            <a:r>
              <a:rPr lang="ru-RU"/>
              <a:t>правый клик по изображению - формат изображения</a:t>
            </a:r>
          </a:p>
          <a:p>
            <a:r>
              <a:rPr lang="ru-RU"/>
              <a:t>вкладка заливка - рисунок или текстура</a:t>
            </a:r>
          </a:p>
          <a:p>
            <a:r>
              <a:rPr lang="ru-RU"/>
              <a:t>выбрать рисунок</a:t>
            </a:r>
          </a:p>
          <a:p>
            <a:r>
              <a:rPr lang="ru-RU"/>
              <a:t>вкладка формат - Обрезка - заливка - двигать за круглые точки в углах</a:t>
            </a:r>
          </a:p>
          <a:p>
            <a:r>
              <a:rPr lang="ru-RU"/>
              <a:t>увеличивать и двигать картинку, чтобы получить нужное изображение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9D9A261-F91A-9191-551E-28121FDB85C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3FAC02-5901-4D7E-90A5-4DB54C8C6E87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00611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F0BE33-657E-63F7-2AA8-F09F7DE969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4C1275EF-A489-CA85-CA63-458A6B30C9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B42041A0-164A-5D13-8CF0-BCDFE2144F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как изменить картинку</a:t>
            </a:r>
          </a:p>
          <a:p>
            <a:r>
              <a:rPr lang="ru-RU"/>
              <a:t>правый клик по изображению - формат изображения</a:t>
            </a:r>
          </a:p>
          <a:p>
            <a:r>
              <a:rPr lang="ru-RU"/>
              <a:t>вкладка заливка - рисунок или текстура</a:t>
            </a:r>
          </a:p>
          <a:p>
            <a:r>
              <a:rPr lang="ru-RU"/>
              <a:t>выбрать рисунок</a:t>
            </a:r>
          </a:p>
          <a:p>
            <a:r>
              <a:rPr lang="ru-RU"/>
              <a:t>вкладка формат - Обрезка - заливка - двигать за круглые точки в углах</a:t>
            </a:r>
          </a:p>
          <a:p>
            <a:r>
              <a:rPr lang="ru-RU"/>
              <a:t>увеличивать и двигать картинку, чтобы получить нужное изображение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9A68023-77E5-B074-1429-BFABD2D6F99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3FAC02-5901-4D7E-90A5-4DB54C8C6E87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4877154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0985DD-F29D-39CD-5B6B-6F6F30F0C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B3F5D1D5-56F2-D211-5097-472E2521F4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9B280AE7-17A5-2FC7-7C75-EC75956E43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как изменить картинку</a:t>
            </a:r>
          </a:p>
          <a:p>
            <a:r>
              <a:rPr lang="ru-RU"/>
              <a:t>правый клик по изображению - формат изображения</a:t>
            </a:r>
          </a:p>
          <a:p>
            <a:r>
              <a:rPr lang="ru-RU"/>
              <a:t>вкладка заливка - рисунок или текстура</a:t>
            </a:r>
          </a:p>
          <a:p>
            <a:r>
              <a:rPr lang="ru-RU"/>
              <a:t>выбрать рисунок</a:t>
            </a:r>
          </a:p>
          <a:p>
            <a:r>
              <a:rPr lang="ru-RU"/>
              <a:t>вкладка формат - Обрезка - заливка - двигать за круглые точки в углах</a:t>
            </a:r>
          </a:p>
          <a:p>
            <a:r>
              <a:rPr lang="ru-RU"/>
              <a:t>увеличивать и двигать картинку, чтобы получить нужное изображение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5407E73-32F8-5DFE-79D9-1D4C2C5463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3FAC02-5901-4D7E-90A5-4DB54C8C6E87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1172067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6C7033-2652-2630-1D0B-3814ABF3BC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EB9A632F-585A-280F-BCB8-261AD5A5EF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DE698374-A389-4918-2DB1-E58D3ADE4B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как изменить картинку</a:t>
            </a:r>
          </a:p>
          <a:p>
            <a:r>
              <a:rPr lang="ru-RU"/>
              <a:t>правый клик по изображению - формат изображения</a:t>
            </a:r>
          </a:p>
          <a:p>
            <a:r>
              <a:rPr lang="ru-RU"/>
              <a:t>вкладка заливка - рисунок или текстура</a:t>
            </a:r>
          </a:p>
          <a:p>
            <a:r>
              <a:rPr lang="ru-RU"/>
              <a:t>выбрать рисунок</a:t>
            </a:r>
          </a:p>
          <a:p>
            <a:r>
              <a:rPr lang="ru-RU"/>
              <a:t>вкладка формат - Обрезка - заливка - двигать за круглые точки в углах</a:t>
            </a:r>
          </a:p>
          <a:p>
            <a:r>
              <a:rPr lang="ru-RU"/>
              <a:t>увеличивать и двигать картинку, чтобы получить нужное изображение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5A96792-5570-E824-D1EE-2E128099E7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3FAC02-5901-4D7E-90A5-4DB54C8C6E87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35248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png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298516" y="5185743"/>
            <a:ext cx="9952581" cy="3850681"/>
          </a:xfrm>
        </p:spPr>
        <p:txBody>
          <a:bodyPr anchor="t">
            <a:noAutofit/>
          </a:bodyPr>
          <a:lstStyle>
            <a:lvl1pPr algn="l">
              <a:lnSpc>
                <a:spcPts val="7700"/>
              </a:lnSpc>
              <a:defRPr sz="86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ru-RU"/>
              <a:t>Заголовок презентации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298516" y="9036424"/>
            <a:ext cx="9952581" cy="1999559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tx2"/>
                </a:solidFill>
              </a:defRPr>
            </a:lvl1pPr>
            <a:lvl2pPr marL="914354" indent="0" algn="ctr">
              <a:buNone/>
              <a:defRPr sz="4000"/>
            </a:lvl2pPr>
            <a:lvl3pPr marL="1828709" indent="0" algn="ctr">
              <a:buNone/>
              <a:defRPr sz="3600"/>
            </a:lvl3pPr>
            <a:lvl4pPr marL="2743063" indent="0" algn="ctr">
              <a:buNone/>
              <a:defRPr sz="3200"/>
            </a:lvl4pPr>
            <a:lvl5pPr marL="3657417" indent="0" algn="ctr">
              <a:buNone/>
              <a:defRPr sz="3200"/>
            </a:lvl5pPr>
            <a:lvl6pPr marL="4571771" indent="0" algn="ctr">
              <a:buNone/>
              <a:defRPr sz="3200"/>
            </a:lvl6pPr>
            <a:lvl7pPr marL="5486126" indent="0" algn="ctr">
              <a:buNone/>
              <a:defRPr sz="3200"/>
            </a:lvl7pPr>
            <a:lvl8pPr marL="6400480" indent="0" algn="ctr">
              <a:buNone/>
              <a:defRPr sz="3200"/>
            </a:lvl8pPr>
            <a:lvl9pPr marL="7314834" indent="0" algn="ctr">
              <a:buNone/>
              <a:defRPr sz="3200"/>
            </a:lvl9pPr>
          </a:lstStyle>
          <a:p>
            <a:r>
              <a:rPr lang="ru-RU"/>
              <a:t>Фамилия Имя Отчество</a:t>
            </a:r>
            <a:br>
              <a:rPr lang="ru-RU"/>
            </a:br>
            <a:r>
              <a:rPr lang="ru-RU"/>
              <a:t>Должность спикера в одну</a:t>
            </a:r>
            <a:br>
              <a:rPr lang="ru-RU"/>
            </a:br>
            <a:r>
              <a:rPr lang="ru-RU"/>
              <a:t>или более строк 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300460" y="11867187"/>
            <a:ext cx="3033416" cy="730250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05606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76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298516" y="7890843"/>
            <a:ext cx="9952581" cy="2091357"/>
          </a:xfrm>
        </p:spPr>
        <p:txBody>
          <a:bodyPr anchor="t">
            <a:noAutofit/>
          </a:bodyPr>
          <a:lstStyle>
            <a:lvl1pPr algn="l">
              <a:lnSpc>
                <a:spcPts val="7700"/>
              </a:lnSpc>
              <a:defRPr sz="86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ru-RU"/>
              <a:t>Заголовок</a:t>
            </a:r>
            <a:br>
              <a:rPr lang="ru-RU"/>
            </a:br>
            <a:r>
              <a:rPr lang="ru-RU"/>
              <a:t>презентации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298516" y="10362149"/>
            <a:ext cx="9952581" cy="1210226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tx2"/>
                </a:solidFill>
              </a:defRPr>
            </a:lvl1pPr>
            <a:lvl2pPr marL="914354" indent="0" algn="ctr">
              <a:buNone/>
              <a:defRPr sz="4000"/>
            </a:lvl2pPr>
            <a:lvl3pPr marL="1828709" indent="0" algn="ctr">
              <a:buNone/>
              <a:defRPr sz="3600"/>
            </a:lvl3pPr>
            <a:lvl4pPr marL="2743063" indent="0" algn="ctr">
              <a:buNone/>
              <a:defRPr sz="3200"/>
            </a:lvl4pPr>
            <a:lvl5pPr marL="3657417" indent="0" algn="ctr">
              <a:buNone/>
              <a:defRPr sz="3200"/>
            </a:lvl5pPr>
            <a:lvl6pPr marL="4571771" indent="0" algn="ctr">
              <a:buNone/>
              <a:defRPr sz="3200"/>
            </a:lvl6pPr>
            <a:lvl7pPr marL="5486126" indent="0" algn="ctr">
              <a:buNone/>
              <a:defRPr sz="3200"/>
            </a:lvl7pPr>
            <a:lvl8pPr marL="6400480" indent="0" algn="ctr">
              <a:buNone/>
              <a:defRPr sz="3200"/>
            </a:lvl8pPr>
            <a:lvl9pPr marL="7314834" indent="0" algn="ctr">
              <a:buNone/>
              <a:defRPr sz="3200"/>
            </a:lvl9pPr>
          </a:lstStyle>
          <a:p>
            <a:r>
              <a:rPr lang="ru-RU"/>
              <a:t>Подзаголовок в одну, две</a:t>
            </a:r>
            <a:br>
              <a:rPr lang="ru-RU"/>
            </a:br>
            <a:r>
              <a:rPr lang="ru-RU"/>
              <a:t>или несколько строк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300460" y="11867187"/>
            <a:ext cx="3033416" cy="730250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0547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76">
          <p15:clr>
            <a:srgbClr val="FBAE40"/>
          </p15:clr>
        </p15:guide>
        <p15:guide id="2" pos="14483">
          <p15:clr>
            <a:srgbClr val="FBAE40"/>
          </p15:clr>
        </p15:guide>
        <p15:guide id="3" pos="2871">
          <p15:clr>
            <a:srgbClr val="FBAE40"/>
          </p15:clr>
        </p15:guide>
        <p15:guide id="4" pos="3192">
          <p15:clr>
            <a:srgbClr val="FBAE40"/>
          </p15:clr>
        </p15:guide>
        <p15:guide id="5" pos="5200">
          <p15:clr>
            <a:srgbClr val="FBAE40"/>
          </p15:clr>
        </p15:guide>
        <p15:guide id="6" pos="5512">
          <p15:clr>
            <a:srgbClr val="FBAE40"/>
          </p15:clr>
        </p15:guide>
        <p15:guide id="7" pos="7512">
          <p15:clr>
            <a:srgbClr val="FBAE40"/>
          </p15:clr>
        </p15:guide>
        <p15:guide id="8" pos="7838">
          <p15:clr>
            <a:srgbClr val="FBAE40"/>
          </p15:clr>
        </p15:guide>
        <p15:guide id="9" pos="9834">
          <p15:clr>
            <a:srgbClr val="FBAE40"/>
          </p15:clr>
        </p15:guide>
        <p15:guide id="10" pos="10152">
          <p15:clr>
            <a:srgbClr val="FBAE40"/>
          </p15:clr>
        </p15:guide>
        <p15:guide id="11" pos="12160">
          <p15:clr>
            <a:srgbClr val="FBAE40"/>
          </p15:clr>
        </p15:guide>
        <p15:guide id="12" pos="12480">
          <p15:clr>
            <a:srgbClr val="FBAE40"/>
          </p15:clr>
        </p15:guide>
        <p15:guide id="13" orient="horz" pos="1344">
          <p15:clr>
            <a:srgbClr val="FBAE40"/>
          </p15:clr>
        </p15:guide>
        <p15:guide id="14" orient="horz" pos="7767">
          <p15:clr>
            <a:srgbClr val="FBAE40"/>
          </p15:clr>
        </p15:guide>
        <p15:guide id="15" orient="horz" pos="8232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здел или глава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6362700" y="5147643"/>
            <a:ext cx="12573000" cy="5539407"/>
          </a:xfrm>
        </p:spPr>
        <p:txBody>
          <a:bodyPr anchor="t">
            <a:noAutofit/>
          </a:bodyPr>
          <a:lstStyle>
            <a:lvl1pPr marL="0" marR="0" indent="0" algn="l" defTabSz="1828709" rtl="0" eaLnBrk="1" fontAlgn="auto" latinLnBrk="0" hangingPunct="1">
              <a:lnSpc>
                <a:spcPts val="137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90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l" defTabSz="1828709" rtl="0" eaLnBrk="1" fontAlgn="auto" latinLnBrk="0" hangingPunct="1">
              <a:lnSpc>
                <a:spcPts val="137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   </a:t>
            </a:r>
            <a:r>
              <a:rPr lang="ru-RU"/>
              <a:t>Заголовок</a:t>
            </a:r>
            <a:br>
              <a:rPr lang="ru-RU"/>
            </a:br>
            <a:r>
              <a:rPr lang="en-US"/>
              <a:t>       </a:t>
            </a:r>
            <a:r>
              <a:rPr lang="ru-RU"/>
              <a:t>раздела</a:t>
            </a:r>
            <a:br>
              <a:rPr lang="ru-RU"/>
            </a:br>
            <a:r>
              <a:rPr lang="ru-RU"/>
              <a:t>или главы</a:t>
            </a:r>
            <a:br>
              <a:rPr lang="ru-RU"/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815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76">
          <p15:clr>
            <a:srgbClr val="FBAE40"/>
          </p15:clr>
        </p15:guide>
        <p15:guide id="2" pos="14483">
          <p15:clr>
            <a:srgbClr val="FBAE40"/>
          </p15:clr>
        </p15:guide>
        <p15:guide id="3" pos="2871">
          <p15:clr>
            <a:srgbClr val="FBAE40"/>
          </p15:clr>
        </p15:guide>
        <p15:guide id="4" pos="3192">
          <p15:clr>
            <a:srgbClr val="FBAE40"/>
          </p15:clr>
        </p15:guide>
        <p15:guide id="5" pos="5200">
          <p15:clr>
            <a:srgbClr val="FBAE40"/>
          </p15:clr>
        </p15:guide>
        <p15:guide id="6" pos="5512">
          <p15:clr>
            <a:srgbClr val="FBAE40"/>
          </p15:clr>
        </p15:guide>
        <p15:guide id="7" pos="7512">
          <p15:clr>
            <a:srgbClr val="FBAE40"/>
          </p15:clr>
        </p15:guide>
        <p15:guide id="8" pos="7838">
          <p15:clr>
            <a:srgbClr val="FBAE40"/>
          </p15:clr>
        </p15:guide>
        <p15:guide id="9" pos="9834">
          <p15:clr>
            <a:srgbClr val="FBAE40"/>
          </p15:clr>
        </p15:guide>
        <p15:guide id="10" pos="10152">
          <p15:clr>
            <a:srgbClr val="FBAE40"/>
          </p15:clr>
        </p15:guide>
        <p15:guide id="11" pos="12160">
          <p15:clr>
            <a:srgbClr val="FBAE40"/>
          </p15:clr>
        </p15:guide>
        <p15:guide id="12" pos="12480">
          <p15:clr>
            <a:srgbClr val="FBAE40"/>
          </p15:clr>
        </p15:guide>
        <p15:guide id="13" orient="horz" pos="1344">
          <p15:clr>
            <a:srgbClr val="FBAE40"/>
          </p15:clr>
        </p15:guide>
        <p15:guide id="14" orient="horz" pos="7767">
          <p15:clr>
            <a:srgbClr val="FBAE40"/>
          </p15:clr>
        </p15:guide>
        <p15:guide id="15" orient="horz" pos="8232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здел или глава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7620000" y="5147643"/>
            <a:ext cx="12573000" cy="3748707"/>
          </a:xfrm>
        </p:spPr>
        <p:txBody>
          <a:bodyPr anchor="t">
            <a:noAutofit/>
          </a:bodyPr>
          <a:lstStyle>
            <a:lvl1pPr algn="l">
              <a:lnSpc>
                <a:spcPts val="13700"/>
              </a:lnSpc>
              <a:defRPr sz="15900">
                <a:solidFill>
                  <a:schemeClr val="bg2"/>
                </a:solidFill>
                <a:latin typeface="+mj-lt"/>
              </a:defRPr>
            </a:lvl1pPr>
          </a:lstStyle>
          <a:p>
            <a:r>
              <a:rPr lang="ru-RU"/>
              <a:t>Заголовок</a:t>
            </a:r>
            <a:br>
              <a:rPr lang="en-US"/>
            </a:br>
            <a:r>
              <a:rPr lang="en-US"/>
              <a:t>     </a:t>
            </a:r>
            <a:r>
              <a:rPr lang="ru-RU"/>
              <a:t>короткий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6004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76">
          <p15:clr>
            <a:srgbClr val="FBAE40"/>
          </p15:clr>
        </p15:guide>
        <p15:guide id="2" pos="14483">
          <p15:clr>
            <a:srgbClr val="FBAE40"/>
          </p15:clr>
        </p15:guide>
        <p15:guide id="3" pos="2871">
          <p15:clr>
            <a:srgbClr val="FBAE40"/>
          </p15:clr>
        </p15:guide>
        <p15:guide id="4" pos="3192">
          <p15:clr>
            <a:srgbClr val="FBAE40"/>
          </p15:clr>
        </p15:guide>
        <p15:guide id="5" pos="5200">
          <p15:clr>
            <a:srgbClr val="FBAE40"/>
          </p15:clr>
        </p15:guide>
        <p15:guide id="6" pos="5512">
          <p15:clr>
            <a:srgbClr val="FBAE40"/>
          </p15:clr>
        </p15:guide>
        <p15:guide id="7" pos="7512">
          <p15:clr>
            <a:srgbClr val="FBAE40"/>
          </p15:clr>
        </p15:guide>
        <p15:guide id="8" pos="7838">
          <p15:clr>
            <a:srgbClr val="FBAE40"/>
          </p15:clr>
        </p15:guide>
        <p15:guide id="9" pos="9834">
          <p15:clr>
            <a:srgbClr val="FBAE40"/>
          </p15:clr>
        </p15:guide>
        <p15:guide id="10" pos="10152">
          <p15:clr>
            <a:srgbClr val="FBAE40"/>
          </p15:clr>
        </p15:guide>
        <p15:guide id="11" pos="12160">
          <p15:clr>
            <a:srgbClr val="FBAE40"/>
          </p15:clr>
        </p15:guide>
        <p15:guide id="12" pos="12480">
          <p15:clr>
            <a:srgbClr val="FBAE40"/>
          </p15:clr>
        </p15:guide>
        <p15:guide id="13" orient="horz" pos="1344">
          <p15:clr>
            <a:srgbClr val="FBAE40"/>
          </p15:clr>
        </p15:guide>
        <p15:guide id="14" orient="horz" pos="7767">
          <p15:clr>
            <a:srgbClr val="FBAE40"/>
          </p15:clr>
        </p15:guide>
        <p15:guide id="15" orient="horz" pos="8232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здел или глава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298517" y="2163817"/>
            <a:ext cx="7451784" cy="3130078"/>
          </a:xfrm>
        </p:spPr>
        <p:txBody>
          <a:bodyPr anchor="t">
            <a:noAutofit/>
          </a:bodyPr>
          <a:lstStyle>
            <a:lvl1pPr algn="l">
              <a:lnSpc>
                <a:spcPts val="7700"/>
              </a:lnSpc>
              <a:defRPr sz="8600">
                <a:solidFill>
                  <a:schemeClr val="bg2"/>
                </a:solidFill>
                <a:latin typeface="+mj-lt"/>
              </a:defRPr>
            </a:lvl1pPr>
          </a:lstStyle>
          <a:p>
            <a:r>
              <a:rPr lang="ru-RU"/>
              <a:t>Заголовок</a:t>
            </a:r>
            <a:br>
              <a:rPr lang="ru-RU"/>
            </a:br>
            <a:r>
              <a:rPr lang="ru-RU"/>
              <a:t>раздела</a:t>
            </a:r>
            <a:br>
              <a:rPr lang="ru-RU"/>
            </a:br>
            <a:r>
              <a:rPr lang="ru-RU"/>
              <a:t>или главы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298516" y="7017374"/>
            <a:ext cx="9952581" cy="2992900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bg2"/>
                </a:solidFill>
              </a:defRPr>
            </a:lvl1pPr>
            <a:lvl2pPr marL="914354" indent="0" algn="ctr">
              <a:buNone/>
              <a:defRPr sz="4000"/>
            </a:lvl2pPr>
            <a:lvl3pPr marL="1828709" indent="0" algn="ctr">
              <a:buNone/>
              <a:defRPr sz="3600"/>
            </a:lvl3pPr>
            <a:lvl4pPr marL="2743063" indent="0" algn="ctr">
              <a:buNone/>
              <a:defRPr sz="3200"/>
            </a:lvl4pPr>
            <a:lvl5pPr marL="3657417" indent="0" algn="ctr">
              <a:buNone/>
              <a:defRPr sz="3200"/>
            </a:lvl5pPr>
            <a:lvl6pPr marL="4571771" indent="0" algn="ctr">
              <a:buNone/>
              <a:defRPr sz="3200"/>
            </a:lvl6pPr>
            <a:lvl7pPr marL="5486126" indent="0" algn="ctr">
              <a:buNone/>
              <a:defRPr sz="3200"/>
            </a:lvl7pPr>
            <a:lvl8pPr marL="6400480" indent="0" algn="ctr">
              <a:buNone/>
              <a:defRPr sz="3200"/>
            </a:lvl8pPr>
            <a:lvl9pPr marL="7314834" indent="0" algn="ctr">
              <a:buNone/>
              <a:defRPr sz="3200"/>
            </a:lvl9pPr>
          </a:lstStyle>
          <a:p>
            <a:r>
              <a:rPr lang="ru-RU"/>
              <a:t>При наличии может</a:t>
            </a:r>
            <a:br>
              <a:rPr lang="ru-RU"/>
            </a:br>
            <a:r>
              <a:rPr lang="ru-RU"/>
              <a:t>размещаться общая</a:t>
            </a:r>
            <a:br>
              <a:rPr lang="ru-RU"/>
            </a:br>
            <a:r>
              <a:rPr lang="ru-RU"/>
              <a:t>информация данного</a:t>
            </a:r>
            <a:br>
              <a:rPr lang="ru-RU"/>
            </a:br>
            <a:r>
              <a:rPr lang="ru-RU"/>
              <a:t>раздела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300460" y="11867187"/>
            <a:ext cx="3033416" cy="730250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ru-RU"/>
          </a:p>
        </p:txBody>
      </p:sp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5865" y="5430202"/>
            <a:ext cx="162178" cy="12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9065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76">
          <p15:clr>
            <a:srgbClr val="FBAE40"/>
          </p15:clr>
        </p15:guide>
        <p15:guide id="2" pos="14483">
          <p15:clr>
            <a:srgbClr val="FBAE40"/>
          </p15:clr>
        </p15:guide>
        <p15:guide id="3" pos="2871">
          <p15:clr>
            <a:srgbClr val="FBAE40"/>
          </p15:clr>
        </p15:guide>
        <p15:guide id="4" pos="3192">
          <p15:clr>
            <a:srgbClr val="FBAE40"/>
          </p15:clr>
        </p15:guide>
        <p15:guide id="5" pos="5200">
          <p15:clr>
            <a:srgbClr val="FBAE40"/>
          </p15:clr>
        </p15:guide>
        <p15:guide id="6" pos="5512">
          <p15:clr>
            <a:srgbClr val="FBAE40"/>
          </p15:clr>
        </p15:guide>
        <p15:guide id="7" pos="7512">
          <p15:clr>
            <a:srgbClr val="FBAE40"/>
          </p15:clr>
        </p15:guide>
        <p15:guide id="8" pos="7838">
          <p15:clr>
            <a:srgbClr val="FBAE40"/>
          </p15:clr>
        </p15:guide>
        <p15:guide id="9" pos="9834">
          <p15:clr>
            <a:srgbClr val="FBAE40"/>
          </p15:clr>
        </p15:guide>
        <p15:guide id="10" pos="10152">
          <p15:clr>
            <a:srgbClr val="FBAE40"/>
          </p15:clr>
        </p15:guide>
        <p15:guide id="11" pos="12160">
          <p15:clr>
            <a:srgbClr val="FBAE40"/>
          </p15:clr>
        </p15:guide>
        <p15:guide id="12" pos="12480">
          <p15:clr>
            <a:srgbClr val="FBAE40"/>
          </p15:clr>
        </p15:guide>
        <p15:guide id="13" orient="horz" pos="1344">
          <p15:clr>
            <a:srgbClr val="FBAE40"/>
          </p15:clr>
        </p15:guide>
        <p15:guide id="14" orient="horz" pos="7767">
          <p15:clr>
            <a:srgbClr val="FBAE40"/>
          </p15:clr>
        </p15:guide>
        <p15:guide id="15" orient="horz" pos="8232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Инфограф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298516" y="2115691"/>
            <a:ext cx="10626783" cy="1878793"/>
          </a:xfrm>
        </p:spPr>
        <p:txBody>
          <a:bodyPr anchor="t">
            <a:noAutofit/>
          </a:bodyPr>
          <a:lstStyle>
            <a:lvl1pPr algn="l">
              <a:lnSpc>
                <a:spcPts val="6700"/>
              </a:lnSpc>
              <a:defRPr sz="73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ru-RU"/>
              <a:t>Заголовок в одну</a:t>
            </a:r>
            <a:br>
              <a:rPr lang="ru-RU"/>
            </a:br>
            <a:r>
              <a:rPr lang="ru-RU"/>
              <a:t>или несколько строк</a:t>
            </a:r>
            <a:endParaRPr lang="en-US"/>
          </a:p>
        </p:txBody>
      </p:sp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5865" y="5430202"/>
            <a:ext cx="162178" cy="1260000"/>
          </a:xfrm>
          <a:prstGeom prst="rect">
            <a:avLst/>
          </a:prstGeom>
        </p:spPr>
      </p:pic>
      <p:sp>
        <p:nvSpPr>
          <p:cNvPr id="7" name="Текст 6"/>
          <p:cNvSpPr>
            <a:spLocks noGrp="1"/>
          </p:cNvSpPr>
          <p:nvPr>
            <p:ph type="body" sz="quarter" idx="11" hasCustomPrompt="1"/>
          </p:nvPr>
        </p:nvSpPr>
        <p:spPr>
          <a:xfrm>
            <a:off x="1298516" y="4379496"/>
            <a:ext cx="10626783" cy="1050706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5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What is Lorem Ipsum?</a:t>
            </a:r>
            <a:endParaRPr lang="ru-RU"/>
          </a:p>
        </p:txBody>
      </p:sp>
      <p:sp>
        <p:nvSpPr>
          <p:cNvPr id="8" name="Текст 6"/>
          <p:cNvSpPr>
            <a:spLocks noGrp="1"/>
          </p:cNvSpPr>
          <p:nvPr>
            <p:ph type="body" sz="quarter" idx="12" hasCustomPrompt="1"/>
          </p:nvPr>
        </p:nvSpPr>
        <p:spPr>
          <a:xfrm>
            <a:off x="1298516" y="5787113"/>
            <a:ext cx="10626783" cy="6542999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Lorem Ipsum is simply dummy </a:t>
            </a:r>
            <a:br>
              <a:rPr lang="en-US"/>
            </a:br>
            <a:r>
              <a:rPr lang="en-US"/>
              <a:t>of the printing and typesetting industry</a:t>
            </a:r>
            <a:br>
              <a:rPr lang="en-US"/>
            </a:br>
            <a:br>
              <a:rPr lang="en-US"/>
            </a:br>
            <a:r>
              <a:rPr lang="en-US"/>
              <a:t>Lorem Ipsum has been the industry's</a:t>
            </a:r>
            <a:br>
              <a:rPr lang="en-US"/>
            </a:br>
            <a:r>
              <a:rPr lang="en-US"/>
              <a:t>standard dummy text ever since the 1500s, when an unknown printer took a galley</a:t>
            </a:r>
            <a:br>
              <a:rPr lang="en-US"/>
            </a:br>
            <a:r>
              <a:rPr lang="en-US"/>
              <a:t>of type and scrambled it to make a type</a:t>
            </a:r>
            <a:br>
              <a:rPr lang="en-US"/>
            </a:br>
            <a:r>
              <a:rPr lang="en-US"/>
              <a:t>specimen book</a:t>
            </a:r>
            <a:endParaRPr lang="ru-RU"/>
          </a:p>
        </p:txBody>
      </p:sp>
      <p:sp>
        <p:nvSpPr>
          <p:cNvPr id="9" name="Текст 6"/>
          <p:cNvSpPr>
            <a:spLocks noGrp="1"/>
          </p:cNvSpPr>
          <p:nvPr>
            <p:ph type="body" sz="quarter" idx="13" hasCustomPrompt="1"/>
          </p:nvPr>
        </p:nvSpPr>
        <p:spPr>
          <a:xfrm>
            <a:off x="18060989" y="9152022"/>
            <a:ext cx="4930774" cy="59355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Lorem Ipsum</a:t>
            </a:r>
            <a:endParaRPr lang="ru-RU"/>
          </a:p>
        </p:txBody>
      </p:sp>
      <p:sp>
        <p:nvSpPr>
          <p:cNvPr id="10" name="Текст 6"/>
          <p:cNvSpPr>
            <a:spLocks noGrp="1"/>
          </p:cNvSpPr>
          <p:nvPr>
            <p:ph type="body" sz="quarter" idx="14" hasCustomPrompt="1"/>
          </p:nvPr>
        </p:nvSpPr>
        <p:spPr>
          <a:xfrm>
            <a:off x="18060989" y="9745579"/>
            <a:ext cx="4930774" cy="1419726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is simply dummy text</a:t>
            </a:r>
            <a:br>
              <a:rPr lang="en-US"/>
            </a:br>
            <a:r>
              <a:rPr lang="en-US"/>
              <a:t>Lorem Ipsum is simply </a:t>
            </a:r>
            <a:endParaRPr lang="ru-RU"/>
          </a:p>
        </p:txBody>
      </p:sp>
      <p:sp>
        <p:nvSpPr>
          <p:cNvPr id="11" name="Текст 6"/>
          <p:cNvSpPr>
            <a:spLocks noGrp="1"/>
          </p:cNvSpPr>
          <p:nvPr>
            <p:ph type="body" sz="quarter" idx="15" hasCustomPrompt="1"/>
          </p:nvPr>
        </p:nvSpPr>
        <p:spPr>
          <a:xfrm>
            <a:off x="15878842" y="8839203"/>
            <a:ext cx="2120397" cy="2269958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72</a:t>
            </a:r>
            <a:endParaRPr lang="ru-RU"/>
          </a:p>
        </p:txBody>
      </p:sp>
      <p:sp>
        <p:nvSpPr>
          <p:cNvPr id="12" name="Текст 6"/>
          <p:cNvSpPr>
            <a:spLocks noGrp="1"/>
          </p:cNvSpPr>
          <p:nvPr>
            <p:ph type="body" sz="quarter" idx="16" hasCustomPrompt="1"/>
          </p:nvPr>
        </p:nvSpPr>
        <p:spPr>
          <a:xfrm>
            <a:off x="16050292" y="4474746"/>
            <a:ext cx="7362158" cy="2478504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>
                <a:solidFill>
                  <a:schemeClr val="tx2"/>
                </a:solidFill>
                <a:latin typeface="TT Norms Pro" panose="020B0103030101020204" pitchFamily="34" charset="0"/>
              </a:defRPr>
            </a:lvl1pPr>
          </a:lstStyle>
          <a:p>
            <a:pPr lvl="0"/>
            <a:r>
              <a:rPr lang="ru-RU"/>
              <a:t>«Хотел бы отметить особую роль НИТУ «</a:t>
            </a:r>
            <a:r>
              <a:rPr lang="ru-RU" err="1"/>
              <a:t>МИСиС</a:t>
            </a:r>
            <a:r>
              <a:rPr lang="ru-RU"/>
              <a:t>»</a:t>
            </a:r>
            <a:br>
              <a:rPr lang="ru-RU"/>
            </a:br>
            <a:r>
              <a:rPr lang="ru-RU"/>
              <a:t>в подготовке специалистов для предприятий ОМК.</a:t>
            </a:r>
            <a:br>
              <a:rPr lang="ru-RU"/>
            </a:br>
            <a:r>
              <a:rPr lang="ru-RU"/>
              <a:t>Блестящее качество образования и глубина знаний</a:t>
            </a:r>
            <a:br>
              <a:rPr lang="ru-RU"/>
            </a:br>
            <a:r>
              <a:rPr lang="ru-RU"/>
              <a:t>наших сотрудников, уникальные учебные программы</a:t>
            </a:r>
            <a:br>
              <a:rPr lang="ru-RU"/>
            </a:br>
            <a:r>
              <a:rPr lang="ru-RU"/>
              <a:t>университета, в том числе разработанные специально</a:t>
            </a:r>
            <a:br>
              <a:rPr lang="ru-RU"/>
            </a:br>
            <a:r>
              <a:rPr lang="ru-RU"/>
              <a:t>для нас, — один из главных факторов успеха ОМК»</a:t>
            </a:r>
          </a:p>
        </p:txBody>
      </p:sp>
      <p:sp>
        <p:nvSpPr>
          <p:cNvPr id="13" name="Текст 6"/>
          <p:cNvSpPr>
            <a:spLocks noGrp="1"/>
          </p:cNvSpPr>
          <p:nvPr>
            <p:ph type="body" sz="quarter" idx="17" hasCustomPrompt="1"/>
          </p:nvPr>
        </p:nvSpPr>
        <p:spPr>
          <a:xfrm>
            <a:off x="16050292" y="7110162"/>
            <a:ext cx="7362158" cy="30931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700" b="1">
                <a:solidFill>
                  <a:schemeClr val="tx2"/>
                </a:solidFill>
                <a:latin typeface="TT Norms Pro" panose="020B0103030101020204" pitchFamily="34" charset="0"/>
              </a:defRPr>
            </a:lvl1pPr>
          </a:lstStyle>
          <a:p>
            <a:pPr lvl="0"/>
            <a:r>
              <a:rPr lang="ru-RU"/>
              <a:t>Анатолий Седых</a:t>
            </a:r>
          </a:p>
        </p:txBody>
      </p:sp>
      <p:sp>
        <p:nvSpPr>
          <p:cNvPr id="14" name="Текст 6"/>
          <p:cNvSpPr>
            <a:spLocks noGrp="1"/>
          </p:cNvSpPr>
          <p:nvPr>
            <p:ph type="body" sz="quarter" idx="18" hasCustomPrompt="1"/>
          </p:nvPr>
        </p:nvSpPr>
        <p:spPr>
          <a:xfrm>
            <a:off x="16050292" y="7382126"/>
            <a:ext cx="7362158" cy="828424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700" b="0">
                <a:solidFill>
                  <a:schemeClr val="tx2"/>
                </a:solidFill>
                <a:latin typeface="TT Norms Pro" panose="020B0103030101020204" pitchFamily="34" charset="0"/>
              </a:defRPr>
            </a:lvl1pPr>
          </a:lstStyle>
          <a:p>
            <a:pPr lvl="0"/>
            <a:r>
              <a:rPr lang="ru-RU"/>
              <a:t>Председатель правления АО «ОМК».</a:t>
            </a:r>
            <a:br>
              <a:rPr lang="ru-RU"/>
            </a:br>
            <a:r>
              <a:rPr lang="ru-RU"/>
              <a:t>Выпускник МИСИС</a:t>
            </a:r>
          </a:p>
        </p:txBody>
      </p:sp>
      <p:sp>
        <p:nvSpPr>
          <p:cNvPr id="15" name="Footer Placeholder 3"/>
          <p:cNvSpPr>
            <a:spLocks noGrp="1"/>
          </p:cNvSpPr>
          <p:nvPr>
            <p:ph type="ftr" sz="quarter" idx="19"/>
          </p:nvPr>
        </p:nvSpPr>
        <p:spPr>
          <a:xfrm>
            <a:off x="1302654" y="12664440"/>
            <a:ext cx="6952346" cy="730250"/>
          </a:xfrm>
        </p:spPr>
        <p:txBody>
          <a:bodyPr/>
          <a:lstStyle>
            <a:lvl1pPr algn="l">
              <a:defRPr sz="1500">
                <a:solidFill>
                  <a:schemeClr val="tx2"/>
                </a:solidFill>
              </a:defRPr>
            </a:lvl1pPr>
          </a:lstStyle>
          <a:p>
            <a:r>
              <a:rPr lang="ru-RU"/>
              <a:t>Название презентации в одну или несколько строк</a:t>
            </a:r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20"/>
          </p:nvPr>
        </p:nvSpPr>
        <p:spPr>
          <a:xfrm>
            <a:off x="19812000" y="12630986"/>
            <a:ext cx="3289668" cy="730250"/>
          </a:xfrm>
        </p:spPr>
        <p:txBody>
          <a:bodyPr/>
          <a:lstStyle>
            <a:lvl1pPr>
              <a:defRPr sz="2300">
                <a:solidFill>
                  <a:schemeClr val="accent1"/>
                </a:solidFill>
              </a:defRPr>
            </a:lvl1pPr>
          </a:lstStyle>
          <a:p>
            <a:fld id="{66B5E2A4-72D4-4DC4-9470-54C0EE06E412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7" name="Текст 6"/>
          <p:cNvSpPr>
            <a:spLocks noGrp="1"/>
          </p:cNvSpPr>
          <p:nvPr>
            <p:ph type="body" sz="quarter" idx="21" hasCustomPrompt="1"/>
          </p:nvPr>
        </p:nvSpPr>
        <p:spPr>
          <a:xfrm>
            <a:off x="8674101" y="12856752"/>
            <a:ext cx="6937374" cy="35514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>
                <a:solidFill>
                  <a:schemeClr val="tx2"/>
                </a:solidFill>
              </a:defRPr>
            </a:lvl1pPr>
          </a:lstStyle>
          <a:p>
            <a:pPr lvl="0"/>
            <a:r>
              <a:rPr lang="ru-RU"/>
              <a:t>Докладчик (при необходимости)</a:t>
            </a:r>
          </a:p>
        </p:txBody>
      </p:sp>
      <p:sp>
        <p:nvSpPr>
          <p:cNvPr id="18" name="TextBox 17"/>
          <p:cNvSpPr txBox="1"/>
          <p:nvPr userDrawn="1"/>
        </p:nvSpPr>
        <p:spPr>
          <a:xfrm>
            <a:off x="19812000" y="655721"/>
            <a:ext cx="32733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>
                <a:solidFill>
                  <a:schemeClr val="accent1"/>
                </a:solidFill>
              </a:rPr>
              <a:t>misis.ru</a:t>
            </a:r>
            <a:endParaRPr lang="ru-RU" sz="1600">
              <a:solidFill>
                <a:schemeClr val="accent1"/>
              </a:solidFill>
            </a:endParaRPr>
          </a:p>
        </p:txBody>
      </p:sp>
      <p:pic>
        <p:nvPicPr>
          <p:cNvPr id="19" name="Рисунок 1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48" y="399072"/>
            <a:ext cx="2394000" cy="961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69508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76">
          <p15:clr>
            <a:srgbClr val="FBAE40"/>
          </p15:clr>
        </p15:guide>
        <p15:guide id="2" pos="14483">
          <p15:clr>
            <a:srgbClr val="FBAE40"/>
          </p15:clr>
        </p15:guide>
        <p15:guide id="3" pos="2871">
          <p15:clr>
            <a:srgbClr val="FBAE40"/>
          </p15:clr>
        </p15:guide>
        <p15:guide id="4" pos="3189" userDrawn="1">
          <p15:clr>
            <a:srgbClr val="FBAE40"/>
          </p15:clr>
        </p15:guide>
        <p15:guide id="5" pos="5200">
          <p15:clr>
            <a:srgbClr val="FBAE40"/>
          </p15:clr>
        </p15:guide>
        <p15:guide id="6" pos="5512">
          <p15:clr>
            <a:srgbClr val="FBAE40"/>
          </p15:clr>
        </p15:guide>
        <p15:guide id="7" pos="7512">
          <p15:clr>
            <a:srgbClr val="FBAE40"/>
          </p15:clr>
        </p15:guide>
        <p15:guide id="8" pos="7838">
          <p15:clr>
            <a:srgbClr val="FBAE40"/>
          </p15:clr>
        </p15:guide>
        <p15:guide id="9" pos="9834">
          <p15:clr>
            <a:srgbClr val="FBAE40"/>
          </p15:clr>
        </p15:guide>
        <p15:guide id="10" pos="10152">
          <p15:clr>
            <a:srgbClr val="FBAE40"/>
          </p15:clr>
        </p15:guide>
        <p15:guide id="11" pos="12160">
          <p15:clr>
            <a:srgbClr val="FBAE40"/>
          </p15:clr>
        </p15:guide>
        <p15:guide id="12" pos="12480">
          <p15:clr>
            <a:srgbClr val="FBAE40"/>
          </p15:clr>
        </p15:guide>
        <p15:guide id="13" orient="horz" pos="1344">
          <p15:clr>
            <a:srgbClr val="FBAE40"/>
          </p15:clr>
        </p15:guide>
        <p15:guide id="14" orient="horz" pos="7767">
          <p15:clr>
            <a:srgbClr val="FBAE40"/>
          </p15:clr>
        </p15:guide>
        <p15:guide id="15" orient="horz" pos="8232" userDrawn="1">
          <p15:clr>
            <a:srgbClr val="FBAE40"/>
          </p15:clr>
        </p15:guide>
        <p15:guide id="16" orient="horz" pos="555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Инфографика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298516" y="2115691"/>
            <a:ext cx="10626783" cy="1737165"/>
          </a:xfrm>
        </p:spPr>
        <p:txBody>
          <a:bodyPr anchor="t">
            <a:noAutofit/>
          </a:bodyPr>
          <a:lstStyle>
            <a:lvl1pPr algn="l">
              <a:lnSpc>
                <a:spcPts val="6700"/>
              </a:lnSpc>
              <a:defRPr sz="73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ru-RU"/>
              <a:t>Заголовок раздела</a:t>
            </a:r>
            <a:endParaRPr lang="en-US"/>
          </a:p>
        </p:txBody>
      </p:sp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5865" y="5430202"/>
            <a:ext cx="162178" cy="1260000"/>
          </a:xfrm>
          <a:prstGeom prst="rect">
            <a:avLst/>
          </a:prstGeom>
        </p:spPr>
      </p:pic>
      <p:sp>
        <p:nvSpPr>
          <p:cNvPr id="7" name="Текст 6"/>
          <p:cNvSpPr>
            <a:spLocks noGrp="1"/>
          </p:cNvSpPr>
          <p:nvPr>
            <p:ph type="body" sz="quarter" idx="11" hasCustomPrompt="1"/>
          </p:nvPr>
        </p:nvSpPr>
        <p:spPr>
          <a:xfrm>
            <a:off x="1298517" y="3760060"/>
            <a:ext cx="8461710" cy="2930141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Lorem Ipsum is simply dummy</a:t>
            </a:r>
            <a:br>
              <a:rPr lang="en-US"/>
            </a:br>
            <a:r>
              <a:rPr lang="en-US"/>
              <a:t>text of the printing and typesetting</a:t>
            </a:r>
            <a:br>
              <a:rPr lang="en-US"/>
            </a:br>
            <a:r>
              <a:rPr lang="en-US"/>
              <a:t>industry. Lorem Ipsum has been</a:t>
            </a:r>
            <a:br>
              <a:rPr lang="en-US"/>
            </a:br>
            <a:r>
              <a:rPr lang="en-US"/>
              <a:t>the industry's standard dummy</a:t>
            </a:r>
            <a:endParaRPr lang="ru-RU"/>
          </a:p>
        </p:txBody>
      </p:sp>
      <p:sp>
        <p:nvSpPr>
          <p:cNvPr id="8" name="Текст 6"/>
          <p:cNvSpPr>
            <a:spLocks noGrp="1"/>
          </p:cNvSpPr>
          <p:nvPr>
            <p:ph type="body" sz="quarter" idx="12" hasCustomPrompt="1"/>
          </p:nvPr>
        </p:nvSpPr>
        <p:spPr>
          <a:xfrm>
            <a:off x="12363313" y="7655253"/>
            <a:ext cx="10682129" cy="467486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Lorem Ipsum has been the industry's </a:t>
            </a:r>
            <a:br>
              <a:rPr lang="en-US"/>
            </a:br>
            <a:r>
              <a:rPr lang="en-US"/>
              <a:t>standard dummy text ever since the 1500s,</a:t>
            </a:r>
            <a:br>
              <a:rPr lang="en-US"/>
            </a:br>
            <a:r>
              <a:rPr lang="en-US"/>
              <a:t>when an unknown printer took a galley </a:t>
            </a:r>
          </a:p>
          <a:p>
            <a:pPr lvl="0"/>
            <a:r>
              <a:rPr lang="en-US"/>
              <a:t>Lorem Ipsum has been the industry's </a:t>
            </a:r>
            <a:br>
              <a:rPr lang="en-US"/>
            </a:br>
            <a:r>
              <a:rPr lang="en-US"/>
              <a:t>standard dummy text ever since the 1500s,</a:t>
            </a:r>
            <a:br>
              <a:rPr lang="en-US"/>
            </a:br>
            <a:r>
              <a:rPr lang="en-US"/>
              <a:t>when an unknown printer took a galley</a:t>
            </a:r>
            <a:endParaRPr lang="ru-RU"/>
          </a:p>
        </p:txBody>
      </p:sp>
      <p:sp>
        <p:nvSpPr>
          <p:cNvPr id="10" name="Текст 6"/>
          <p:cNvSpPr>
            <a:spLocks noGrp="1"/>
          </p:cNvSpPr>
          <p:nvPr>
            <p:ph type="body" sz="quarter" idx="14" hasCustomPrompt="1"/>
          </p:nvPr>
        </p:nvSpPr>
        <p:spPr>
          <a:xfrm>
            <a:off x="12354962" y="5364110"/>
            <a:ext cx="3256513" cy="1419726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Lorem Ipsum</a:t>
            </a:r>
            <a:br>
              <a:rPr lang="en-US"/>
            </a:br>
            <a:r>
              <a:rPr lang="en-US"/>
              <a:t>is simply</a:t>
            </a:r>
            <a:br>
              <a:rPr lang="en-US"/>
            </a:br>
            <a:r>
              <a:rPr lang="en-US"/>
              <a:t>dummy text</a:t>
            </a:r>
            <a:endParaRPr lang="ru-RU"/>
          </a:p>
        </p:txBody>
      </p:sp>
      <p:sp>
        <p:nvSpPr>
          <p:cNvPr id="11" name="Текст 6"/>
          <p:cNvSpPr>
            <a:spLocks noGrp="1"/>
          </p:cNvSpPr>
          <p:nvPr>
            <p:ph type="body" sz="quarter" idx="15" hasCustomPrompt="1"/>
          </p:nvPr>
        </p:nvSpPr>
        <p:spPr>
          <a:xfrm>
            <a:off x="12297582" y="3326258"/>
            <a:ext cx="3313893" cy="2037852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23</a:t>
            </a:r>
            <a:endParaRPr lang="ru-RU"/>
          </a:p>
        </p:txBody>
      </p:sp>
      <p:sp>
        <p:nvSpPr>
          <p:cNvPr id="12" name="Текст 6"/>
          <p:cNvSpPr>
            <a:spLocks noGrp="1"/>
          </p:cNvSpPr>
          <p:nvPr>
            <p:ph type="body" sz="quarter" idx="16" hasCustomPrompt="1"/>
          </p:nvPr>
        </p:nvSpPr>
        <p:spPr>
          <a:xfrm>
            <a:off x="1298516" y="7672908"/>
            <a:ext cx="7129868" cy="247850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200">
                <a:solidFill>
                  <a:schemeClr val="tx2"/>
                </a:solidFill>
                <a:latin typeface="TT Norms Pro" panose="020B0103030101020204" pitchFamily="34" charset="0"/>
              </a:defRPr>
            </a:lvl1pPr>
          </a:lstStyle>
          <a:p>
            <a:pPr lvl="0"/>
            <a:r>
              <a:rPr lang="ru-RU"/>
              <a:t>«НИТУ «МИСИС» полноправно вошёл в «обойму» тех организаций, которые сотрудничают с CERN. Теперь НИТУ «МИСИС» — не только университет, блистающий в области новых материалов и технологий, но и организация, имеющая отношение к участию России  в самых ярких проектах в области</a:t>
            </a:r>
            <a:r>
              <a:rPr lang="en-US"/>
              <a:t> </a:t>
            </a:r>
            <a:r>
              <a:rPr lang="ru-RU"/>
              <a:t>физики частиц»</a:t>
            </a:r>
          </a:p>
        </p:txBody>
      </p:sp>
      <p:sp>
        <p:nvSpPr>
          <p:cNvPr id="13" name="Текст 6"/>
          <p:cNvSpPr>
            <a:spLocks noGrp="1"/>
          </p:cNvSpPr>
          <p:nvPr>
            <p:ph type="body" sz="quarter" idx="17" hasCustomPrompt="1"/>
          </p:nvPr>
        </p:nvSpPr>
        <p:spPr>
          <a:xfrm>
            <a:off x="1298516" y="10548418"/>
            <a:ext cx="7129868" cy="27196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700" b="1">
                <a:solidFill>
                  <a:schemeClr val="tx2"/>
                </a:solidFill>
                <a:latin typeface="TT Norms Pro" panose="020B0103030101020204" pitchFamily="34" charset="0"/>
              </a:defRPr>
            </a:lvl1pPr>
          </a:lstStyle>
          <a:p>
            <a:pPr lvl="0"/>
            <a:r>
              <a:rPr lang="ru-RU"/>
              <a:t>Григорий Трубников</a:t>
            </a:r>
          </a:p>
        </p:txBody>
      </p:sp>
      <p:sp>
        <p:nvSpPr>
          <p:cNvPr id="14" name="Текст 6"/>
          <p:cNvSpPr>
            <a:spLocks noGrp="1"/>
          </p:cNvSpPr>
          <p:nvPr>
            <p:ph type="body" sz="quarter" idx="18" hasCustomPrompt="1"/>
          </p:nvPr>
        </p:nvSpPr>
        <p:spPr>
          <a:xfrm>
            <a:off x="1298516" y="10820381"/>
            <a:ext cx="7129868" cy="828424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700" b="0">
                <a:solidFill>
                  <a:schemeClr val="tx2"/>
                </a:solidFill>
                <a:latin typeface="TT Norms Pro" panose="020B0103030101020204" pitchFamily="34" charset="0"/>
              </a:defRPr>
            </a:lvl1pPr>
          </a:lstStyle>
          <a:p>
            <a:pPr lvl="0"/>
            <a:r>
              <a:rPr lang="ru-RU"/>
              <a:t>заместитель министра науки </a:t>
            </a:r>
            <a:br>
              <a:rPr lang="ru-RU"/>
            </a:br>
            <a:r>
              <a:rPr lang="ru-RU"/>
              <a:t>и высшего образования РФ</a:t>
            </a:r>
          </a:p>
        </p:txBody>
      </p:sp>
      <p:sp>
        <p:nvSpPr>
          <p:cNvPr id="15" name="Footer Placeholder 3"/>
          <p:cNvSpPr>
            <a:spLocks noGrp="1"/>
          </p:cNvSpPr>
          <p:nvPr>
            <p:ph type="ftr" sz="quarter" idx="19"/>
          </p:nvPr>
        </p:nvSpPr>
        <p:spPr>
          <a:xfrm>
            <a:off x="1302654" y="12664440"/>
            <a:ext cx="6952346" cy="730250"/>
          </a:xfrm>
        </p:spPr>
        <p:txBody>
          <a:bodyPr/>
          <a:lstStyle>
            <a:lvl1pPr algn="l">
              <a:defRPr sz="1500">
                <a:solidFill>
                  <a:schemeClr val="tx2"/>
                </a:solidFill>
              </a:defRPr>
            </a:lvl1pPr>
          </a:lstStyle>
          <a:p>
            <a:r>
              <a:rPr lang="ru-RU"/>
              <a:t>Название презентации в одну или несколько строк</a:t>
            </a:r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20"/>
          </p:nvPr>
        </p:nvSpPr>
        <p:spPr>
          <a:xfrm>
            <a:off x="19812000" y="12630986"/>
            <a:ext cx="3289668" cy="730250"/>
          </a:xfrm>
        </p:spPr>
        <p:txBody>
          <a:bodyPr/>
          <a:lstStyle>
            <a:lvl1pPr>
              <a:defRPr sz="2300">
                <a:solidFill>
                  <a:schemeClr val="accent1"/>
                </a:solidFill>
              </a:defRPr>
            </a:lvl1pPr>
          </a:lstStyle>
          <a:p>
            <a:fld id="{66B5E2A4-72D4-4DC4-9470-54C0EE06E412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7" name="Текст 6"/>
          <p:cNvSpPr>
            <a:spLocks noGrp="1"/>
          </p:cNvSpPr>
          <p:nvPr>
            <p:ph type="body" sz="quarter" idx="21" hasCustomPrompt="1"/>
          </p:nvPr>
        </p:nvSpPr>
        <p:spPr>
          <a:xfrm>
            <a:off x="8674101" y="12856752"/>
            <a:ext cx="6937374" cy="35514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>
                <a:solidFill>
                  <a:schemeClr val="tx2"/>
                </a:solidFill>
              </a:defRPr>
            </a:lvl1pPr>
          </a:lstStyle>
          <a:p>
            <a:pPr lvl="0"/>
            <a:r>
              <a:rPr lang="ru-RU"/>
              <a:t>Докладчик (при необходимости)</a:t>
            </a:r>
          </a:p>
        </p:txBody>
      </p:sp>
      <p:sp>
        <p:nvSpPr>
          <p:cNvPr id="18" name="TextBox 17"/>
          <p:cNvSpPr txBox="1"/>
          <p:nvPr userDrawn="1"/>
        </p:nvSpPr>
        <p:spPr>
          <a:xfrm>
            <a:off x="19812000" y="655721"/>
            <a:ext cx="32733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>
                <a:solidFill>
                  <a:schemeClr val="accent1"/>
                </a:solidFill>
              </a:rPr>
              <a:t>misis.ru</a:t>
            </a:r>
            <a:endParaRPr lang="ru-RU" sz="1600">
              <a:solidFill>
                <a:schemeClr val="accent1"/>
              </a:solidFill>
            </a:endParaRPr>
          </a:p>
        </p:txBody>
      </p:sp>
      <p:pic>
        <p:nvPicPr>
          <p:cNvPr id="19" name="Рисунок 1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48" y="399072"/>
            <a:ext cx="2394000" cy="961940"/>
          </a:xfrm>
          <a:prstGeom prst="rect">
            <a:avLst/>
          </a:prstGeom>
        </p:spPr>
      </p:pic>
      <p:sp>
        <p:nvSpPr>
          <p:cNvPr id="20" name="Текст 6"/>
          <p:cNvSpPr>
            <a:spLocks noGrp="1"/>
          </p:cNvSpPr>
          <p:nvPr>
            <p:ph type="body" sz="quarter" idx="22" hasCustomPrompt="1"/>
          </p:nvPr>
        </p:nvSpPr>
        <p:spPr>
          <a:xfrm>
            <a:off x="16047487" y="5364110"/>
            <a:ext cx="3256513" cy="1419726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Lorem Ipsum</a:t>
            </a:r>
            <a:br>
              <a:rPr lang="en-US"/>
            </a:br>
            <a:r>
              <a:rPr lang="en-US"/>
              <a:t>is simply</a:t>
            </a:r>
            <a:br>
              <a:rPr lang="en-US"/>
            </a:br>
            <a:r>
              <a:rPr lang="en-US"/>
              <a:t>dummy text</a:t>
            </a:r>
            <a:endParaRPr lang="ru-RU"/>
          </a:p>
        </p:txBody>
      </p:sp>
      <p:sp>
        <p:nvSpPr>
          <p:cNvPr id="21" name="Текст 6"/>
          <p:cNvSpPr>
            <a:spLocks noGrp="1"/>
          </p:cNvSpPr>
          <p:nvPr>
            <p:ph type="body" sz="quarter" idx="23" hasCustomPrompt="1"/>
          </p:nvPr>
        </p:nvSpPr>
        <p:spPr>
          <a:xfrm>
            <a:off x="15990107" y="3326258"/>
            <a:ext cx="3313893" cy="2037852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115</a:t>
            </a:r>
            <a:endParaRPr lang="ru-RU"/>
          </a:p>
        </p:txBody>
      </p:sp>
      <p:sp>
        <p:nvSpPr>
          <p:cNvPr id="22" name="Текст 6"/>
          <p:cNvSpPr>
            <a:spLocks noGrp="1"/>
          </p:cNvSpPr>
          <p:nvPr>
            <p:ph type="body" sz="quarter" idx="24" hasCustomPrompt="1"/>
          </p:nvPr>
        </p:nvSpPr>
        <p:spPr>
          <a:xfrm>
            <a:off x="19722471" y="5364110"/>
            <a:ext cx="3256513" cy="1419726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Lorem Ipsum</a:t>
            </a:r>
            <a:br>
              <a:rPr lang="en-US"/>
            </a:br>
            <a:r>
              <a:rPr lang="en-US"/>
              <a:t>is simply</a:t>
            </a:r>
            <a:br>
              <a:rPr lang="en-US"/>
            </a:br>
            <a:r>
              <a:rPr lang="en-US"/>
              <a:t>dummy text</a:t>
            </a:r>
            <a:endParaRPr lang="ru-RU"/>
          </a:p>
        </p:txBody>
      </p:sp>
      <p:sp>
        <p:nvSpPr>
          <p:cNvPr id="23" name="Текст 6"/>
          <p:cNvSpPr>
            <a:spLocks noGrp="1"/>
          </p:cNvSpPr>
          <p:nvPr>
            <p:ph type="body" sz="quarter" idx="25" hasCustomPrompt="1"/>
          </p:nvPr>
        </p:nvSpPr>
        <p:spPr>
          <a:xfrm>
            <a:off x="19665091" y="3326258"/>
            <a:ext cx="3313893" cy="2037852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8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98246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76">
          <p15:clr>
            <a:srgbClr val="FBAE40"/>
          </p15:clr>
        </p15:guide>
        <p15:guide id="2" pos="14483">
          <p15:clr>
            <a:srgbClr val="FBAE40"/>
          </p15:clr>
        </p15:guide>
        <p15:guide id="3" pos="2871">
          <p15:clr>
            <a:srgbClr val="FBAE40"/>
          </p15:clr>
        </p15:guide>
        <p15:guide id="4" pos="3189">
          <p15:clr>
            <a:srgbClr val="FBAE40"/>
          </p15:clr>
        </p15:guide>
        <p15:guide id="5" pos="5200">
          <p15:clr>
            <a:srgbClr val="FBAE40"/>
          </p15:clr>
        </p15:guide>
        <p15:guide id="6" pos="5512">
          <p15:clr>
            <a:srgbClr val="FBAE40"/>
          </p15:clr>
        </p15:guide>
        <p15:guide id="7" pos="7512">
          <p15:clr>
            <a:srgbClr val="FBAE40"/>
          </p15:clr>
        </p15:guide>
        <p15:guide id="8" pos="7838">
          <p15:clr>
            <a:srgbClr val="FBAE40"/>
          </p15:clr>
        </p15:guide>
        <p15:guide id="9" pos="9834">
          <p15:clr>
            <a:srgbClr val="FBAE40"/>
          </p15:clr>
        </p15:guide>
        <p15:guide id="10" pos="10152">
          <p15:clr>
            <a:srgbClr val="FBAE40"/>
          </p15:clr>
        </p15:guide>
        <p15:guide id="11" pos="12160">
          <p15:clr>
            <a:srgbClr val="FBAE40"/>
          </p15:clr>
        </p15:guide>
        <p15:guide id="12" pos="12480">
          <p15:clr>
            <a:srgbClr val="FBAE40"/>
          </p15:clr>
        </p15:guide>
        <p15:guide id="13" orient="horz" pos="1344">
          <p15:clr>
            <a:srgbClr val="FBAE40"/>
          </p15:clr>
        </p15:guide>
        <p15:guide id="14" orient="horz" pos="7767">
          <p15:clr>
            <a:srgbClr val="FBAE40"/>
          </p15:clr>
        </p15:guide>
        <p15:guide id="15" orient="horz" pos="8232">
          <p15:clr>
            <a:srgbClr val="FBAE40"/>
          </p15:clr>
        </p15:guide>
        <p15:guide id="16" orient="horz" pos="555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Инфографика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5865" y="5430202"/>
            <a:ext cx="162178" cy="1260000"/>
          </a:xfrm>
          <a:prstGeom prst="rect">
            <a:avLst/>
          </a:prstGeom>
        </p:spPr>
      </p:pic>
      <p:sp>
        <p:nvSpPr>
          <p:cNvPr id="7" name="Текст 6"/>
          <p:cNvSpPr>
            <a:spLocks noGrp="1"/>
          </p:cNvSpPr>
          <p:nvPr>
            <p:ph type="body" sz="quarter" idx="11" hasCustomPrompt="1"/>
          </p:nvPr>
        </p:nvSpPr>
        <p:spPr>
          <a:xfrm>
            <a:off x="1298517" y="2030650"/>
            <a:ext cx="6956483" cy="2930141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Lorem Ipsum is simply</a:t>
            </a:r>
            <a:br>
              <a:rPr lang="en-US"/>
            </a:br>
            <a:r>
              <a:rPr lang="en-US"/>
              <a:t>dummy text of the printing and typesetting industry</a:t>
            </a:r>
          </a:p>
          <a:p>
            <a:pPr lvl="0"/>
            <a:r>
              <a:rPr lang="en-US"/>
              <a:t>Lorem Ipsum has been</a:t>
            </a:r>
            <a:br>
              <a:rPr lang="en-US"/>
            </a:br>
            <a:r>
              <a:rPr lang="en-US"/>
              <a:t>the industry's standard dummy text ever since</a:t>
            </a:r>
            <a:endParaRPr lang="ru-RU"/>
          </a:p>
        </p:txBody>
      </p:sp>
      <p:sp>
        <p:nvSpPr>
          <p:cNvPr id="8" name="Текст 6"/>
          <p:cNvSpPr>
            <a:spLocks noGrp="1"/>
          </p:cNvSpPr>
          <p:nvPr>
            <p:ph type="body" sz="quarter" idx="12" hasCustomPrompt="1"/>
          </p:nvPr>
        </p:nvSpPr>
        <p:spPr>
          <a:xfrm>
            <a:off x="12347575" y="8534188"/>
            <a:ext cx="10738355" cy="95663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5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Lorem Ipsum Lorem</a:t>
            </a:r>
            <a:endParaRPr lang="ru-RU"/>
          </a:p>
        </p:txBody>
      </p:sp>
      <p:sp>
        <p:nvSpPr>
          <p:cNvPr id="10" name="Текст 6"/>
          <p:cNvSpPr>
            <a:spLocks noGrp="1"/>
          </p:cNvSpPr>
          <p:nvPr>
            <p:ph type="body" sz="quarter" idx="14" hasCustomPrompt="1"/>
          </p:nvPr>
        </p:nvSpPr>
        <p:spPr>
          <a:xfrm>
            <a:off x="12354962" y="3744860"/>
            <a:ext cx="3761338" cy="1419726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Lorem Ipsum</a:t>
            </a:r>
            <a:br>
              <a:rPr lang="en-US"/>
            </a:br>
            <a:r>
              <a:rPr lang="en-US"/>
              <a:t>is simply dummy</a:t>
            </a:r>
            <a:br>
              <a:rPr lang="en-US"/>
            </a:br>
            <a:r>
              <a:rPr lang="en-US"/>
              <a:t>text of the printing</a:t>
            </a:r>
            <a:endParaRPr lang="ru-RU"/>
          </a:p>
        </p:txBody>
      </p:sp>
      <p:sp>
        <p:nvSpPr>
          <p:cNvPr id="11" name="Текст 6"/>
          <p:cNvSpPr>
            <a:spLocks noGrp="1"/>
          </p:cNvSpPr>
          <p:nvPr>
            <p:ph type="body" sz="quarter" idx="15" hasCustomPrompt="1"/>
          </p:nvPr>
        </p:nvSpPr>
        <p:spPr>
          <a:xfrm>
            <a:off x="12297582" y="1707008"/>
            <a:ext cx="3749905" cy="2037852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62%</a:t>
            </a:r>
            <a:endParaRPr lang="ru-RU"/>
          </a:p>
        </p:txBody>
      </p:sp>
      <p:sp>
        <p:nvSpPr>
          <p:cNvPr id="12" name="Текст 6"/>
          <p:cNvSpPr>
            <a:spLocks noGrp="1"/>
          </p:cNvSpPr>
          <p:nvPr>
            <p:ph type="body" sz="quarter" idx="16" hasCustomPrompt="1"/>
          </p:nvPr>
        </p:nvSpPr>
        <p:spPr>
          <a:xfrm>
            <a:off x="1298516" y="7096435"/>
            <a:ext cx="6135954" cy="2875509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200">
                <a:solidFill>
                  <a:schemeClr val="tx2"/>
                </a:solidFill>
                <a:latin typeface="TT Norms Pro" panose="020B0103030101020204" pitchFamily="34" charset="0"/>
              </a:defRPr>
            </a:lvl1pPr>
          </a:lstStyle>
          <a:p>
            <a:pPr lvl="0"/>
            <a:r>
              <a:rPr lang="ru-RU"/>
              <a:t>«НИТУ «МИСИС» полноправно вошёл в «обойму» тех организаций, которые сотрудничают с CERN. Теперь НИТУ «МИСИС» — не только университет, блистающий в области новых материалов и технологий, но и организация, имеющая отношение к участию  России в самых ярких проектах в области</a:t>
            </a:r>
            <a:r>
              <a:rPr lang="en-US"/>
              <a:t> </a:t>
            </a:r>
            <a:r>
              <a:rPr lang="ru-RU"/>
              <a:t>физики частиц»</a:t>
            </a:r>
          </a:p>
        </p:txBody>
      </p:sp>
      <p:sp>
        <p:nvSpPr>
          <p:cNvPr id="13" name="Текст 6"/>
          <p:cNvSpPr>
            <a:spLocks noGrp="1"/>
          </p:cNvSpPr>
          <p:nvPr>
            <p:ph type="body" sz="quarter" idx="17" hasCustomPrompt="1"/>
          </p:nvPr>
        </p:nvSpPr>
        <p:spPr>
          <a:xfrm>
            <a:off x="1298516" y="10309875"/>
            <a:ext cx="6956484" cy="271964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700" b="1">
                <a:solidFill>
                  <a:schemeClr val="tx2"/>
                </a:solidFill>
                <a:latin typeface="TT Norms Pro" panose="020B0103030101020204" pitchFamily="34" charset="0"/>
              </a:defRPr>
            </a:lvl1pPr>
          </a:lstStyle>
          <a:p>
            <a:pPr lvl="0"/>
            <a:r>
              <a:rPr lang="ru-RU"/>
              <a:t>Григорий Трубников</a:t>
            </a:r>
          </a:p>
        </p:txBody>
      </p:sp>
      <p:sp>
        <p:nvSpPr>
          <p:cNvPr id="14" name="Текст 6"/>
          <p:cNvSpPr>
            <a:spLocks noGrp="1"/>
          </p:cNvSpPr>
          <p:nvPr>
            <p:ph type="body" sz="quarter" idx="18" hasCustomPrompt="1"/>
          </p:nvPr>
        </p:nvSpPr>
        <p:spPr>
          <a:xfrm>
            <a:off x="1298516" y="10581838"/>
            <a:ext cx="6956484" cy="829112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700" b="0">
                <a:solidFill>
                  <a:schemeClr val="tx2"/>
                </a:solidFill>
                <a:latin typeface="TT Norms Pro" panose="020B0103030101020204" pitchFamily="34" charset="0"/>
              </a:defRPr>
            </a:lvl1pPr>
          </a:lstStyle>
          <a:p>
            <a:pPr lvl="0"/>
            <a:r>
              <a:rPr lang="ru-RU"/>
              <a:t>заместитель министра науки </a:t>
            </a:r>
            <a:br>
              <a:rPr lang="ru-RU"/>
            </a:br>
            <a:r>
              <a:rPr lang="ru-RU"/>
              <a:t>и высшего образования РФ</a:t>
            </a:r>
          </a:p>
        </p:txBody>
      </p:sp>
      <p:sp>
        <p:nvSpPr>
          <p:cNvPr id="15" name="Footer Placeholder 3"/>
          <p:cNvSpPr>
            <a:spLocks noGrp="1"/>
          </p:cNvSpPr>
          <p:nvPr>
            <p:ph type="ftr" sz="quarter" idx="19"/>
          </p:nvPr>
        </p:nvSpPr>
        <p:spPr>
          <a:xfrm>
            <a:off x="1302654" y="12664440"/>
            <a:ext cx="6952346" cy="730250"/>
          </a:xfrm>
        </p:spPr>
        <p:txBody>
          <a:bodyPr/>
          <a:lstStyle>
            <a:lvl1pPr algn="l">
              <a:defRPr sz="1500">
                <a:solidFill>
                  <a:schemeClr val="tx2"/>
                </a:solidFill>
              </a:defRPr>
            </a:lvl1pPr>
          </a:lstStyle>
          <a:p>
            <a:r>
              <a:rPr lang="ru-RU"/>
              <a:t>Название презентации в одну или несколько строк</a:t>
            </a:r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20"/>
          </p:nvPr>
        </p:nvSpPr>
        <p:spPr>
          <a:xfrm>
            <a:off x="19812000" y="12630986"/>
            <a:ext cx="3289668" cy="730250"/>
          </a:xfrm>
        </p:spPr>
        <p:txBody>
          <a:bodyPr/>
          <a:lstStyle>
            <a:lvl1pPr>
              <a:defRPr sz="2300">
                <a:solidFill>
                  <a:schemeClr val="accent1"/>
                </a:solidFill>
              </a:defRPr>
            </a:lvl1pPr>
          </a:lstStyle>
          <a:p>
            <a:fld id="{66B5E2A4-72D4-4DC4-9470-54C0EE06E412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7" name="Текст 6"/>
          <p:cNvSpPr>
            <a:spLocks noGrp="1"/>
          </p:cNvSpPr>
          <p:nvPr>
            <p:ph type="body" sz="quarter" idx="21" hasCustomPrompt="1"/>
          </p:nvPr>
        </p:nvSpPr>
        <p:spPr>
          <a:xfrm>
            <a:off x="8674101" y="12856752"/>
            <a:ext cx="6937374" cy="35514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>
                <a:solidFill>
                  <a:schemeClr val="tx2"/>
                </a:solidFill>
              </a:defRPr>
            </a:lvl1pPr>
          </a:lstStyle>
          <a:p>
            <a:pPr lvl="0"/>
            <a:r>
              <a:rPr lang="ru-RU"/>
              <a:t>Докладчик (при необходимости)</a:t>
            </a:r>
          </a:p>
        </p:txBody>
      </p:sp>
      <p:sp>
        <p:nvSpPr>
          <p:cNvPr id="18" name="TextBox 17"/>
          <p:cNvSpPr txBox="1"/>
          <p:nvPr userDrawn="1"/>
        </p:nvSpPr>
        <p:spPr>
          <a:xfrm>
            <a:off x="19812000" y="655721"/>
            <a:ext cx="32733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>
                <a:solidFill>
                  <a:schemeClr val="accent1"/>
                </a:solidFill>
              </a:rPr>
              <a:t>misis.ru</a:t>
            </a:r>
            <a:endParaRPr lang="ru-RU" sz="1600">
              <a:solidFill>
                <a:schemeClr val="accent1"/>
              </a:solidFill>
            </a:endParaRPr>
          </a:p>
        </p:txBody>
      </p:sp>
      <p:pic>
        <p:nvPicPr>
          <p:cNvPr id="19" name="Рисунок 1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48" y="399072"/>
            <a:ext cx="2394000" cy="961940"/>
          </a:xfrm>
          <a:prstGeom prst="rect">
            <a:avLst/>
          </a:prstGeom>
        </p:spPr>
      </p:pic>
      <p:sp>
        <p:nvSpPr>
          <p:cNvPr id="24" name="Текст 6"/>
          <p:cNvSpPr>
            <a:spLocks noGrp="1"/>
          </p:cNvSpPr>
          <p:nvPr>
            <p:ph type="body" sz="quarter" idx="22" hasCustomPrompt="1"/>
          </p:nvPr>
        </p:nvSpPr>
        <p:spPr>
          <a:xfrm>
            <a:off x="12363313" y="9448799"/>
            <a:ext cx="10738355" cy="2900363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Lorem Ipsum is simply dummy text of the</a:t>
            </a:r>
            <a:br>
              <a:rPr lang="en-US"/>
            </a:br>
            <a:r>
              <a:rPr lang="en-US"/>
              <a:t>printing and typesetting industry Lorem Ipsum has been the industry's standard dummy text 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35637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76">
          <p15:clr>
            <a:srgbClr val="FBAE40"/>
          </p15:clr>
        </p15:guide>
        <p15:guide id="2" pos="14483">
          <p15:clr>
            <a:srgbClr val="FBAE40"/>
          </p15:clr>
        </p15:guide>
        <p15:guide id="3" pos="2871">
          <p15:clr>
            <a:srgbClr val="FBAE40"/>
          </p15:clr>
        </p15:guide>
        <p15:guide id="4" pos="3189">
          <p15:clr>
            <a:srgbClr val="FBAE40"/>
          </p15:clr>
        </p15:guide>
        <p15:guide id="5" pos="5200">
          <p15:clr>
            <a:srgbClr val="FBAE40"/>
          </p15:clr>
        </p15:guide>
        <p15:guide id="6" pos="5512">
          <p15:clr>
            <a:srgbClr val="FBAE40"/>
          </p15:clr>
        </p15:guide>
        <p15:guide id="7" pos="7512">
          <p15:clr>
            <a:srgbClr val="FBAE40"/>
          </p15:clr>
        </p15:guide>
        <p15:guide id="8" pos="7838">
          <p15:clr>
            <a:srgbClr val="FBAE40"/>
          </p15:clr>
        </p15:guide>
        <p15:guide id="9" pos="9834">
          <p15:clr>
            <a:srgbClr val="FBAE40"/>
          </p15:clr>
        </p15:guide>
        <p15:guide id="10" pos="10152">
          <p15:clr>
            <a:srgbClr val="FBAE40"/>
          </p15:clr>
        </p15:guide>
        <p15:guide id="11" pos="12160">
          <p15:clr>
            <a:srgbClr val="FBAE40"/>
          </p15:clr>
        </p15:guide>
        <p15:guide id="12" pos="12480">
          <p15:clr>
            <a:srgbClr val="FBAE40"/>
          </p15:clr>
        </p15:guide>
        <p15:guide id="13" orient="horz" pos="1344">
          <p15:clr>
            <a:srgbClr val="FBAE40"/>
          </p15:clr>
        </p15:guide>
        <p15:guide id="14" orient="horz" pos="7767">
          <p15:clr>
            <a:srgbClr val="FBAE40"/>
          </p15:clr>
        </p15:guide>
        <p15:guide id="15" orient="horz" pos="8232">
          <p15:clr>
            <a:srgbClr val="FBAE40"/>
          </p15:clr>
        </p15:guide>
        <p15:guide id="16" orient="horz" pos="555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Булли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298516" y="2115691"/>
            <a:ext cx="10626783" cy="1103759"/>
          </a:xfrm>
        </p:spPr>
        <p:txBody>
          <a:bodyPr anchor="t">
            <a:noAutofit/>
          </a:bodyPr>
          <a:lstStyle>
            <a:lvl1pPr algn="l">
              <a:lnSpc>
                <a:spcPts val="6700"/>
              </a:lnSpc>
              <a:defRPr sz="73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ru-RU"/>
              <a:t>Заголовок раздела</a:t>
            </a:r>
            <a:endParaRPr lang="en-US"/>
          </a:p>
        </p:txBody>
      </p:sp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5865" y="5430202"/>
            <a:ext cx="162178" cy="1260000"/>
          </a:xfrm>
          <a:prstGeom prst="rect">
            <a:avLst/>
          </a:prstGeom>
        </p:spPr>
      </p:pic>
      <p:sp>
        <p:nvSpPr>
          <p:cNvPr id="7" name="Текст 6"/>
          <p:cNvSpPr>
            <a:spLocks noGrp="1"/>
          </p:cNvSpPr>
          <p:nvPr>
            <p:ph type="body" sz="quarter" idx="11" hasCustomPrompt="1"/>
          </p:nvPr>
        </p:nvSpPr>
        <p:spPr>
          <a:xfrm>
            <a:off x="1298516" y="3655596"/>
            <a:ext cx="10626783" cy="1050706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5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What is Lorem Ipsum?</a:t>
            </a:r>
            <a:endParaRPr lang="ru-RU"/>
          </a:p>
        </p:txBody>
      </p:sp>
      <p:sp>
        <p:nvSpPr>
          <p:cNvPr id="8" name="Текст 6"/>
          <p:cNvSpPr>
            <a:spLocks noGrp="1"/>
          </p:cNvSpPr>
          <p:nvPr>
            <p:ph type="body" sz="quarter" idx="12" hasCustomPrompt="1"/>
          </p:nvPr>
        </p:nvSpPr>
        <p:spPr>
          <a:xfrm>
            <a:off x="1295399" y="5123398"/>
            <a:ext cx="6937375" cy="6542999"/>
          </a:xfrm>
        </p:spPr>
        <p:txBody>
          <a:bodyPr>
            <a:noAutofit/>
          </a:bodyPr>
          <a:lstStyle>
            <a:lvl1pPr marL="723900" indent="-723900">
              <a:lnSpc>
                <a:spcPct val="100000"/>
              </a:lnSpc>
              <a:spcBef>
                <a:spcPts val="0"/>
              </a:spcBef>
              <a:buFontTx/>
              <a:buBlip>
                <a:blip r:embed="rId3"/>
              </a:buBlip>
              <a:defRPr sz="3000">
                <a:solidFill>
                  <a:schemeClr val="tx2"/>
                </a:solidFill>
                <a:latin typeface="TT Norms Pro" panose="020B0103030101020204" pitchFamily="34" charset="0"/>
              </a:defRPr>
            </a:lvl1pPr>
          </a:lstStyle>
          <a:p>
            <a:pPr lvl="0"/>
            <a:r>
              <a:rPr lang="ru-RU"/>
              <a:t>Организация и управление научно-образовательным</a:t>
            </a:r>
            <a:br>
              <a:rPr lang="ru-RU"/>
            </a:br>
            <a:r>
              <a:rPr lang="ru-RU"/>
              <a:t>процессом по программам</a:t>
            </a:r>
            <a:br>
              <a:rPr lang="ru-RU"/>
            </a:br>
            <a:r>
              <a:rPr lang="ru-RU"/>
              <a:t>подготовки научно-</a:t>
            </a:r>
            <a:br>
              <a:rPr lang="ru-RU"/>
            </a:br>
            <a:r>
              <a:rPr lang="ru-RU"/>
              <a:t>педагогических кадров</a:t>
            </a:r>
            <a:br>
              <a:rPr lang="ru-RU"/>
            </a:br>
            <a:r>
              <a:rPr lang="ru-RU"/>
              <a:t>в аспирантуре</a:t>
            </a:r>
            <a:endParaRPr lang="en-US"/>
          </a:p>
          <a:p>
            <a:pPr lvl="0"/>
            <a:endParaRPr lang="en-US"/>
          </a:p>
          <a:p>
            <a:pPr lvl="0"/>
            <a:r>
              <a:rPr lang="ru-RU"/>
              <a:t>Разработка нормативной</a:t>
            </a:r>
            <a:br>
              <a:rPr lang="ru-RU"/>
            </a:br>
            <a:r>
              <a:rPr lang="ru-RU"/>
              <a:t>и методической документации</a:t>
            </a:r>
            <a:br>
              <a:rPr lang="ru-RU"/>
            </a:br>
            <a:r>
              <a:rPr lang="ru-RU"/>
              <a:t>по осуществлению </a:t>
            </a:r>
            <a:br>
              <a:rPr lang="ru-RU"/>
            </a:br>
            <a:r>
              <a:rPr lang="ru-RU"/>
              <a:t>научно-образовательной</a:t>
            </a:r>
            <a:br>
              <a:rPr lang="ru-RU"/>
            </a:br>
            <a:r>
              <a:rPr lang="ru-RU"/>
              <a:t>деятельности в аспирантуре</a:t>
            </a:r>
          </a:p>
        </p:txBody>
      </p:sp>
      <p:sp>
        <p:nvSpPr>
          <p:cNvPr id="15" name="Footer Placeholder 3"/>
          <p:cNvSpPr>
            <a:spLocks noGrp="1"/>
          </p:cNvSpPr>
          <p:nvPr>
            <p:ph type="ftr" sz="quarter" idx="19"/>
          </p:nvPr>
        </p:nvSpPr>
        <p:spPr>
          <a:xfrm>
            <a:off x="1302654" y="12664440"/>
            <a:ext cx="6952346" cy="730250"/>
          </a:xfrm>
        </p:spPr>
        <p:txBody>
          <a:bodyPr/>
          <a:lstStyle>
            <a:lvl1pPr algn="l">
              <a:defRPr sz="1500">
                <a:solidFill>
                  <a:schemeClr val="tx2"/>
                </a:solidFill>
              </a:defRPr>
            </a:lvl1pPr>
          </a:lstStyle>
          <a:p>
            <a:r>
              <a:rPr lang="ru-RU"/>
              <a:t>Название презентации в одну или несколько строк</a:t>
            </a:r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20"/>
          </p:nvPr>
        </p:nvSpPr>
        <p:spPr>
          <a:xfrm>
            <a:off x="19812000" y="12630986"/>
            <a:ext cx="3289668" cy="730250"/>
          </a:xfrm>
        </p:spPr>
        <p:txBody>
          <a:bodyPr/>
          <a:lstStyle>
            <a:lvl1pPr>
              <a:defRPr sz="2300">
                <a:solidFill>
                  <a:schemeClr val="accent1"/>
                </a:solidFill>
              </a:defRPr>
            </a:lvl1pPr>
          </a:lstStyle>
          <a:p>
            <a:fld id="{66B5E2A4-72D4-4DC4-9470-54C0EE06E412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7" name="Текст 6"/>
          <p:cNvSpPr>
            <a:spLocks noGrp="1"/>
          </p:cNvSpPr>
          <p:nvPr>
            <p:ph type="body" sz="quarter" idx="21" hasCustomPrompt="1"/>
          </p:nvPr>
        </p:nvSpPr>
        <p:spPr>
          <a:xfrm>
            <a:off x="8674101" y="12856752"/>
            <a:ext cx="6937374" cy="35514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>
                <a:solidFill>
                  <a:schemeClr val="tx2"/>
                </a:solidFill>
              </a:defRPr>
            </a:lvl1pPr>
          </a:lstStyle>
          <a:p>
            <a:pPr lvl="0"/>
            <a:r>
              <a:rPr lang="ru-RU"/>
              <a:t>Докладчик (при необходимости)</a:t>
            </a:r>
          </a:p>
        </p:txBody>
      </p:sp>
      <p:sp>
        <p:nvSpPr>
          <p:cNvPr id="18" name="TextBox 17"/>
          <p:cNvSpPr txBox="1"/>
          <p:nvPr userDrawn="1"/>
        </p:nvSpPr>
        <p:spPr>
          <a:xfrm>
            <a:off x="19812000" y="655721"/>
            <a:ext cx="32733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>
                <a:solidFill>
                  <a:schemeClr val="accent1"/>
                </a:solidFill>
              </a:rPr>
              <a:t>misis.ru</a:t>
            </a:r>
            <a:endParaRPr lang="ru-RU" sz="1600">
              <a:solidFill>
                <a:schemeClr val="accent1"/>
              </a:solidFill>
            </a:endParaRPr>
          </a:p>
        </p:txBody>
      </p:sp>
      <p:pic>
        <p:nvPicPr>
          <p:cNvPr id="19" name="Рисунок 18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48" y="399072"/>
            <a:ext cx="2394000" cy="961940"/>
          </a:xfrm>
          <a:prstGeom prst="rect">
            <a:avLst/>
          </a:prstGeom>
        </p:spPr>
      </p:pic>
      <p:sp>
        <p:nvSpPr>
          <p:cNvPr id="20" name="Текст 6"/>
          <p:cNvSpPr>
            <a:spLocks noGrp="1"/>
          </p:cNvSpPr>
          <p:nvPr>
            <p:ph type="body" sz="quarter" idx="22" hasCustomPrompt="1"/>
          </p:nvPr>
        </p:nvSpPr>
        <p:spPr>
          <a:xfrm>
            <a:off x="8674101" y="5123397"/>
            <a:ext cx="6937374" cy="6542999"/>
          </a:xfrm>
        </p:spPr>
        <p:txBody>
          <a:bodyPr>
            <a:noAutofit/>
          </a:bodyPr>
          <a:lstStyle>
            <a:lvl1pPr marL="723900" indent="-723900">
              <a:lnSpc>
                <a:spcPct val="100000"/>
              </a:lnSpc>
              <a:spcBef>
                <a:spcPts val="0"/>
              </a:spcBef>
              <a:buFontTx/>
              <a:buBlip>
                <a:blip r:embed="rId3"/>
              </a:buBlip>
              <a:defRPr sz="3000">
                <a:solidFill>
                  <a:schemeClr val="tx2"/>
                </a:solidFill>
                <a:latin typeface="TT Norms Pro" panose="020B0103030101020204" pitchFamily="34" charset="0"/>
              </a:defRPr>
            </a:lvl1pPr>
          </a:lstStyle>
          <a:p>
            <a:pPr lvl="0"/>
            <a:r>
              <a:rPr lang="ru-RU"/>
              <a:t>Организация и управление научно-образовательным</a:t>
            </a:r>
            <a:br>
              <a:rPr lang="ru-RU"/>
            </a:br>
            <a:r>
              <a:rPr lang="ru-RU"/>
              <a:t>процессом по программам</a:t>
            </a:r>
            <a:br>
              <a:rPr lang="ru-RU"/>
            </a:br>
            <a:r>
              <a:rPr lang="ru-RU"/>
              <a:t>подготовки научно-</a:t>
            </a:r>
            <a:br>
              <a:rPr lang="ru-RU"/>
            </a:br>
            <a:r>
              <a:rPr lang="ru-RU"/>
              <a:t>педагогических кадров</a:t>
            </a:r>
            <a:br>
              <a:rPr lang="ru-RU"/>
            </a:br>
            <a:r>
              <a:rPr lang="ru-RU"/>
              <a:t>в аспирантуре</a:t>
            </a:r>
            <a:endParaRPr lang="en-US"/>
          </a:p>
          <a:p>
            <a:pPr lvl="0"/>
            <a:endParaRPr lang="en-US"/>
          </a:p>
          <a:p>
            <a:pPr lvl="0"/>
            <a:r>
              <a:rPr lang="ru-RU"/>
              <a:t>Разработка нормативной</a:t>
            </a:r>
            <a:br>
              <a:rPr lang="ru-RU"/>
            </a:br>
            <a:r>
              <a:rPr lang="ru-RU"/>
              <a:t>и методической документации</a:t>
            </a:r>
            <a:br>
              <a:rPr lang="ru-RU"/>
            </a:br>
            <a:r>
              <a:rPr lang="ru-RU"/>
              <a:t>по осуществлению </a:t>
            </a:r>
            <a:br>
              <a:rPr lang="ru-RU"/>
            </a:br>
            <a:r>
              <a:rPr lang="ru-RU"/>
              <a:t>научно-образовательной</a:t>
            </a:r>
            <a:br>
              <a:rPr lang="ru-RU"/>
            </a:br>
            <a:r>
              <a:rPr lang="ru-RU"/>
              <a:t>деятельности в аспирантуре</a:t>
            </a:r>
          </a:p>
        </p:txBody>
      </p:sp>
      <p:sp>
        <p:nvSpPr>
          <p:cNvPr id="21" name="Текст 6"/>
          <p:cNvSpPr>
            <a:spLocks noGrp="1"/>
          </p:cNvSpPr>
          <p:nvPr>
            <p:ph type="body" sz="quarter" idx="23" hasCustomPrompt="1"/>
          </p:nvPr>
        </p:nvSpPr>
        <p:spPr>
          <a:xfrm>
            <a:off x="16052801" y="5123397"/>
            <a:ext cx="6938961" cy="6542999"/>
          </a:xfrm>
        </p:spPr>
        <p:txBody>
          <a:bodyPr>
            <a:noAutofit/>
          </a:bodyPr>
          <a:lstStyle>
            <a:lvl1pPr marL="723900" indent="-723900">
              <a:lnSpc>
                <a:spcPct val="100000"/>
              </a:lnSpc>
              <a:spcBef>
                <a:spcPts val="0"/>
              </a:spcBef>
              <a:buFontTx/>
              <a:buBlip>
                <a:blip r:embed="rId3"/>
              </a:buBlip>
              <a:defRPr sz="3000">
                <a:solidFill>
                  <a:schemeClr val="tx2"/>
                </a:solidFill>
                <a:latin typeface="TT Norms Pro" panose="020B0103030101020204" pitchFamily="34" charset="0"/>
              </a:defRPr>
            </a:lvl1pPr>
          </a:lstStyle>
          <a:p>
            <a:pPr lvl="0"/>
            <a:r>
              <a:rPr lang="ru-RU"/>
              <a:t>Организация и управление научно-образовательным</a:t>
            </a:r>
            <a:br>
              <a:rPr lang="ru-RU"/>
            </a:br>
            <a:r>
              <a:rPr lang="ru-RU"/>
              <a:t>процессом по программам</a:t>
            </a:r>
            <a:br>
              <a:rPr lang="ru-RU"/>
            </a:br>
            <a:r>
              <a:rPr lang="ru-RU"/>
              <a:t>подготовки научно-</a:t>
            </a:r>
            <a:br>
              <a:rPr lang="ru-RU"/>
            </a:br>
            <a:r>
              <a:rPr lang="ru-RU"/>
              <a:t>педагогических кадров</a:t>
            </a:r>
            <a:br>
              <a:rPr lang="ru-RU"/>
            </a:br>
            <a:r>
              <a:rPr lang="ru-RU"/>
              <a:t>в аспирантуре</a:t>
            </a:r>
            <a:endParaRPr lang="en-US"/>
          </a:p>
          <a:p>
            <a:pPr lvl="0"/>
            <a:endParaRPr lang="en-US"/>
          </a:p>
          <a:p>
            <a:pPr lvl="0"/>
            <a:r>
              <a:rPr lang="ru-RU"/>
              <a:t>Разработка нормативной</a:t>
            </a:r>
            <a:br>
              <a:rPr lang="ru-RU"/>
            </a:br>
            <a:r>
              <a:rPr lang="ru-RU"/>
              <a:t>и методической документации</a:t>
            </a:r>
            <a:br>
              <a:rPr lang="ru-RU"/>
            </a:br>
            <a:r>
              <a:rPr lang="ru-RU"/>
              <a:t>по осуществлению </a:t>
            </a:r>
            <a:br>
              <a:rPr lang="ru-RU"/>
            </a:br>
            <a:r>
              <a:rPr lang="ru-RU"/>
              <a:t>научно-образовательной</a:t>
            </a:r>
            <a:br>
              <a:rPr lang="ru-RU"/>
            </a:br>
            <a:r>
              <a:rPr lang="ru-RU"/>
              <a:t>деятельности в аспирантуре</a:t>
            </a:r>
          </a:p>
        </p:txBody>
      </p:sp>
    </p:spTree>
    <p:extLst>
      <p:ext uri="{BB962C8B-B14F-4D97-AF65-F5344CB8AC3E}">
        <p14:creationId xmlns:p14="http://schemas.microsoft.com/office/powerpoint/2010/main" val="32362601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76">
          <p15:clr>
            <a:srgbClr val="FBAE40"/>
          </p15:clr>
        </p15:guide>
        <p15:guide id="2" pos="14483">
          <p15:clr>
            <a:srgbClr val="FBAE40"/>
          </p15:clr>
        </p15:guide>
        <p15:guide id="3" pos="2871">
          <p15:clr>
            <a:srgbClr val="FBAE40"/>
          </p15:clr>
        </p15:guide>
        <p15:guide id="4" pos="3212" userDrawn="1">
          <p15:clr>
            <a:srgbClr val="FBAE40"/>
          </p15:clr>
        </p15:guide>
        <p15:guide id="5" pos="5200">
          <p15:clr>
            <a:srgbClr val="FBAE40"/>
          </p15:clr>
        </p15:guide>
        <p15:guide id="6" pos="5512">
          <p15:clr>
            <a:srgbClr val="FBAE40"/>
          </p15:clr>
        </p15:guide>
        <p15:guide id="7" pos="7512">
          <p15:clr>
            <a:srgbClr val="FBAE40"/>
          </p15:clr>
        </p15:guide>
        <p15:guide id="8" pos="7838">
          <p15:clr>
            <a:srgbClr val="FBAE40"/>
          </p15:clr>
        </p15:guide>
        <p15:guide id="9" pos="9834">
          <p15:clr>
            <a:srgbClr val="FBAE40"/>
          </p15:clr>
        </p15:guide>
        <p15:guide id="10" pos="10152">
          <p15:clr>
            <a:srgbClr val="FBAE40"/>
          </p15:clr>
        </p15:guide>
        <p15:guide id="11" pos="12160">
          <p15:clr>
            <a:srgbClr val="FBAE40"/>
          </p15:clr>
        </p15:guide>
        <p15:guide id="12" pos="12480">
          <p15:clr>
            <a:srgbClr val="FBAE40"/>
          </p15:clr>
        </p15:guide>
        <p15:guide id="13" orient="horz" pos="1344">
          <p15:clr>
            <a:srgbClr val="FBAE40"/>
          </p15:clr>
        </p15:guide>
        <p15:guide id="14" orient="horz" pos="7767">
          <p15:clr>
            <a:srgbClr val="FBAE40"/>
          </p15:clr>
        </p15:guide>
        <p15:guide id="15" orient="horz" pos="8232">
          <p15:clr>
            <a:srgbClr val="FBAE40"/>
          </p15:clr>
        </p15:guide>
        <p15:guide id="16" orient="horz" pos="555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298516" y="2115691"/>
            <a:ext cx="10626783" cy="1878793"/>
          </a:xfrm>
        </p:spPr>
        <p:txBody>
          <a:bodyPr anchor="t">
            <a:noAutofit/>
          </a:bodyPr>
          <a:lstStyle>
            <a:lvl1pPr algn="l">
              <a:lnSpc>
                <a:spcPts val="6700"/>
              </a:lnSpc>
              <a:defRPr sz="73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ru-RU"/>
              <a:t>Заголовок в одну</a:t>
            </a:r>
            <a:br>
              <a:rPr lang="ru-RU"/>
            </a:br>
            <a:r>
              <a:rPr lang="ru-RU"/>
              <a:t>или несколько строк</a:t>
            </a:r>
            <a:endParaRPr lang="en-US"/>
          </a:p>
        </p:txBody>
      </p:sp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5865" y="5430202"/>
            <a:ext cx="162178" cy="1260000"/>
          </a:xfrm>
          <a:prstGeom prst="rect">
            <a:avLst/>
          </a:prstGeom>
        </p:spPr>
      </p:pic>
      <p:sp>
        <p:nvSpPr>
          <p:cNvPr id="8" name="Текст 6"/>
          <p:cNvSpPr>
            <a:spLocks noGrp="1"/>
          </p:cNvSpPr>
          <p:nvPr>
            <p:ph type="body" sz="quarter" idx="12" hasCustomPrompt="1"/>
          </p:nvPr>
        </p:nvSpPr>
        <p:spPr>
          <a:xfrm>
            <a:off x="1298516" y="7924800"/>
            <a:ext cx="6936767" cy="3795712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 b="0">
                <a:solidFill>
                  <a:schemeClr val="tx2"/>
                </a:solidFill>
                <a:latin typeface="TT Norms Pro" panose="020B0103030101020204" pitchFamily="34" charset="0"/>
              </a:defRPr>
            </a:lvl1pPr>
          </a:lstStyle>
          <a:p>
            <a:pPr lvl="0"/>
            <a:r>
              <a:rPr lang="ru-RU"/>
              <a:t>Управление науки формирует приоритетные направления научно-исследовательской деятельности университета </a:t>
            </a:r>
            <a:br>
              <a:rPr lang="ru-RU"/>
            </a:br>
            <a:r>
              <a:rPr lang="ru-RU"/>
              <a:t>с целью создания и освоения </a:t>
            </a:r>
            <a:br>
              <a:rPr lang="ru-RU"/>
            </a:br>
            <a:r>
              <a:rPr lang="ru-RU"/>
              <a:t>новых технологий, становления </a:t>
            </a:r>
            <a:br>
              <a:rPr lang="ru-RU"/>
            </a:br>
            <a:r>
              <a:rPr lang="ru-RU"/>
              <a:t>и развития научных школ</a:t>
            </a:r>
          </a:p>
        </p:txBody>
      </p:sp>
      <p:sp>
        <p:nvSpPr>
          <p:cNvPr id="9" name="Текст 6"/>
          <p:cNvSpPr>
            <a:spLocks noGrp="1"/>
          </p:cNvSpPr>
          <p:nvPr>
            <p:ph type="body" sz="quarter" idx="13" hasCustomPrompt="1"/>
          </p:nvPr>
        </p:nvSpPr>
        <p:spPr>
          <a:xfrm>
            <a:off x="1338232" y="7037794"/>
            <a:ext cx="6897051" cy="59355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/>
              <a:t>Достижения науки</a:t>
            </a:r>
          </a:p>
        </p:txBody>
      </p:sp>
      <p:sp>
        <p:nvSpPr>
          <p:cNvPr id="15" name="Footer Placeholder 3"/>
          <p:cNvSpPr>
            <a:spLocks noGrp="1"/>
          </p:cNvSpPr>
          <p:nvPr>
            <p:ph type="ftr" sz="quarter" idx="19"/>
          </p:nvPr>
        </p:nvSpPr>
        <p:spPr>
          <a:xfrm>
            <a:off x="1302654" y="12664440"/>
            <a:ext cx="6952346" cy="730250"/>
          </a:xfrm>
        </p:spPr>
        <p:txBody>
          <a:bodyPr/>
          <a:lstStyle>
            <a:lvl1pPr algn="l">
              <a:defRPr sz="1500">
                <a:solidFill>
                  <a:schemeClr val="tx2"/>
                </a:solidFill>
              </a:defRPr>
            </a:lvl1pPr>
          </a:lstStyle>
          <a:p>
            <a:r>
              <a:rPr lang="ru-RU"/>
              <a:t>Название презентации в одну или несколько строк</a:t>
            </a:r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20"/>
          </p:nvPr>
        </p:nvSpPr>
        <p:spPr>
          <a:xfrm>
            <a:off x="19812000" y="12630986"/>
            <a:ext cx="3289668" cy="730250"/>
          </a:xfrm>
        </p:spPr>
        <p:txBody>
          <a:bodyPr/>
          <a:lstStyle>
            <a:lvl1pPr>
              <a:defRPr sz="2300">
                <a:solidFill>
                  <a:schemeClr val="accent1"/>
                </a:solidFill>
              </a:defRPr>
            </a:lvl1pPr>
          </a:lstStyle>
          <a:p>
            <a:fld id="{66B5E2A4-72D4-4DC4-9470-54C0EE06E412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7" name="Текст 6"/>
          <p:cNvSpPr>
            <a:spLocks noGrp="1"/>
          </p:cNvSpPr>
          <p:nvPr>
            <p:ph type="body" sz="quarter" idx="21" hasCustomPrompt="1"/>
          </p:nvPr>
        </p:nvSpPr>
        <p:spPr>
          <a:xfrm>
            <a:off x="8674101" y="12856752"/>
            <a:ext cx="6937374" cy="35514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>
                <a:solidFill>
                  <a:schemeClr val="tx2"/>
                </a:solidFill>
              </a:defRPr>
            </a:lvl1pPr>
          </a:lstStyle>
          <a:p>
            <a:pPr lvl="0"/>
            <a:r>
              <a:rPr lang="ru-RU"/>
              <a:t>Докладчик (при необходимости)</a:t>
            </a:r>
          </a:p>
        </p:txBody>
      </p:sp>
      <p:sp>
        <p:nvSpPr>
          <p:cNvPr id="18" name="TextBox 17"/>
          <p:cNvSpPr txBox="1"/>
          <p:nvPr userDrawn="1"/>
        </p:nvSpPr>
        <p:spPr>
          <a:xfrm>
            <a:off x="19812000" y="655721"/>
            <a:ext cx="32733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>
                <a:solidFill>
                  <a:schemeClr val="accent1"/>
                </a:solidFill>
              </a:rPr>
              <a:t>misis.ru</a:t>
            </a:r>
            <a:endParaRPr lang="ru-RU" sz="1600">
              <a:solidFill>
                <a:schemeClr val="accent1"/>
              </a:solidFill>
            </a:endParaRPr>
          </a:p>
        </p:txBody>
      </p:sp>
      <p:pic>
        <p:nvPicPr>
          <p:cNvPr id="19" name="Рисунок 1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48" y="399072"/>
            <a:ext cx="2394000" cy="961940"/>
          </a:xfrm>
          <a:prstGeom prst="rect">
            <a:avLst/>
          </a:prstGeom>
        </p:spPr>
      </p:pic>
      <p:sp>
        <p:nvSpPr>
          <p:cNvPr id="20" name="Текст 6"/>
          <p:cNvSpPr>
            <a:spLocks noGrp="1"/>
          </p:cNvSpPr>
          <p:nvPr>
            <p:ph type="body" sz="quarter" idx="22" hasCustomPrompt="1"/>
          </p:nvPr>
        </p:nvSpPr>
        <p:spPr>
          <a:xfrm>
            <a:off x="8674101" y="7037794"/>
            <a:ext cx="6937374" cy="59355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/>
              <a:t>Научное сообщество</a:t>
            </a:r>
          </a:p>
        </p:txBody>
      </p:sp>
      <p:sp>
        <p:nvSpPr>
          <p:cNvPr id="21" name="Текст 6"/>
          <p:cNvSpPr>
            <a:spLocks noGrp="1"/>
          </p:cNvSpPr>
          <p:nvPr>
            <p:ph type="body" sz="quarter" idx="23" hasCustomPrompt="1"/>
          </p:nvPr>
        </p:nvSpPr>
        <p:spPr>
          <a:xfrm>
            <a:off x="16054389" y="7037793"/>
            <a:ext cx="6937374" cy="59355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/>
              <a:t>События отрасли</a:t>
            </a:r>
          </a:p>
        </p:txBody>
      </p:sp>
      <p:sp>
        <p:nvSpPr>
          <p:cNvPr id="22" name="Текст 6"/>
          <p:cNvSpPr>
            <a:spLocks noGrp="1"/>
          </p:cNvSpPr>
          <p:nvPr>
            <p:ph type="body" sz="quarter" idx="24" hasCustomPrompt="1"/>
          </p:nvPr>
        </p:nvSpPr>
        <p:spPr>
          <a:xfrm>
            <a:off x="8674101" y="7924800"/>
            <a:ext cx="6936767" cy="3795712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 b="0">
                <a:solidFill>
                  <a:schemeClr val="tx2"/>
                </a:solidFill>
                <a:latin typeface="TT Norms Pro" panose="020B0103030101020204" pitchFamily="34" charset="0"/>
              </a:defRPr>
            </a:lvl1pPr>
          </a:lstStyle>
          <a:p>
            <a:pPr lvl="0"/>
            <a:r>
              <a:rPr lang="ru-RU"/>
              <a:t>Управление науки занимается развитием научно-технического потенциала подразделений университета, отдельных сотрудников и университета</a:t>
            </a:r>
            <a:br>
              <a:rPr lang="ru-RU"/>
            </a:br>
            <a:r>
              <a:rPr lang="ru-RU"/>
              <a:t>в целом, способствует правовой охране</a:t>
            </a:r>
          </a:p>
        </p:txBody>
      </p:sp>
      <p:sp>
        <p:nvSpPr>
          <p:cNvPr id="23" name="Текст 6"/>
          <p:cNvSpPr>
            <a:spLocks noGrp="1"/>
          </p:cNvSpPr>
          <p:nvPr>
            <p:ph type="body" sz="quarter" idx="25" hasCustomPrompt="1"/>
          </p:nvPr>
        </p:nvSpPr>
        <p:spPr>
          <a:xfrm>
            <a:off x="16054996" y="7924800"/>
            <a:ext cx="6936767" cy="3795712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 b="0">
                <a:solidFill>
                  <a:schemeClr val="tx2"/>
                </a:solidFill>
                <a:latin typeface="TT Norms Pro" panose="020B0103030101020204" pitchFamily="34" charset="0"/>
              </a:defRPr>
            </a:lvl1pPr>
          </a:lstStyle>
          <a:p>
            <a:pPr lvl="0"/>
            <a:r>
              <a:rPr lang="ru-RU"/>
              <a:t>Информация о реализуемых образовательных программах,</a:t>
            </a:r>
            <a:br>
              <a:rPr lang="ru-RU"/>
            </a:br>
            <a:r>
              <a:rPr lang="ru-RU"/>
              <a:t>в том числе о реализуемых адаптированных образователь-</a:t>
            </a:r>
            <a:br>
              <a:rPr lang="ru-RU"/>
            </a:br>
            <a:r>
              <a:rPr lang="ru-RU" err="1"/>
              <a:t>ных</a:t>
            </a:r>
            <a:r>
              <a:rPr lang="ru-RU"/>
              <a:t> программах, с указанием </a:t>
            </a:r>
            <a:br>
              <a:rPr lang="ru-RU"/>
            </a:br>
            <a:r>
              <a:rPr lang="ru-RU"/>
              <a:t>в отношении каждой </a:t>
            </a:r>
            <a:r>
              <a:rPr lang="ru-RU" err="1"/>
              <a:t>образо</a:t>
            </a:r>
            <a:r>
              <a:rPr lang="ru-RU"/>
              <a:t>-</a:t>
            </a:r>
            <a:br>
              <a:rPr lang="ru-RU"/>
            </a:br>
            <a:r>
              <a:rPr lang="ru-RU" err="1"/>
              <a:t>вательной</a:t>
            </a:r>
            <a:r>
              <a:rPr lang="ru-RU"/>
              <a:t> программы</a:t>
            </a:r>
          </a:p>
        </p:txBody>
      </p:sp>
      <p:pic>
        <p:nvPicPr>
          <p:cNvPr id="3" name="Рисунок 2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0650" y="4776190"/>
            <a:ext cx="2217600" cy="1839600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2351" y="4599790"/>
            <a:ext cx="1764000" cy="2016000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16300" y="4401790"/>
            <a:ext cx="1924670" cy="221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80350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76">
          <p15:clr>
            <a:srgbClr val="FBAE40"/>
          </p15:clr>
        </p15:guide>
        <p15:guide id="2" pos="14483">
          <p15:clr>
            <a:srgbClr val="FBAE40"/>
          </p15:clr>
        </p15:guide>
        <p15:guide id="3" pos="2871">
          <p15:clr>
            <a:srgbClr val="FBAE40"/>
          </p15:clr>
        </p15:guide>
        <p15:guide id="4" pos="3189">
          <p15:clr>
            <a:srgbClr val="FBAE40"/>
          </p15:clr>
        </p15:guide>
        <p15:guide id="5" pos="5200">
          <p15:clr>
            <a:srgbClr val="FBAE40"/>
          </p15:clr>
        </p15:guide>
        <p15:guide id="6" pos="5512">
          <p15:clr>
            <a:srgbClr val="FBAE40"/>
          </p15:clr>
        </p15:guide>
        <p15:guide id="7" pos="7512">
          <p15:clr>
            <a:srgbClr val="FBAE40"/>
          </p15:clr>
        </p15:guide>
        <p15:guide id="8" pos="7838">
          <p15:clr>
            <a:srgbClr val="FBAE40"/>
          </p15:clr>
        </p15:guide>
        <p15:guide id="9" pos="9834">
          <p15:clr>
            <a:srgbClr val="FBAE40"/>
          </p15:clr>
        </p15:guide>
        <p15:guide id="10" pos="10152">
          <p15:clr>
            <a:srgbClr val="FBAE40"/>
          </p15:clr>
        </p15:guide>
        <p15:guide id="11" pos="12160">
          <p15:clr>
            <a:srgbClr val="FBAE40"/>
          </p15:clr>
        </p15:guide>
        <p15:guide id="12" pos="12480">
          <p15:clr>
            <a:srgbClr val="FBAE40"/>
          </p15:clr>
        </p15:guide>
        <p15:guide id="13" orient="horz" pos="1344">
          <p15:clr>
            <a:srgbClr val="FBAE40"/>
          </p15:clr>
        </p15:guide>
        <p15:guide id="14" orient="horz" pos="7767">
          <p15:clr>
            <a:srgbClr val="FBAE40"/>
          </p15:clr>
        </p15:guide>
        <p15:guide id="15" orient="horz" pos="8232">
          <p15:clr>
            <a:srgbClr val="FBAE40"/>
          </p15:clr>
        </p15:guide>
        <p15:guide id="16" orient="horz" pos="555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Акцентные плаш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 userDrawn="1"/>
        </p:nvSpPr>
        <p:spPr>
          <a:xfrm>
            <a:off x="12442825" y="4707604"/>
            <a:ext cx="11939588" cy="5712745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6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298516" y="2115691"/>
            <a:ext cx="10626783" cy="1878793"/>
          </a:xfrm>
        </p:spPr>
        <p:txBody>
          <a:bodyPr anchor="t">
            <a:noAutofit/>
          </a:bodyPr>
          <a:lstStyle>
            <a:lvl1pPr algn="l">
              <a:lnSpc>
                <a:spcPts val="6700"/>
              </a:lnSpc>
              <a:defRPr sz="73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ru-RU"/>
              <a:t>Заголовок в одну</a:t>
            </a:r>
            <a:br>
              <a:rPr lang="ru-RU"/>
            </a:br>
            <a:r>
              <a:rPr lang="ru-RU"/>
              <a:t>или несколько строк</a:t>
            </a:r>
            <a:endParaRPr lang="en-US"/>
          </a:p>
        </p:txBody>
      </p:sp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5865" y="5430202"/>
            <a:ext cx="162178" cy="1260000"/>
          </a:xfrm>
          <a:prstGeom prst="rect">
            <a:avLst/>
          </a:prstGeom>
        </p:spPr>
      </p:pic>
      <p:sp>
        <p:nvSpPr>
          <p:cNvPr id="8" name="Текст 6"/>
          <p:cNvSpPr>
            <a:spLocks noGrp="1"/>
          </p:cNvSpPr>
          <p:nvPr>
            <p:ph type="body" sz="quarter" idx="12" hasCustomPrompt="1"/>
          </p:nvPr>
        </p:nvSpPr>
        <p:spPr>
          <a:xfrm>
            <a:off x="1297765" y="4572755"/>
            <a:ext cx="10627535" cy="770020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 b="0">
                <a:solidFill>
                  <a:schemeClr val="tx2"/>
                </a:solidFill>
                <a:latin typeface="TT Norms Pro Medium" panose="020B0103030101020204" pitchFamily="34" charset="0"/>
              </a:defRPr>
            </a:lvl1pPr>
          </a:lstStyle>
          <a:p>
            <a:pPr lvl="0"/>
            <a:r>
              <a:rPr lang="en-US"/>
              <a:t>Lorem Ipsum is simply dummy text </a:t>
            </a:r>
            <a:br>
              <a:rPr lang="en-US"/>
            </a:br>
            <a:r>
              <a:rPr lang="en-US"/>
              <a:t>of the printing and typesetting industry</a:t>
            </a:r>
          </a:p>
          <a:p>
            <a:pPr lvl="0"/>
            <a:r>
              <a:rPr lang="en-US"/>
              <a:t>Lorem Ipsum has been the industry's standard dummy text ever since the 1500s, when an unknown printer took a galley </a:t>
            </a:r>
            <a:br>
              <a:rPr lang="en-US"/>
            </a:br>
            <a:r>
              <a:rPr lang="en-US"/>
              <a:t>of type and scrambled it to make a type </a:t>
            </a:r>
            <a:br>
              <a:rPr lang="en-US"/>
            </a:br>
            <a:r>
              <a:rPr lang="en-US"/>
              <a:t>specimen book. It has survived not only </a:t>
            </a:r>
            <a:br>
              <a:rPr lang="en-US"/>
            </a:br>
            <a:r>
              <a:rPr lang="en-US"/>
              <a:t>five centuries, but also the leap into electronic typesetting, remaining essentially unchanged. It was </a:t>
            </a:r>
            <a:r>
              <a:rPr lang="en-US" err="1"/>
              <a:t>popularised</a:t>
            </a:r>
            <a:endParaRPr lang="en-US"/>
          </a:p>
        </p:txBody>
      </p:sp>
      <p:sp>
        <p:nvSpPr>
          <p:cNvPr id="15" name="Footer Placeholder 3"/>
          <p:cNvSpPr>
            <a:spLocks noGrp="1"/>
          </p:cNvSpPr>
          <p:nvPr>
            <p:ph type="ftr" sz="quarter" idx="19"/>
          </p:nvPr>
        </p:nvSpPr>
        <p:spPr>
          <a:xfrm>
            <a:off x="1302654" y="12664440"/>
            <a:ext cx="6952346" cy="730250"/>
          </a:xfrm>
        </p:spPr>
        <p:txBody>
          <a:bodyPr/>
          <a:lstStyle>
            <a:lvl1pPr algn="l">
              <a:defRPr sz="1500">
                <a:solidFill>
                  <a:schemeClr val="tx2"/>
                </a:solidFill>
              </a:defRPr>
            </a:lvl1pPr>
          </a:lstStyle>
          <a:p>
            <a:r>
              <a:rPr lang="ru-RU"/>
              <a:t>Название презентации в одну или несколько строк</a:t>
            </a:r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20"/>
          </p:nvPr>
        </p:nvSpPr>
        <p:spPr>
          <a:xfrm>
            <a:off x="19812000" y="12630986"/>
            <a:ext cx="3289668" cy="730250"/>
          </a:xfrm>
        </p:spPr>
        <p:txBody>
          <a:bodyPr/>
          <a:lstStyle>
            <a:lvl1pPr>
              <a:defRPr sz="2300">
                <a:solidFill>
                  <a:schemeClr val="accent1"/>
                </a:solidFill>
              </a:defRPr>
            </a:lvl1pPr>
          </a:lstStyle>
          <a:p>
            <a:fld id="{66B5E2A4-72D4-4DC4-9470-54C0EE06E412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7" name="Текст 6"/>
          <p:cNvSpPr>
            <a:spLocks noGrp="1"/>
          </p:cNvSpPr>
          <p:nvPr>
            <p:ph type="body" sz="quarter" idx="21" hasCustomPrompt="1"/>
          </p:nvPr>
        </p:nvSpPr>
        <p:spPr>
          <a:xfrm>
            <a:off x="8674101" y="12856752"/>
            <a:ext cx="6937374" cy="35514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>
                <a:solidFill>
                  <a:schemeClr val="tx2"/>
                </a:solidFill>
              </a:defRPr>
            </a:lvl1pPr>
          </a:lstStyle>
          <a:p>
            <a:pPr lvl="0"/>
            <a:r>
              <a:rPr lang="ru-RU"/>
              <a:t>Докладчик (при необходимости)</a:t>
            </a:r>
          </a:p>
        </p:txBody>
      </p:sp>
      <p:sp>
        <p:nvSpPr>
          <p:cNvPr id="18" name="TextBox 17"/>
          <p:cNvSpPr txBox="1"/>
          <p:nvPr userDrawn="1"/>
        </p:nvSpPr>
        <p:spPr>
          <a:xfrm>
            <a:off x="19812000" y="655721"/>
            <a:ext cx="32733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>
                <a:solidFill>
                  <a:schemeClr val="accent1"/>
                </a:solidFill>
              </a:rPr>
              <a:t>misis.ru</a:t>
            </a:r>
            <a:endParaRPr lang="ru-RU" sz="1600">
              <a:solidFill>
                <a:schemeClr val="accent1"/>
              </a:solidFill>
            </a:endParaRPr>
          </a:p>
        </p:txBody>
      </p:sp>
      <p:pic>
        <p:nvPicPr>
          <p:cNvPr id="19" name="Рисунок 1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48" y="399072"/>
            <a:ext cx="2394000" cy="961940"/>
          </a:xfrm>
          <a:prstGeom prst="rect">
            <a:avLst/>
          </a:prstGeom>
        </p:spPr>
      </p:pic>
      <p:sp>
        <p:nvSpPr>
          <p:cNvPr id="21" name="Текст 6"/>
          <p:cNvSpPr>
            <a:spLocks noGrp="1"/>
          </p:cNvSpPr>
          <p:nvPr>
            <p:ph type="body" sz="quarter" idx="23" hasCustomPrompt="1"/>
          </p:nvPr>
        </p:nvSpPr>
        <p:spPr>
          <a:xfrm>
            <a:off x="16035339" y="5373052"/>
            <a:ext cx="6937374" cy="1180148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730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ru-RU"/>
              <a:t>1-е место</a:t>
            </a:r>
          </a:p>
        </p:txBody>
      </p:sp>
      <p:sp>
        <p:nvSpPr>
          <p:cNvPr id="23" name="Текст 6"/>
          <p:cNvSpPr>
            <a:spLocks noGrp="1"/>
          </p:cNvSpPr>
          <p:nvPr>
            <p:ph type="body" sz="quarter" idx="25" hasCustomPrompt="1"/>
          </p:nvPr>
        </p:nvSpPr>
        <p:spPr>
          <a:xfrm>
            <a:off x="16035946" y="6648450"/>
            <a:ext cx="6936767" cy="33147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 b="0">
                <a:solidFill>
                  <a:schemeClr val="bg2"/>
                </a:solidFill>
                <a:latin typeface="TT Norms Pro" panose="020B0103030101020204" pitchFamily="34" charset="0"/>
              </a:defRPr>
            </a:lvl1pPr>
          </a:lstStyle>
          <a:p>
            <a:pPr lvl="0"/>
            <a:r>
              <a:rPr lang="ru-RU" err="1"/>
              <a:t>cреди</a:t>
            </a:r>
            <a:r>
              <a:rPr lang="ru-RU"/>
              <a:t> вузов Проекта 5–100 </a:t>
            </a:r>
            <a:br>
              <a:rPr lang="ru-RU"/>
            </a:br>
            <a:r>
              <a:rPr lang="ru-RU"/>
              <a:t>по количеству публикаций </a:t>
            </a:r>
            <a:br>
              <a:rPr lang="ru-RU"/>
            </a:br>
            <a:r>
              <a:rPr lang="ru-RU"/>
              <a:t>в материаловедении </a:t>
            </a:r>
            <a:br>
              <a:rPr lang="ru-RU"/>
            </a:br>
            <a:r>
              <a:rPr lang="ru-RU"/>
              <a:t>в журналах первого квартиля по SNIP</a:t>
            </a:r>
          </a:p>
        </p:txBody>
      </p:sp>
      <p:pic>
        <p:nvPicPr>
          <p:cNvPr id="10" name="Рисунок 9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93279" y="5430202"/>
            <a:ext cx="2167200" cy="1813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34152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76">
          <p15:clr>
            <a:srgbClr val="FBAE40"/>
          </p15:clr>
        </p15:guide>
        <p15:guide id="2" pos="14483">
          <p15:clr>
            <a:srgbClr val="FBAE40"/>
          </p15:clr>
        </p15:guide>
        <p15:guide id="3" pos="2871">
          <p15:clr>
            <a:srgbClr val="FBAE40"/>
          </p15:clr>
        </p15:guide>
        <p15:guide id="4" pos="3189">
          <p15:clr>
            <a:srgbClr val="FBAE40"/>
          </p15:clr>
        </p15:guide>
        <p15:guide id="5" pos="5200">
          <p15:clr>
            <a:srgbClr val="FBAE40"/>
          </p15:clr>
        </p15:guide>
        <p15:guide id="6" pos="5512">
          <p15:clr>
            <a:srgbClr val="FBAE40"/>
          </p15:clr>
        </p15:guide>
        <p15:guide id="7" pos="7512">
          <p15:clr>
            <a:srgbClr val="FBAE40"/>
          </p15:clr>
        </p15:guide>
        <p15:guide id="8" pos="7838">
          <p15:clr>
            <a:srgbClr val="FBAE40"/>
          </p15:clr>
        </p15:guide>
        <p15:guide id="9" pos="9834">
          <p15:clr>
            <a:srgbClr val="FBAE40"/>
          </p15:clr>
        </p15:guide>
        <p15:guide id="10" pos="10152">
          <p15:clr>
            <a:srgbClr val="FBAE40"/>
          </p15:clr>
        </p15:guide>
        <p15:guide id="11" pos="12160">
          <p15:clr>
            <a:srgbClr val="FBAE40"/>
          </p15:clr>
        </p15:guide>
        <p15:guide id="12" pos="12480">
          <p15:clr>
            <a:srgbClr val="FBAE40"/>
          </p15:clr>
        </p15:guide>
        <p15:guide id="13" orient="horz" pos="1344">
          <p15:clr>
            <a:srgbClr val="FBAE40"/>
          </p15:clr>
        </p15:guide>
        <p15:guide id="14" orient="horz" pos="7767">
          <p15:clr>
            <a:srgbClr val="FBAE40"/>
          </p15:clr>
        </p15:guide>
        <p15:guide id="15" orient="horz" pos="8232">
          <p15:clr>
            <a:srgbClr val="FBAE40"/>
          </p15:clr>
        </p15:guide>
        <p15:guide id="16" orient="horz" pos="555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Акцентные плашки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Прямоугольник 25"/>
          <p:cNvSpPr/>
          <p:nvPr userDrawn="1"/>
        </p:nvSpPr>
        <p:spPr>
          <a:xfrm>
            <a:off x="0" y="4707604"/>
            <a:ext cx="24382413" cy="7370096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6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298516" y="2115691"/>
            <a:ext cx="10626783" cy="1878793"/>
          </a:xfrm>
        </p:spPr>
        <p:txBody>
          <a:bodyPr anchor="t">
            <a:noAutofit/>
          </a:bodyPr>
          <a:lstStyle>
            <a:lvl1pPr algn="l">
              <a:lnSpc>
                <a:spcPts val="6700"/>
              </a:lnSpc>
              <a:defRPr sz="73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ru-RU"/>
              <a:t>Заголовок в одну</a:t>
            </a:r>
            <a:br>
              <a:rPr lang="ru-RU"/>
            </a:br>
            <a:r>
              <a:rPr lang="ru-RU"/>
              <a:t>или несколько строк</a:t>
            </a:r>
            <a:endParaRPr lang="en-US"/>
          </a:p>
        </p:txBody>
      </p:sp>
      <p:sp>
        <p:nvSpPr>
          <p:cNvPr id="8" name="Текст 6"/>
          <p:cNvSpPr>
            <a:spLocks noGrp="1"/>
          </p:cNvSpPr>
          <p:nvPr>
            <p:ph type="body" sz="quarter" idx="12" hasCustomPrompt="1"/>
          </p:nvPr>
        </p:nvSpPr>
        <p:spPr>
          <a:xfrm>
            <a:off x="1297765" y="6553200"/>
            <a:ext cx="10627535" cy="20574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 b="0" baseline="0">
                <a:solidFill>
                  <a:schemeClr val="bg2"/>
                </a:solidFill>
                <a:latin typeface="TT Norms Pro Medium" panose="020B0103030101020204" pitchFamily="34" charset="0"/>
              </a:defRPr>
            </a:lvl1pPr>
          </a:lstStyle>
          <a:p>
            <a:pPr lvl="0"/>
            <a:r>
              <a:rPr lang="en-US"/>
              <a:t>Lorem Ipsum is simply dummy text </a:t>
            </a:r>
            <a:br>
              <a:rPr lang="en-US"/>
            </a:br>
            <a:r>
              <a:rPr lang="en-US"/>
              <a:t>of the printing and typesetting industry</a:t>
            </a:r>
          </a:p>
          <a:p>
            <a:pPr lvl="0"/>
            <a:r>
              <a:rPr lang="en-US"/>
              <a:t>Lorem Ipsum is simply</a:t>
            </a:r>
          </a:p>
        </p:txBody>
      </p:sp>
      <p:sp>
        <p:nvSpPr>
          <p:cNvPr id="15" name="Footer Placeholder 3"/>
          <p:cNvSpPr>
            <a:spLocks noGrp="1"/>
          </p:cNvSpPr>
          <p:nvPr>
            <p:ph type="ftr" sz="quarter" idx="19"/>
          </p:nvPr>
        </p:nvSpPr>
        <p:spPr>
          <a:xfrm>
            <a:off x="1302654" y="12664440"/>
            <a:ext cx="6952346" cy="730250"/>
          </a:xfrm>
        </p:spPr>
        <p:txBody>
          <a:bodyPr/>
          <a:lstStyle>
            <a:lvl1pPr algn="l">
              <a:defRPr sz="1500">
                <a:solidFill>
                  <a:schemeClr val="tx2"/>
                </a:solidFill>
              </a:defRPr>
            </a:lvl1pPr>
          </a:lstStyle>
          <a:p>
            <a:r>
              <a:rPr lang="ru-RU"/>
              <a:t>Название презентации в одну или несколько строк</a:t>
            </a:r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20"/>
          </p:nvPr>
        </p:nvSpPr>
        <p:spPr>
          <a:xfrm>
            <a:off x="19812000" y="12630986"/>
            <a:ext cx="3289668" cy="730250"/>
          </a:xfrm>
        </p:spPr>
        <p:txBody>
          <a:bodyPr/>
          <a:lstStyle>
            <a:lvl1pPr>
              <a:defRPr sz="2300">
                <a:solidFill>
                  <a:schemeClr val="accent1"/>
                </a:solidFill>
              </a:defRPr>
            </a:lvl1pPr>
          </a:lstStyle>
          <a:p>
            <a:fld id="{66B5E2A4-72D4-4DC4-9470-54C0EE06E412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7" name="Текст 6"/>
          <p:cNvSpPr>
            <a:spLocks noGrp="1"/>
          </p:cNvSpPr>
          <p:nvPr>
            <p:ph type="body" sz="quarter" idx="21" hasCustomPrompt="1"/>
          </p:nvPr>
        </p:nvSpPr>
        <p:spPr>
          <a:xfrm>
            <a:off x="8674101" y="12856752"/>
            <a:ext cx="6937374" cy="35514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>
                <a:solidFill>
                  <a:schemeClr val="tx2"/>
                </a:solidFill>
              </a:defRPr>
            </a:lvl1pPr>
          </a:lstStyle>
          <a:p>
            <a:pPr lvl="0"/>
            <a:r>
              <a:rPr lang="ru-RU"/>
              <a:t>Докладчик (при необходимости)</a:t>
            </a:r>
          </a:p>
        </p:txBody>
      </p:sp>
      <p:sp>
        <p:nvSpPr>
          <p:cNvPr id="18" name="TextBox 17"/>
          <p:cNvSpPr txBox="1"/>
          <p:nvPr userDrawn="1"/>
        </p:nvSpPr>
        <p:spPr>
          <a:xfrm>
            <a:off x="19812000" y="655721"/>
            <a:ext cx="32733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>
                <a:solidFill>
                  <a:schemeClr val="accent1"/>
                </a:solidFill>
              </a:rPr>
              <a:t>misis.ru</a:t>
            </a:r>
            <a:endParaRPr lang="ru-RU" sz="1600">
              <a:solidFill>
                <a:schemeClr val="accent1"/>
              </a:solidFill>
            </a:endParaRPr>
          </a:p>
        </p:txBody>
      </p:sp>
      <p:pic>
        <p:nvPicPr>
          <p:cNvPr id="19" name="Рисунок 1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48" y="399072"/>
            <a:ext cx="2394000" cy="961940"/>
          </a:xfrm>
          <a:prstGeom prst="rect">
            <a:avLst/>
          </a:prstGeom>
        </p:spPr>
      </p:pic>
      <p:sp>
        <p:nvSpPr>
          <p:cNvPr id="14" name="Текст 6"/>
          <p:cNvSpPr>
            <a:spLocks noGrp="1"/>
          </p:cNvSpPr>
          <p:nvPr>
            <p:ph type="body" sz="quarter" idx="26" hasCustomPrompt="1"/>
          </p:nvPr>
        </p:nvSpPr>
        <p:spPr>
          <a:xfrm>
            <a:off x="1297765" y="5646681"/>
            <a:ext cx="10627535" cy="1039869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5200" b="0" baseline="0">
                <a:solidFill>
                  <a:schemeClr val="accent2"/>
                </a:solidFill>
                <a:latin typeface="TT Norms Pro Medium" panose="020B0103030101020204" pitchFamily="34" charset="0"/>
              </a:defRPr>
            </a:lvl1pPr>
          </a:lstStyle>
          <a:p>
            <a:pPr lvl="0"/>
            <a:r>
              <a:rPr lang="en-US"/>
              <a:t>Lorem Ipsum Lorem</a:t>
            </a:r>
          </a:p>
        </p:txBody>
      </p:sp>
      <p:sp>
        <p:nvSpPr>
          <p:cNvPr id="20" name="Текст 6"/>
          <p:cNvSpPr>
            <a:spLocks noGrp="1"/>
          </p:cNvSpPr>
          <p:nvPr>
            <p:ph type="body" sz="quarter" idx="27" hasCustomPrompt="1"/>
          </p:nvPr>
        </p:nvSpPr>
        <p:spPr>
          <a:xfrm>
            <a:off x="1297765" y="9692640"/>
            <a:ext cx="10627535" cy="20574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 b="0" baseline="0">
                <a:solidFill>
                  <a:schemeClr val="bg2"/>
                </a:solidFill>
                <a:latin typeface="TT Norms Pro Medium" panose="020B0103030101020204" pitchFamily="34" charset="0"/>
              </a:defRPr>
            </a:lvl1pPr>
          </a:lstStyle>
          <a:p>
            <a:pPr lvl="0"/>
            <a:r>
              <a:rPr lang="en-US"/>
              <a:t>Lorem Ipsum is simply dummy text </a:t>
            </a:r>
            <a:br>
              <a:rPr lang="en-US"/>
            </a:br>
            <a:r>
              <a:rPr lang="en-US"/>
              <a:t>of the printing and typesetting industry</a:t>
            </a:r>
          </a:p>
        </p:txBody>
      </p:sp>
      <p:sp>
        <p:nvSpPr>
          <p:cNvPr id="22" name="Текст 6"/>
          <p:cNvSpPr>
            <a:spLocks noGrp="1"/>
          </p:cNvSpPr>
          <p:nvPr>
            <p:ph type="body" sz="quarter" idx="28" hasCustomPrompt="1"/>
          </p:nvPr>
        </p:nvSpPr>
        <p:spPr>
          <a:xfrm>
            <a:off x="1297765" y="8786121"/>
            <a:ext cx="10627535" cy="1039869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5200" b="0" baseline="0">
                <a:solidFill>
                  <a:schemeClr val="accent2"/>
                </a:solidFill>
                <a:latin typeface="TT Norms Pro Medium" panose="020B0103030101020204" pitchFamily="34" charset="0"/>
              </a:defRPr>
            </a:lvl1pPr>
          </a:lstStyle>
          <a:p>
            <a:pPr lvl="0"/>
            <a:r>
              <a:rPr lang="en-US"/>
              <a:t>Lorem Ipsum Lorem</a:t>
            </a:r>
          </a:p>
        </p:txBody>
      </p:sp>
      <p:sp>
        <p:nvSpPr>
          <p:cNvPr id="24" name="Текст 6"/>
          <p:cNvSpPr>
            <a:spLocks noGrp="1"/>
          </p:cNvSpPr>
          <p:nvPr>
            <p:ph type="body" sz="quarter" idx="29" hasCustomPrompt="1"/>
          </p:nvPr>
        </p:nvSpPr>
        <p:spPr>
          <a:xfrm>
            <a:off x="12364228" y="6553200"/>
            <a:ext cx="10627535" cy="519684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 b="0" baseline="0">
                <a:solidFill>
                  <a:schemeClr val="bg2"/>
                </a:solidFill>
                <a:latin typeface="TT Norms Pro Medium" panose="020B0103030101020204" pitchFamily="34" charset="0"/>
              </a:defRPr>
            </a:lvl1pPr>
          </a:lstStyle>
          <a:p>
            <a:pPr lvl="0"/>
            <a:r>
              <a:rPr lang="en-US"/>
              <a:t>Lorem Ipsum is simply dummy text of the printing and typesetting industry. Lorem Ipsum has been the industry's standard dummy text ever since the 1500s, when an unknown printer took a galley of type and scrambled it to make a type specimen book.</a:t>
            </a:r>
            <a:br>
              <a:rPr lang="en-US"/>
            </a:br>
            <a:r>
              <a:rPr lang="en-US"/>
              <a:t>It has survived not only five centuries</a:t>
            </a:r>
          </a:p>
        </p:txBody>
      </p:sp>
      <p:sp>
        <p:nvSpPr>
          <p:cNvPr id="25" name="Текст 6"/>
          <p:cNvSpPr>
            <a:spLocks noGrp="1"/>
          </p:cNvSpPr>
          <p:nvPr>
            <p:ph type="body" sz="quarter" idx="30" hasCustomPrompt="1"/>
          </p:nvPr>
        </p:nvSpPr>
        <p:spPr>
          <a:xfrm>
            <a:off x="12364228" y="5646681"/>
            <a:ext cx="10627535" cy="1039869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5200" b="0" baseline="0">
                <a:solidFill>
                  <a:schemeClr val="accent2"/>
                </a:solidFill>
                <a:latin typeface="TT Norms Pro Medium" panose="020B0103030101020204" pitchFamily="34" charset="0"/>
              </a:defRPr>
            </a:lvl1pPr>
          </a:lstStyle>
          <a:p>
            <a:pPr lvl="0"/>
            <a:r>
              <a:rPr lang="en-US"/>
              <a:t>Lorem Ipsum Lorem</a:t>
            </a:r>
          </a:p>
        </p:txBody>
      </p:sp>
    </p:spTree>
    <p:extLst>
      <p:ext uri="{BB962C8B-B14F-4D97-AF65-F5344CB8AC3E}">
        <p14:creationId xmlns:p14="http://schemas.microsoft.com/office/powerpoint/2010/main" val="7662174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76">
          <p15:clr>
            <a:srgbClr val="FBAE40"/>
          </p15:clr>
        </p15:guide>
        <p15:guide id="2" pos="14483">
          <p15:clr>
            <a:srgbClr val="FBAE40"/>
          </p15:clr>
        </p15:guide>
        <p15:guide id="3" pos="2871">
          <p15:clr>
            <a:srgbClr val="FBAE40"/>
          </p15:clr>
        </p15:guide>
        <p15:guide id="4" pos="3189">
          <p15:clr>
            <a:srgbClr val="FBAE40"/>
          </p15:clr>
        </p15:guide>
        <p15:guide id="5" pos="5200">
          <p15:clr>
            <a:srgbClr val="FBAE40"/>
          </p15:clr>
        </p15:guide>
        <p15:guide id="6" pos="5512">
          <p15:clr>
            <a:srgbClr val="FBAE40"/>
          </p15:clr>
        </p15:guide>
        <p15:guide id="7" pos="7512">
          <p15:clr>
            <a:srgbClr val="FBAE40"/>
          </p15:clr>
        </p15:guide>
        <p15:guide id="8" pos="7838">
          <p15:clr>
            <a:srgbClr val="FBAE40"/>
          </p15:clr>
        </p15:guide>
        <p15:guide id="9" pos="9834">
          <p15:clr>
            <a:srgbClr val="FBAE40"/>
          </p15:clr>
        </p15:guide>
        <p15:guide id="10" pos="10152">
          <p15:clr>
            <a:srgbClr val="FBAE40"/>
          </p15:clr>
        </p15:guide>
        <p15:guide id="11" pos="12160">
          <p15:clr>
            <a:srgbClr val="FBAE40"/>
          </p15:clr>
        </p15:guide>
        <p15:guide id="12" pos="12480">
          <p15:clr>
            <a:srgbClr val="FBAE40"/>
          </p15:clr>
        </p15:guide>
        <p15:guide id="13" orient="horz" pos="1344">
          <p15:clr>
            <a:srgbClr val="FBAE40"/>
          </p15:clr>
        </p15:guide>
        <p15:guide id="14" orient="horz" pos="7767">
          <p15:clr>
            <a:srgbClr val="FBAE40"/>
          </p15:clr>
        </p15:guide>
        <p15:guide id="15" orient="horz" pos="8232">
          <p15:clr>
            <a:srgbClr val="FBAE40"/>
          </p15:clr>
        </p15:guide>
        <p15:guide id="16" orient="horz" pos="555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Акцентные плашки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Прямоугольник 25"/>
          <p:cNvSpPr/>
          <p:nvPr userDrawn="1"/>
        </p:nvSpPr>
        <p:spPr>
          <a:xfrm>
            <a:off x="1" y="3907504"/>
            <a:ext cx="11668538" cy="7370096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6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298516" y="2115691"/>
            <a:ext cx="10626783" cy="1878793"/>
          </a:xfrm>
        </p:spPr>
        <p:txBody>
          <a:bodyPr anchor="t">
            <a:noAutofit/>
          </a:bodyPr>
          <a:lstStyle>
            <a:lvl1pPr algn="l">
              <a:lnSpc>
                <a:spcPts val="6700"/>
              </a:lnSpc>
              <a:defRPr sz="73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ru-RU"/>
              <a:t>Заголовок в одну</a:t>
            </a:r>
            <a:br>
              <a:rPr lang="ru-RU"/>
            </a:br>
            <a:r>
              <a:rPr lang="ru-RU"/>
              <a:t>или несколько строк</a:t>
            </a:r>
            <a:endParaRPr lang="en-US"/>
          </a:p>
        </p:txBody>
      </p:sp>
      <p:sp>
        <p:nvSpPr>
          <p:cNvPr id="15" name="Footer Placeholder 3"/>
          <p:cNvSpPr>
            <a:spLocks noGrp="1"/>
          </p:cNvSpPr>
          <p:nvPr>
            <p:ph type="ftr" sz="quarter" idx="19"/>
          </p:nvPr>
        </p:nvSpPr>
        <p:spPr>
          <a:xfrm>
            <a:off x="1302654" y="12664440"/>
            <a:ext cx="6952346" cy="730250"/>
          </a:xfrm>
        </p:spPr>
        <p:txBody>
          <a:bodyPr/>
          <a:lstStyle>
            <a:lvl1pPr algn="l">
              <a:defRPr sz="1500">
                <a:solidFill>
                  <a:schemeClr val="tx2"/>
                </a:solidFill>
              </a:defRPr>
            </a:lvl1pPr>
          </a:lstStyle>
          <a:p>
            <a:r>
              <a:rPr lang="ru-RU"/>
              <a:t>Название презентации в одну или несколько строк</a:t>
            </a:r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20"/>
          </p:nvPr>
        </p:nvSpPr>
        <p:spPr>
          <a:xfrm>
            <a:off x="19812000" y="12630986"/>
            <a:ext cx="3289668" cy="730250"/>
          </a:xfrm>
        </p:spPr>
        <p:txBody>
          <a:bodyPr/>
          <a:lstStyle>
            <a:lvl1pPr>
              <a:defRPr sz="2300">
                <a:solidFill>
                  <a:schemeClr val="accent1"/>
                </a:solidFill>
              </a:defRPr>
            </a:lvl1pPr>
          </a:lstStyle>
          <a:p>
            <a:fld id="{66B5E2A4-72D4-4DC4-9470-54C0EE06E412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7" name="Текст 6"/>
          <p:cNvSpPr>
            <a:spLocks noGrp="1"/>
          </p:cNvSpPr>
          <p:nvPr>
            <p:ph type="body" sz="quarter" idx="21" hasCustomPrompt="1"/>
          </p:nvPr>
        </p:nvSpPr>
        <p:spPr>
          <a:xfrm>
            <a:off x="8674101" y="12856752"/>
            <a:ext cx="6937374" cy="35514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>
                <a:solidFill>
                  <a:schemeClr val="tx2"/>
                </a:solidFill>
              </a:defRPr>
            </a:lvl1pPr>
          </a:lstStyle>
          <a:p>
            <a:pPr lvl="0"/>
            <a:r>
              <a:rPr lang="ru-RU"/>
              <a:t>Докладчик (при необходимости)</a:t>
            </a:r>
          </a:p>
        </p:txBody>
      </p:sp>
      <p:sp>
        <p:nvSpPr>
          <p:cNvPr id="18" name="TextBox 17"/>
          <p:cNvSpPr txBox="1"/>
          <p:nvPr userDrawn="1"/>
        </p:nvSpPr>
        <p:spPr>
          <a:xfrm>
            <a:off x="19812000" y="655721"/>
            <a:ext cx="32733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>
                <a:solidFill>
                  <a:schemeClr val="accent1"/>
                </a:solidFill>
              </a:rPr>
              <a:t>misis.ru</a:t>
            </a:r>
            <a:endParaRPr lang="ru-RU" sz="1600">
              <a:solidFill>
                <a:schemeClr val="accent1"/>
              </a:solidFill>
            </a:endParaRPr>
          </a:p>
        </p:txBody>
      </p:sp>
      <p:pic>
        <p:nvPicPr>
          <p:cNvPr id="19" name="Рисунок 1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48" y="399072"/>
            <a:ext cx="2394000" cy="961940"/>
          </a:xfrm>
          <a:prstGeom prst="rect">
            <a:avLst/>
          </a:prstGeom>
        </p:spPr>
      </p:pic>
      <p:sp>
        <p:nvSpPr>
          <p:cNvPr id="20" name="Текст 6"/>
          <p:cNvSpPr>
            <a:spLocks noGrp="1"/>
          </p:cNvSpPr>
          <p:nvPr>
            <p:ph type="body" sz="quarter" idx="27" hasCustomPrompt="1"/>
          </p:nvPr>
        </p:nvSpPr>
        <p:spPr>
          <a:xfrm>
            <a:off x="1297766" y="5697107"/>
            <a:ext cx="9217834" cy="507691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 b="0" baseline="0">
                <a:solidFill>
                  <a:schemeClr val="bg2"/>
                </a:solidFill>
                <a:latin typeface="TT Norms Pro Medium" panose="020B0103030101020204" pitchFamily="34" charset="0"/>
              </a:defRPr>
            </a:lvl1pPr>
          </a:lstStyle>
          <a:p>
            <a:pPr lvl="0"/>
            <a:r>
              <a:rPr lang="en-US"/>
              <a:t>Lorem Ipsum is simply dummy text of the printing and typesetting industry. Lorem Ipsum has been the industry's standard dummy text ever since the 1500s, when an unknown printer took a galley of type and scrambled it to make a type specimen book.</a:t>
            </a:r>
          </a:p>
        </p:txBody>
      </p:sp>
      <p:sp>
        <p:nvSpPr>
          <p:cNvPr id="22" name="Текст 6"/>
          <p:cNvSpPr>
            <a:spLocks noGrp="1"/>
          </p:cNvSpPr>
          <p:nvPr>
            <p:ph type="body" sz="quarter" idx="28" hasCustomPrompt="1"/>
          </p:nvPr>
        </p:nvSpPr>
        <p:spPr>
          <a:xfrm>
            <a:off x="1297765" y="4790588"/>
            <a:ext cx="9217835" cy="1039869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5200" b="0" baseline="0">
                <a:solidFill>
                  <a:schemeClr val="accent2"/>
                </a:solidFill>
                <a:latin typeface="TT Norms Pro Medium" panose="020B0103030101020204" pitchFamily="34" charset="0"/>
              </a:defRPr>
            </a:lvl1pPr>
          </a:lstStyle>
          <a:p>
            <a:pPr lvl="0"/>
            <a:r>
              <a:rPr lang="en-US"/>
              <a:t>Lorem Ipsum Lorem</a:t>
            </a:r>
          </a:p>
        </p:txBody>
      </p:sp>
      <p:sp>
        <p:nvSpPr>
          <p:cNvPr id="21" name="Текст 6"/>
          <p:cNvSpPr>
            <a:spLocks noGrp="1"/>
          </p:cNvSpPr>
          <p:nvPr>
            <p:ph type="body" sz="quarter" idx="15" hasCustomPrompt="1"/>
          </p:nvPr>
        </p:nvSpPr>
        <p:spPr>
          <a:xfrm>
            <a:off x="12297582" y="4370696"/>
            <a:ext cx="3749905" cy="2097488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62%</a:t>
            </a:r>
            <a:endParaRPr lang="ru-RU"/>
          </a:p>
        </p:txBody>
      </p:sp>
      <p:sp>
        <p:nvSpPr>
          <p:cNvPr id="23" name="Текст 6"/>
          <p:cNvSpPr>
            <a:spLocks noGrp="1"/>
          </p:cNvSpPr>
          <p:nvPr>
            <p:ph type="body" sz="quarter" idx="14" hasCustomPrompt="1"/>
          </p:nvPr>
        </p:nvSpPr>
        <p:spPr>
          <a:xfrm>
            <a:off x="12354962" y="6468184"/>
            <a:ext cx="3761338" cy="1419726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Lorem Ipsum</a:t>
            </a:r>
            <a:br>
              <a:rPr lang="en-US"/>
            </a:br>
            <a:r>
              <a:rPr lang="en-US"/>
              <a:t>is simply dummy</a:t>
            </a:r>
            <a:br>
              <a:rPr lang="en-US"/>
            </a:br>
            <a:r>
              <a:rPr lang="en-US"/>
              <a:t>text of the printing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515106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76">
          <p15:clr>
            <a:srgbClr val="FBAE40"/>
          </p15:clr>
        </p15:guide>
        <p15:guide id="2" pos="14483">
          <p15:clr>
            <a:srgbClr val="FBAE40"/>
          </p15:clr>
        </p15:guide>
        <p15:guide id="3" pos="2871">
          <p15:clr>
            <a:srgbClr val="FBAE40"/>
          </p15:clr>
        </p15:guide>
        <p15:guide id="4" pos="3189">
          <p15:clr>
            <a:srgbClr val="FBAE40"/>
          </p15:clr>
        </p15:guide>
        <p15:guide id="5" pos="5200">
          <p15:clr>
            <a:srgbClr val="FBAE40"/>
          </p15:clr>
        </p15:guide>
        <p15:guide id="6" pos="5512">
          <p15:clr>
            <a:srgbClr val="FBAE40"/>
          </p15:clr>
        </p15:guide>
        <p15:guide id="7" pos="7512">
          <p15:clr>
            <a:srgbClr val="FBAE40"/>
          </p15:clr>
        </p15:guide>
        <p15:guide id="8" pos="7838">
          <p15:clr>
            <a:srgbClr val="FBAE40"/>
          </p15:clr>
        </p15:guide>
        <p15:guide id="9" pos="9834">
          <p15:clr>
            <a:srgbClr val="FBAE40"/>
          </p15:clr>
        </p15:guide>
        <p15:guide id="10" pos="10152">
          <p15:clr>
            <a:srgbClr val="FBAE40"/>
          </p15:clr>
        </p15:guide>
        <p15:guide id="11" pos="12160">
          <p15:clr>
            <a:srgbClr val="FBAE40"/>
          </p15:clr>
        </p15:guide>
        <p15:guide id="12" pos="12480">
          <p15:clr>
            <a:srgbClr val="FBAE40"/>
          </p15:clr>
        </p15:guide>
        <p15:guide id="13" orient="horz" pos="1344">
          <p15:clr>
            <a:srgbClr val="FBAE40"/>
          </p15:clr>
        </p15:guide>
        <p15:guide id="14" orient="horz" pos="7767">
          <p15:clr>
            <a:srgbClr val="FBAE40"/>
          </p15:clr>
        </p15:guide>
        <p15:guide id="15" orient="horz" pos="8232">
          <p15:clr>
            <a:srgbClr val="FBAE40"/>
          </p15:clr>
        </p15:guide>
        <p15:guide id="16" orient="horz" pos="555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Изображени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298516" y="2115691"/>
            <a:ext cx="10626783" cy="1878793"/>
          </a:xfrm>
        </p:spPr>
        <p:txBody>
          <a:bodyPr anchor="t">
            <a:noAutofit/>
          </a:bodyPr>
          <a:lstStyle>
            <a:lvl1pPr algn="l">
              <a:lnSpc>
                <a:spcPts val="6700"/>
              </a:lnSpc>
              <a:defRPr sz="73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ru-RU"/>
              <a:t>Заголовок в одну</a:t>
            </a:r>
            <a:br>
              <a:rPr lang="ru-RU"/>
            </a:br>
            <a:r>
              <a:rPr lang="ru-RU"/>
              <a:t>или несколько строк</a:t>
            </a:r>
            <a:endParaRPr lang="en-US"/>
          </a:p>
        </p:txBody>
      </p:sp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5865" y="5430202"/>
            <a:ext cx="162178" cy="1260000"/>
          </a:xfrm>
          <a:prstGeom prst="rect">
            <a:avLst/>
          </a:prstGeom>
        </p:spPr>
      </p:pic>
      <p:sp>
        <p:nvSpPr>
          <p:cNvPr id="7" name="Текст 6"/>
          <p:cNvSpPr>
            <a:spLocks noGrp="1"/>
          </p:cNvSpPr>
          <p:nvPr>
            <p:ph type="body" sz="quarter" idx="11" hasCustomPrompt="1"/>
          </p:nvPr>
        </p:nvSpPr>
        <p:spPr>
          <a:xfrm>
            <a:off x="1298516" y="7281725"/>
            <a:ext cx="10626783" cy="1050706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5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What is Lorem Ipsum?</a:t>
            </a:r>
            <a:endParaRPr lang="ru-RU"/>
          </a:p>
        </p:txBody>
      </p:sp>
      <p:sp>
        <p:nvSpPr>
          <p:cNvPr id="8" name="Текст 6"/>
          <p:cNvSpPr>
            <a:spLocks noGrp="1"/>
          </p:cNvSpPr>
          <p:nvPr>
            <p:ph type="body" sz="quarter" idx="12" hasCustomPrompt="1"/>
          </p:nvPr>
        </p:nvSpPr>
        <p:spPr>
          <a:xfrm>
            <a:off x="1298516" y="8328993"/>
            <a:ext cx="14312959" cy="367747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Lorem Ipsum is simply dummy text of the printing and</a:t>
            </a:r>
            <a:br>
              <a:rPr lang="en-US"/>
            </a:br>
            <a:r>
              <a:rPr lang="en-US"/>
              <a:t>typesetting industry. Lorem Ipsum has been the industry's</a:t>
            </a:r>
            <a:br>
              <a:rPr lang="en-US"/>
            </a:br>
            <a:r>
              <a:rPr lang="en-US"/>
              <a:t>standard dummy text ever since the 1500s, when </a:t>
            </a:r>
            <a:br>
              <a:rPr lang="en-US"/>
            </a:br>
            <a:r>
              <a:rPr lang="en-US"/>
              <a:t>an unknown printer took a galley of type and scrambled</a:t>
            </a:r>
            <a:br>
              <a:rPr lang="en-US"/>
            </a:br>
            <a:r>
              <a:rPr lang="en-US"/>
              <a:t>it to make a type specimen book</a:t>
            </a:r>
            <a:endParaRPr lang="ru-RU"/>
          </a:p>
        </p:txBody>
      </p:sp>
      <p:sp>
        <p:nvSpPr>
          <p:cNvPr id="15" name="Footer Placeholder 3"/>
          <p:cNvSpPr>
            <a:spLocks noGrp="1"/>
          </p:cNvSpPr>
          <p:nvPr>
            <p:ph type="ftr" sz="quarter" idx="19"/>
          </p:nvPr>
        </p:nvSpPr>
        <p:spPr>
          <a:xfrm>
            <a:off x="1302654" y="12664440"/>
            <a:ext cx="6952346" cy="730250"/>
          </a:xfrm>
        </p:spPr>
        <p:txBody>
          <a:bodyPr/>
          <a:lstStyle>
            <a:lvl1pPr algn="l">
              <a:defRPr sz="1500">
                <a:solidFill>
                  <a:schemeClr val="tx2"/>
                </a:solidFill>
              </a:defRPr>
            </a:lvl1pPr>
          </a:lstStyle>
          <a:p>
            <a:r>
              <a:rPr lang="ru-RU"/>
              <a:t>Название презентации в одну или несколько строк</a:t>
            </a:r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20"/>
          </p:nvPr>
        </p:nvSpPr>
        <p:spPr>
          <a:xfrm>
            <a:off x="19812000" y="12630986"/>
            <a:ext cx="3289668" cy="730250"/>
          </a:xfrm>
        </p:spPr>
        <p:txBody>
          <a:bodyPr/>
          <a:lstStyle>
            <a:lvl1pPr>
              <a:defRPr sz="2300">
                <a:solidFill>
                  <a:schemeClr val="accent1"/>
                </a:solidFill>
              </a:defRPr>
            </a:lvl1pPr>
          </a:lstStyle>
          <a:p>
            <a:fld id="{66B5E2A4-72D4-4DC4-9470-54C0EE06E412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7" name="Текст 6"/>
          <p:cNvSpPr>
            <a:spLocks noGrp="1"/>
          </p:cNvSpPr>
          <p:nvPr>
            <p:ph type="body" sz="quarter" idx="21" hasCustomPrompt="1"/>
          </p:nvPr>
        </p:nvSpPr>
        <p:spPr>
          <a:xfrm>
            <a:off x="8674101" y="12856752"/>
            <a:ext cx="6937374" cy="35514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>
                <a:solidFill>
                  <a:schemeClr val="tx2"/>
                </a:solidFill>
              </a:defRPr>
            </a:lvl1pPr>
          </a:lstStyle>
          <a:p>
            <a:pPr lvl="0"/>
            <a:r>
              <a:rPr lang="ru-RU"/>
              <a:t>Докладчик (при необходимости)</a:t>
            </a:r>
          </a:p>
        </p:txBody>
      </p:sp>
      <p:sp>
        <p:nvSpPr>
          <p:cNvPr id="18" name="TextBox 17"/>
          <p:cNvSpPr txBox="1"/>
          <p:nvPr userDrawn="1"/>
        </p:nvSpPr>
        <p:spPr>
          <a:xfrm>
            <a:off x="19812000" y="655721"/>
            <a:ext cx="32733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>
                <a:solidFill>
                  <a:schemeClr val="accent1"/>
                </a:solidFill>
              </a:rPr>
              <a:t>misis.ru</a:t>
            </a:r>
            <a:endParaRPr lang="ru-RU" sz="1600">
              <a:solidFill>
                <a:schemeClr val="accent1"/>
              </a:solidFill>
            </a:endParaRPr>
          </a:p>
        </p:txBody>
      </p:sp>
      <p:pic>
        <p:nvPicPr>
          <p:cNvPr id="19" name="Рисунок 1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48" y="399072"/>
            <a:ext cx="2394000" cy="961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88553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76">
          <p15:clr>
            <a:srgbClr val="FBAE40"/>
          </p15:clr>
        </p15:guide>
        <p15:guide id="2" pos="14483">
          <p15:clr>
            <a:srgbClr val="FBAE40"/>
          </p15:clr>
        </p15:guide>
        <p15:guide id="3" pos="2871">
          <p15:clr>
            <a:srgbClr val="FBAE40"/>
          </p15:clr>
        </p15:guide>
        <p15:guide id="4" pos="3189">
          <p15:clr>
            <a:srgbClr val="FBAE40"/>
          </p15:clr>
        </p15:guide>
        <p15:guide id="5" pos="5200">
          <p15:clr>
            <a:srgbClr val="FBAE40"/>
          </p15:clr>
        </p15:guide>
        <p15:guide id="6" pos="5512">
          <p15:clr>
            <a:srgbClr val="FBAE40"/>
          </p15:clr>
        </p15:guide>
        <p15:guide id="7" pos="7512">
          <p15:clr>
            <a:srgbClr val="FBAE40"/>
          </p15:clr>
        </p15:guide>
        <p15:guide id="8" pos="7838">
          <p15:clr>
            <a:srgbClr val="FBAE40"/>
          </p15:clr>
        </p15:guide>
        <p15:guide id="9" pos="9834">
          <p15:clr>
            <a:srgbClr val="FBAE40"/>
          </p15:clr>
        </p15:guide>
        <p15:guide id="10" pos="10152">
          <p15:clr>
            <a:srgbClr val="FBAE40"/>
          </p15:clr>
        </p15:guide>
        <p15:guide id="11" pos="12160">
          <p15:clr>
            <a:srgbClr val="FBAE40"/>
          </p15:clr>
        </p15:guide>
        <p15:guide id="12" pos="12480">
          <p15:clr>
            <a:srgbClr val="FBAE40"/>
          </p15:clr>
        </p15:guide>
        <p15:guide id="13" orient="horz" pos="1344">
          <p15:clr>
            <a:srgbClr val="FBAE40"/>
          </p15:clr>
        </p15:guide>
        <p15:guide id="14" orient="horz" pos="7767">
          <p15:clr>
            <a:srgbClr val="FBAE40"/>
          </p15:clr>
        </p15:guide>
        <p15:guide id="15" orient="horz" pos="8232">
          <p15:clr>
            <a:srgbClr val="FBAE40"/>
          </p15:clr>
        </p15:guide>
        <p15:guide id="16" orient="horz" pos="555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Изображения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298516" y="2115691"/>
            <a:ext cx="10626783" cy="1878793"/>
          </a:xfrm>
        </p:spPr>
        <p:txBody>
          <a:bodyPr anchor="t">
            <a:noAutofit/>
          </a:bodyPr>
          <a:lstStyle>
            <a:lvl1pPr algn="l">
              <a:lnSpc>
                <a:spcPts val="6700"/>
              </a:lnSpc>
              <a:defRPr sz="73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ru-RU"/>
              <a:t>Заголовок в одну</a:t>
            </a:r>
            <a:br>
              <a:rPr lang="ru-RU"/>
            </a:br>
            <a:r>
              <a:rPr lang="ru-RU"/>
              <a:t>или несколько строк</a:t>
            </a:r>
            <a:endParaRPr lang="en-US"/>
          </a:p>
        </p:txBody>
      </p:sp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5865" y="5430202"/>
            <a:ext cx="162178" cy="1260000"/>
          </a:xfrm>
          <a:prstGeom prst="rect">
            <a:avLst/>
          </a:prstGeom>
        </p:spPr>
      </p:pic>
      <p:sp>
        <p:nvSpPr>
          <p:cNvPr id="8" name="Текст 6"/>
          <p:cNvSpPr>
            <a:spLocks noGrp="1"/>
          </p:cNvSpPr>
          <p:nvPr>
            <p:ph type="body" sz="quarter" idx="12" hasCustomPrompt="1"/>
          </p:nvPr>
        </p:nvSpPr>
        <p:spPr>
          <a:xfrm>
            <a:off x="1298517" y="4572001"/>
            <a:ext cx="10626784" cy="367747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>
                <a:solidFill>
                  <a:schemeClr val="tx2"/>
                </a:solidFill>
                <a:latin typeface="TT Norms Pro" panose="020B0103030101020204" pitchFamily="34" charset="0"/>
              </a:defRPr>
            </a:lvl1pPr>
          </a:lstStyle>
          <a:p>
            <a:pPr lvl="0"/>
            <a:r>
              <a:rPr lang="ru-RU"/>
              <a:t>Стратегической целью НИТУ «МИСИС», согласно </a:t>
            </a:r>
            <a:br>
              <a:rPr lang="ru-RU"/>
            </a:br>
            <a:r>
              <a:rPr lang="ru-RU"/>
              <a:t>участию в Проекте «5–100», является вхождение </a:t>
            </a:r>
            <a:br>
              <a:rPr lang="ru-RU"/>
            </a:br>
            <a:r>
              <a:rPr lang="ru-RU"/>
              <a:t>и закрепление в числе ведущих мировых университетов </a:t>
            </a:r>
            <a:br>
              <a:rPr lang="ru-RU"/>
            </a:br>
            <a:r>
              <a:rPr lang="ru-RU"/>
              <a:t>по основным международным рейтингам (THE, QS), </a:t>
            </a:r>
            <a:br>
              <a:rPr lang="ru-RU"/>
            </a:br>
            <a:r>
              <a:rPr lang="ru-RU"/>
              <a:t>за счёт фундаментальных и прикладных исследований мирового уровня в материаловедении, нано- и </a:t>
            </a:r>
            <a:r>
              <a:rPr lang="ru-RU" err="1"/>
              <a:t>био</a:t>
            </a:r>
            <a:r>
              <a:rPr lang="ru-RU"/>
              <a:t>-</a:t>
            </a:r>
            <a:br>
              <a:rPr lang="ru-RU"/>
            </a:br>
            <a:r>
              <a:rPr lang="ru-RU"/>
              <a:t>технологиях, металлургии и горном деле.</a:t>
            </a:r>
          </a:p>
        </p:txBody>
      </p:sp>
      <p:sp>
        <p:nvSpPr>
          <p:cNvPr id="15" name="Footer Placeholder 3"/>
          <p:cNvSpPr>
            <a:spLocks noGrp="1"/>
          </p:cNvSpPr>
          <p:nvPr>
            <p:ph type="ftr" sz="quarter" idx="19"/>
          </p:nvPr>
        </p:nvSpPr>
        <p:spPr>
          <a:xfrm>
            <a:off x="1302654" y="12664440"/>
            <a:ext cx="6952346" cy="730250"/>
          </a:xfrm>
        </p:spPr>
        <p:txBody>
          <a:bodyPr/>
          <a:lstStyle>
            <a:lvl1pPr algn="l">
              <a:defRPr sz="1500">
                <a:solidFill>
                  <a:schemeClr val="tx2"/>
                </a:solidFill>
              </a:defRPr>
            </a:lvl1pPr>
          </a:lstStyle>
          <a:p>
            <a:r>
              <a:rPr lang="ru-RU"/>
              <a:t>Название презентации в одну или несколько строк</a:t>
            </a:r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20"/>
          </p:nvPr>
        </p:nvSpPr>
        <p:spPr>
          <a:xfrm>
            <a:off x="19812000" y="12630986"/>
            <a:ext cx="3289668" cy="730250"/>
          </a:xfrm>
        </p:spPr>
        <p:txBody>
          <a:bodyPr/>
          <a:lstStyle>
            <a:lvl1pPr>
              <a:defRPr sz="2300">
                <a:solidFill>
                  <a:schemeClr val="accent1"/>
                </a:solidFill>
              </a:defRPr>
            </a:lvl1pPr>
          </a:lstStyle>
          <a:p>
            <a:fld id="{66B5E2A4-72D4-4DC4-9470-54C0EE06E412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7" name="Текст 6"/>
          <p:cNvSpPr>
            <a:spLocks noGrp="1"/>
          </p:cNvSpPr>
          <p:nvPr>
            <p:ph type="body" sz="quarter" idx="21" hasCustomPrompt="1"/>
          </p:nvPr>
        </p:nvSpPr>
        <p:spPr>
          <a:xfrm>
            <a:off x="8674101" y="12856752"/>
            <a:ext cx="6937374" cy="35514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>
                <a:solidFill>
                  <a:schemeClr val="tx2"/>
                </a:solidFill>
              </a:defRPr>
            </a:lvl1pPr>
          </a:lstStyle>
          <a:p>
            <a:pPr lvl="0"/>
            <a:r>
              <a:rPr lang="ru-RU"/>
              <a:t>Докладчик (при необходимости)</a:t>
            </a:r>
          </a:p>
        </p:txBody>
      </p:sp>
      <p:sp>
        <p:nvSpPr>
          <p:cNvPr id="18" name="TextBox 17"/>
          <p:cNvSpPr txBox="1"/>
          <p:nvPr userDrawn="1"/>
        </p:nvSpPr>
        <p:spPr>
          <a:xfrm>
            <a:off x="19812000" y="655721"/>
            <a:ext cx="32733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>
                <a:solidFill>
                  <a:schemeClr val="accent1"/>
                </a:solidFill>
              </a:rPr>
              <a:t>misis.ru</a:t>
            </a:r>
            <a:endParaRPr lang="ru-RU" sz="1600">
              <a:solidFill>
                <a:schemeClr val="accent1"/>
              </a:solidFill>
            </a:endParaRPr>
          </a:p>
        </p:txBody>
      </p:sp>
      <p:pic>
        <p:nvPicPr>
          <p:cNvPr id="19" name="Рисунок 1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48" y="399072"/>
            <a:ext cx="2394000" cy="961940"/>
          </a:xfrm>
          <a:prstGeom prst="rect">
            <a:avLst/>
          </a:prstGeom>
        </p:spPr>
      </p:pic>
      <p:sp>
        <p:nvSpPr>
          <p:cNvPr id="11" name="Прямоугольник 10"/>
          <p:cNvSpPr/>
          <p:nvPr userDrawn="1"/>
        </p:nvSpPr>
        <p:spPr>
          <a:xfrm>
            <a:off x="0" y="8533870"/>
            <a:ext cx="11939588" cy="3393087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6"/>
              </a:solidFill>
            </a:endParaRPr>
          </a:p>
        </p:txBody>
      </p:sp>
      <p:sp>
        <p:nvSpPr>
          <p:cNvPr id="12" name="Текст 6"/>
          <p:cNvSpPr>
            <a:spLocks noGrp="1"/>
          </p:cNvSpPr>
          <p:nvPr>
            <p:ph type="body" sz="quarter" idx="23" hasCustomPrompt="1"/>
          </p:nvPr>
        </p:nvSpPr>
        <p:spPr>
          <a:xfrm>
            <a:off x="4943270" y="8909945"/>
            <a:ext cx="6982029" cy="1180148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730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ru-RU"/>
              <a:t>ТОП-10</a:t>
            </a:r>
          </a:p>
        </p:txBody>
      </p:sp>
      <p:sp>
        <p:nvSpPr>
          <p:cNvPr id="13" name="Текст 6"/>
          <p:cNvSpPr>
            <a:spLocks noGrp="1"/>
          </p:cNvSpPr>
          <p:nvPr>
            <p:ph type="body" sz="quarter" idx="25" hasCustomPrompt="1"/>
          </p:nvPr>
        </p:nvSpPr>
        <p:spPr>
          <a:xfrm>
            <a:off x="4956411" y="10189483"/>
            <a:ext cx="6968889" cy="137966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 b="0" spc="-70" baseline="0">
                <a:solidFill>
                  <a:schemeClr val="bg2"/>
                </a:solidFill>
                <a:latin typeface="TT Norms Pro" panose="020B0103030101020204" pitchFamily="34" charset="0"/>
              </a:defRPr>
            </a:lvl1pPr>
          </a:lstStyle>
          <a:p>
            <a:pPr lvl="0"/>
            <a:r>
              <a:rPr lang="ru-RU"/>
              <a:t>Среди лучших вузов России, </a:t>
            </a:r>
            <a:br>
              <a:rPr lang="ru-RU"/>
            </a:br>
            <a:r>
              <a:rPr lang="ru-RU"/>
              <a:t>по версии «Интерфакс»</a:t>
            </a:r>
          </a:p>
        </p:txBody>
      </p:sp>
      <p:pic>
        <p:nvPicPr>
          <p:cNvPr id="20" name="Рисунок 19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8581" y="9141922"/>
            <a:ext cx="2286000" cy="1896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04096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76">
          <p15:clr>
            <a:srgbClr val="FBAE40"/>
          </p15:clr>
        </p15:guide>
        <p15:guide id="2" pos="14483">
          <p15:clr>
            <a:srgbClr val="FBAE40"/>
          </p15:clr>
        </p15:guide>
        <p15:guide id="3" pos="2871">
          <p15:clr>
            <a:srgbClr val="FBAE40"/>
          </p15:clr>
        </p15:guide>
        <p15:guide id="4" pos="3189">
          <p15:clr>
            <a:srgbClr val="FBAE40"/>
          </p15:clr>
        </p15:guide>
        <p15:guide id="5" pos="5200">
          <p15:clr>
            <a:srgbClr val="FBAE40"/>
          </p15:clr>
        </p15:guide>
        <p15:guide id="6" pos="5512">
          <p15:clr>
            <a:srgbClr val="FBAE40"/>
          </p15:clr>
        </p15:guide>
        <p15:guide id="7" pos="7512">
          <p15:clr>
            <a:srgbClr val="FBAE40"/>
          </p15:clr>
        </p15:guide>
        <p15:guide id="8" pos="7838">
          <p15:clr>
            <a:srgbClr val="FBAE40"/>
          </p15:clr>
        </p15:guide>
        <p15:guide id="9" pos="9834">
          <p15:clr>
            <a:srgbClr val="FBAE40"/>
          </p15:clr>
        </p15:guide>
        <p15:guide id="10" pos="10152">
          <p15:clr>
            <a:srgbClr val="FBAE40"/>
          </p15:clr>
        </p15:guide>
        <p15:guide id="11" pos="12160">
          <p15:clr>
            <a:srgbClr val="FBAE40"/>
          </p15:clr>
        </p15:guide>
        <p15:guide id="12" pos="12480">
          <p15:clr>
            <a:srgbClr val="FBAE40"/>
          </p15:clr>
        </p15:guide>
        <p15:guide id="13" orient="horz" pos="1344">
          <p15:clr>
            <a:srgbClr val="FBAE40"/>
          </p15:clr>
        </p15:guide>
        <p15:guide id="14" orient="horz" pos="7767">
          <p15:clr>
            <a:srgbClr val="FBAE40"/>
          </p15:clr>
        </p15:guide>
        <p15:guide id="15" orient="horz" pos="8232">
          <p15:clr>
            <a:srgbClr val="FBAE40"/>
          </p15:clr>
        </p15:guide>
        <p15:guide id="16" orient="horz" pos="555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иаграмм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298516" y="2115691"/>
            <a:ext cx="10626783" cy="1103759"/>
          </a:xfrm>
        </p:spPr>
        <p:txBody>
          <a:bodyPr anchor="t">
            <a:noAutofit/>
          </a:bodyPr>
          <a:lstStyle>
            <a:lvl1pPr algn="l">
              <a:lnSpc>
                <a:spcPts val="6700"/>
              </a:lnSpc>
              <a:defRPr sz="73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ru-RU"/>
              <a:t>Заголовок раздела</a:t>
            </a:r>
            <a:endParaRPr lang="en-US"/>
          </a:p>
        </p:txBody>
      </p:sp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5865" y="5430202"/>
            <a:ext cx="162178" cy="1260000"/>
          </a:xfrm>
          <a:prstGeom prst="rect">
            <a:avLst/>
          </a:prstGeom>
        </p:spPr>
      </p:pic>
      <p:sp>
        <p:nvSpPr>
          <p:cNvPr id="7" name="Текст 6"/>
          <p:cNvSpPr>
            <a:spLocks noGrp="1"/>
          </p:cNvSpPr>
          <p:nvPr>
            <p:ph type="body" sz="quarter" idx="11" hasCustomPrompt="1"/>
          </p:nvPr>
        </p:nvSpPr>
        <p:spPr>
          <a:xfrm>
            <a:off x="16035130" y="2029598"/>
            <a:ext cx="6956632" cy="1050706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/>
              <a:t>Название данного</a:t>
            </a:r>
            <a:br>
              <a:rPr lang="ru-RU"/>
            </a:br>
            <a:r>
              <a:rPr lang="ru-RU"/>
              <a:t>блока информации</a:t>
            </a:r>
          </a:p>
        </p:txBody>
      </p:sp>
      <p:sp>
        <p:nvSpPr>
          <p:cNvPr id="15" name="Footer Placeholder 3"/>
          <p:cNvSpPr>
            <a:spLocks noGrp="1"/>
          </p:cNvSpPr>
          <p:nvPr>
            <p:ph type="ftr" sz="quarter" idx="19"/>
          </p:nvPr>
        </p:nvSpPr>
        <p:spPr>
          <a:xfrm>
            <a:off x="1302654" y="12664440"/>
            <a:ext cx="6952346" cy="730250"/>
          </a:xfrm>
        </p:spPr>
        <p:txBody>
          <a:bodyPr/>
          <a:lstStyle>
            <a:lvl1pPr algn="l">
              <a:defRPr sz="1500">
                <a:solidFill>
                  <a:schemeClr val="tx2"/>
                </a:solidFill>
              </a:defRPr>
            </a:lvl1pPr>
          </a:lstStyle>
          <a:p>
            <a:r>
              <a:rPr lang="ru-RU"/>
              <a:t>Название презентации в одну или несколько строк</a:t>
            </a:r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20"/>
          </p:nvPr>
        </p:nvSpPr>
        <p:spPr>
          <a:xfrm>
            <a:off x="19812000" y="12630986"/>
            <a:ext cx="3289668" cy="730250"/>
          </a:xfrm>
        </p:spPr>
        <p:txBody>
          <a:bodyPr/>
          <a:lstStyle>
            <a:lvl1pPr>
              <a:defRPr sz="2300">
                <a:solidFill>
                  <a:schemeClr val="accent1"/>
                </a:solidFill>
              </a:defRPr>
            </a:lvl1pPr>
          </a:lstStyle>
          <a:p>
            <a:fld id="{66B5E2A4-72D4-4DC4-9470-54C0EE06E412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7" name="Текст 6"/>
          <p:cNvSpPr>
            <a:spLocks noGrp="1"/>
          </p:cNvSpPr>
          <p:nvPr>
            <p:ph type="body" sz="quarter" idx="21" hasCustomPrompt="1"/>
          </p:nvPr>
        </p:nvSpPr>
        <p:spPr>
          <a:xfrm>
            <a:off x="8674101" y="12856752"/>
            <a:ext cx="6937374" cy="35514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>
                <a:solidFill>
                  <a:schemeClr val="tx2"/>
                </a:solidFill>
              </a:defRPr>
            </a:lvl1pPr>
          </a:lstStyle>
          <a:p>
            <a:pPr lvl="0"/>
            <a:r>
              <a:rPr lang="ru-RU"/>
              <a:t>Докладчик (при необходимости)</a:t>
            </a:r>
          </a:p>
        </p:txBody>
      </p:sp>
      <p:sp>
        <p:nvSpPr>
          <p:cNvPr id="18" name="TextBox 17"/>
          <p:cNvSpPr txBox="1"/>
          <p:nvPr userDrawn="1"/>
        </p:nvSpPr>
        <p:spPr>
          <a:xfrm>
            <a:off x="19812000" y="655721"/>
            <a:ext cx="32733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>
                <a:solidFill>
                  <a:schemeClr val="accent1"/>
                </a:solidFill>
              </a:rPr>
              <a:t>misis.ru</a:t>
            </a:r>
            <a:endParaRPr lang="ru-RU" sz="1600">
              <a:solidFill>
                <a:schemeClr val="accent1"/>
              </a:solidFill>
            </a:endParaRPr>
          </a:p>
        </p:txBody>
      </p:sp>
      <p:pic>
        <p:nvPicPr>
          <p:cNvPr id="19" name="Рисунок 1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48" y="399072"/>
            <a:ext cx="2394000" cy="961940"/>
          </a:xfrm>
          <a:prstGeom prst="rect">
            <a:avLst/>
          </a:prstGeom>
        </p:spPr>
      </p:pic>
      <p:sp>
        <p:nvSpPr>
          <p:cNvPr id="20" name="Текст 6"/>
          <p:cNvSpPr>
            <a:spLocks noGrp="1"/>
          </p:cNvSpPr>
          <p:nvPr>
            <p:ph type="body" sz="quarter" idx="22" hasCustomPrompt="1"/>
          </p:nvPr>
        </p:nvSpPr>
        <p:spPr>
          <a:xfrm>
            <a:off x="16056666" y="3664028"/>
            <a:ext cx="6937374" cy="2657259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3000">
                <a:solidFill>
                  <a:schemeClr val="tx2"/>
                </a:solidFill>
                <a:latin typeface="TT Norms Pro" panose="020B0103030101020204" pitchFamily="34" charset="0"/>
              </a:defRPr>
            </a:lvl1pPr>
          </a:lstStyle>
          <a:p>
            <a:pPr lvl="0"/>
            <a:r>
              <a:rPr lang="ru-RU"/>
              <a:t>Постоянный поиск наиболее эффективных действующих</a:t>
            </a:r>
            <a:br>
              <a:rPr lang="ru-RU"/>
            </a:br>
            <a:r>
              <a:rPr lang="ru-RU"/>
              <a:t>веществ и их комбинаций,</a:t>
            </a:r>
            <a:br>
              <a:rPr lang="ru-RU"/>
            </a:br>
            <a:r>
              <a:rPr lang="ru-RU"/>
              <a:t>а также оригинальные</a:t>
            </a:r>
            <a:br>
              <a:rPr lang="ru-RU"/>
            </a:br>
            <a:r>
              <a:rPr lang="ru-RU"/>
              <a:t>инновационные препараты</a:t>
            </a:r>
          </a:p>
        </p:txBody>
      </p:sp>
    </p:spTree>
    <p:extLst>
      <p:ext uri="{BB962C8B-B14F-4D97-AF65-F5344CB8AC3E}">
        <p14:creationId xmlns:p14="http://schemas.microsoft.com/office/powerpoint/2010/main" val="25226941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76">
          <p15:clr>
            <a:srgbClr val="FBAE40"/>
          </p15:clr>
        </p15:guide>
        <p15:guide id="2" pos="14483">
          <p15:clr>
            <a:srgbClr val="FBAE40"/>
          </p15:clr>
        </p15:guide>
        <p15:guide id="3" pos="2871">
          <p15:clr>
            <a:srgbClr val="FBAE40"/>
          </p15:clr>
        </p15:guide>
        <p15:guide id="4" pos="3212">
          <p15:clr>
            <a:srgbClr val="FBAE40"/>
          </p15:clr>
        </p15:guide>
        <p15:guide id="5" pos="5200">
          <p15:clr>
            <a:srgbClr val="FBAE40"/>
          </p15:clr>
        </p15:guide>
        <p15:guide id="6" pos="5512">
          <p15:clr>
            <a:srgbClr val="FBAE40"/>
          </p15:clr>
        </p15:guide>
        <p15:guide id="7" pos="7512">
          <p15:clr>
            <a:srgbClr val="FBAE40"/>
          </p15:clr>
        </p15:guide>
        <p15:guide id="8" pos="7838">
          <p15:clr>
            <a:srgbClr val="FBAE40"/>
          </p15:clr>
        </p15:guide>
        <p15:guide id="9" pos="9834">
          <p15:clr>
            <a:srgbClr val="FBAE40"/>
          </p15:clr>
        </p15:guide>
        <p15:guide id="10" pos="10152">
          <p15:clr>
            <a:srgbClr val="FBAE40"/>
          </p15:clr>
        </p15:guide>
        <p15:guide id="11" pos="12160">
          <p15:clr>
            <a:srgbClr val="FBAE40"/>
          </p15:clr>
        </p15:guide>
        <p15:guide id="12" pos="12480">
          <p15:clr>
            <a:srgbClr val="FBAE40"/>
          </p15:clr>
        </p15:guide>
        <p15:guide id="13" orient="horz" pos="1344">
          <p15:clr>
            <a:srgbClr val="FBAE40"/>
          </p15:clr>
        </p15:guide>
        <p15:guide id="14" orient="horz" pos="7767">
          <p15:clr>
            <a:srgbClr val="FBAE40"/>
          </p15:clr>
        </p15:guide>
        <p15:guide id="15" orient="horz" pos="8232">
          <p15:clr>
            <a:srgbClr val="FBAE40"/>
          </p15:clr>
        </p15:guide>
        <p15:guide id="16" orient="horz" pos="555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График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5865" y="5430202"/>
            <a:ext cx="162178" cy="1260000"/>
          </a:xfrm>
          <a:prstGeom prst="rect">
            <a:avLst/>
          </a:prstGeom>
        </p:spPr>
      </p:pic>
      <p:sp>
        <p:nvSpPr>
          <p:cNvPr id="7" name="Текст 6"/>
          <p:cNvSpPr>
            <a:spLocks noGrp="1"/>
          </p:cNvSpPr>
          <p:nvPr>
            <p:ph type="body" sz="quarter" idx="11" hasCustomPrompt="1"/>
          </p:nvPr>
        </p:nvSpPr>
        <p:spPr>
          <a:xfrm>
            <a:off x="16035130" y="2029598"/>
            <a:ext cx="6956632" cy="1050706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/>
              <a:t>Название данного</a:t>
            </a:r>
            <a:br>
              <a:rPr lang="ru-RU"/>
            </a:br>
            <a:r>
              <a:rPr lang="ru-RU"/>
              <a:t>блока информации</a:t>
            </a:r>
          </a:p>
        </p:txBody>
      </p:sp>
      <p:sp>
        <p:nvSpPr>
          <p:cNvPr id="15" name="Footer Placeholder 3"/>
          <p:cNvSpPr>
            <a:spLocks noGrp="1"/>
          </p:cNvSpPr>
          <p:nvPr>
            <p:ph type="ftr" sz="quarter" idx="19"/>
          </p:nvPr>
        </p:nvSpPr>
        <p:spPr>
          <a:xfrm>
            <a:off x="1302654" y="12664440"/>
            <a:ext cx="6952346" cy="730250"/>
          </a:xfrm>
        </p:spPr>
        <p:txBody>
          <a:bodyPr/>
          <a:lstStyle>
            <a:lvl1pPr algn="l">
              <a:defRPr sz="1500">
                <a:solidFill>
                  <a:schemeClr val="tx2"/>
                </a:solidFill>
              </a:defRPr>
            </a:lvl1pPr>
          </a:lstStyle>
          <a:p>
            <a:r>
              <a:rPr lang="ru-RU"/>
              <a:t>Название презентации в одну или несколько строк</a:t>
            </a:r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20"/>
          </p:nvPr>
        </p:nvSpPr>
        <p:spPr>
          <a:xfrm>
            <a:off x="19812000" y="12630986"/>
            <a:ext cx="3289668" cy="730250"/>
          </a:xfrm>
        </p:spPr>
        <p:txBody>
          <a:bodyPr/>
          <a:lstStyle>
            <a:lvl1pPr>
              <a:defRPr sz="2300">
                <a:solidFill>
                  <a:schemeClr val="accent1"/>
                </a:solidFill>
              </a:defRPr>
            </a:lvl1pPr>
          </a:lstStyle>
          <a:p>
            <a:fld id="{66B5E2A4-72D4-4DC4-9470-54C0EE06E412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7" name="Текст 6"/>
          <p:cNvSpPr>
            <a:spLocks noGrp="1"/>
          </p:cNvSpPr>
          <p:nvPr>
            <p:ph type="body" sz="quarter" idx="21" hasCustomPrompt="1"/>
          </p:nvPr>
        </p:nvSpPr>
        <p:spPr>
          <a:xfrm>
            <a:off x="8674101" y="12856752"/>
            <a:ext cx="6937374" cy="35514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>
                <a:solidFill>
                  <a:schemeClr val="tx2"/>
                </a:solidFill>
              </a:defRPr>
            </a:lvl1pPr>
          </a:lstStyle>
          <a:p>
            <a:pPr lvl="0"/>
            <a:r>
              <a:rPr lang="ru-RU"/>
              <a:t>Докладчик (при необходимости)</a:t>
            </a:r>
          </a:p>
        </p:txBody>
      </p:sp>
      <p:sp>
        <p:nvSpPr>
          <p:cNvPr id="18" name="TextBox 17"/>
          <p:cNvSpPr txBox="1"/>
          <p:nvPr userDrawn="1"/>
        </p:nvSpPr>
        <p:spPr>
          <a:xfrm>
            <a:off x="19812000" y="655721"/>
            <a:ext cx="32733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>
                <a:solidFill>
                  <a:schemeClr val="accent1"/>
                </a:solidFill>
              </a:rPr>
              <a:t>misis.ru</a:t>
            </a:r>
            <a:endParaRPr lang="ru-RU" sz="1600">
              <a:solidFill>
                <a:schemeClr val="accent1"/>
              </a:solidFill>
            </a:endParaRPr>
          </a:p>
        </p:txBody>
      </p:sp>
      <p:pic>
        <p:nvPicPr>
          <p:cNvPr id="19" name="Рисунок 1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48" y="399072"/>
            <a:ext cx="2394000" cy="961940"/>
          </a:xfrm>
          <a:prstGeom prst="rect">
            <a:avLst/>
          </a:prstGeom>
        </p:spPr>
      </p:pic>
      <p:sp>
        <p:nvSpPr>
          <p:cNvPr id="20" name="Текст 6"/>
          <p:cNvSpPr>
            <a:spLocks noGrp="1"/>
          </p:cNvSpPr>
          <p:nvPr>
            <p:ph type="body" sz="quarter" idx="22" hasCustomPrompt="1"/>
          </p:nvPr>
        </p:nvSpPr>
        <p:spPr>
          <a:xfrm>
            <a:off x="16056666" y="3664028"/>
            <a:ext cx="6937374" cy="2657259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3000">
                <a:solidFill>
                  <a:schemeClr val="tx2"/>
                </a:solidFill>
                <a:latin typeface="TT Norms Pro" panose="020B0103030101020204" pitchFamily="34" charset="0"/>
              </a:defRPr>
            </a:lvl1pPr>
          </a:lstStyle>
          <a:p>
            <a:pPr lvl="0"/>
            <a:r>
              <a:rPr lang="ru-RU"/>
              <a:t>Постоянный поиск наиболее эффективных действующих</a:t>
            </a:r>
            <a:br>
              <a:rPr lang="ru-RU"/>
            </a:br>
            <a:r>
              <a:rPr lang="ru-RU"/>
              <a:t>веществ и их комбинаций,</a:t>
            </a:r>
            <a:br>
              <a:rPr lang="ru-RU"/>
            </a:br>
            <a:r>
              <a:rPr lang="ru-RU"/>
              <a:t>а также оригинальные</a:t>
            </a:r>
            <a:br>
              <a:rPr lang="ru-RU"/>
            </a:br>
            <a:r>
              <a:rPr lang="ru-RU"/>
              <a:t>инновационные препараты</a:t>
            </a:r>
          </a:p>
        </p:txBody>
      </p:sp>
      <p:sp>
        <p:nvSpPr>
          <p:cNvPr id="11" name="Title 1"/>
          <p:cNvSpPr>
            <a:spLocks noGrp="1"/>
          </p:cNvSpPr>
          <p:nvPr>
            <p:ph type="ctrTitle" hasCustomPrompt="1"/>
          </p:nvPr>
        </p:nvSpPr>
        <p:spPr>
          <a:xfrm>
            <a:off x="1298516" y="2115691"/>
            <a:ext cx="10626783" cy="1878793"/>
          </a:xfrm>
        </p:spPr>
        <p:txBody>
          <a:bodyPr anchor="t">
            <a:noAutofit/>
          </a:bodyPr>
          <a:lstStyle>
            <a:lvl1pPr algn="l">
              <a:lnSpc>
                <a:spcPts val="6700"/>
              </a:lnSpc>
              <a:defRPr sz="73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ru-RU"/>
              <a:t>Заголовок в одну</a:t>
            </a:r>
            <a:br>
              <a:rPr lang="ru-RU"/>
            </a:br>
            <a:r>
              <a:rPr lang="ru-RU"/>
              <a:t>или несколько строк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00429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76">
          <p15:clr>
            <a:srgbClr val="FBAE40"/>
          </p15:clr>
        </p15:guide>
        <p15:guide id="2" pos="14483">
          <p15:clr>
            <a:srgbClr val="FBAE40"/>
          </p15:clr>
        </p15:guide>
        <p15:guide id="3" pos="2871">
          <p15:clr>
            <a:srgbClr val="FBAE40"/>
          </p15:clr>
        </p15:guide>
        <p15:guide id="4" pos="3212">
          <p15:clr>
            <a:srgbClr val="FBAE40"/>
          </p15:clr>
        </p15:guide>
        <p15:guide id="5" pos="5200">
          <p15:clr>
            <a:srgbClr val="FBAE40"/>
          </p15:clr>
        </p15:guide>
        <p15:guide id="6" pos="5512">
          <p15:clr>
            <a:srgbClr val="FBAE40"/>
          </p15:clr>
        </p15:guide>
        <p15:guide id="7" pos="7512">
          <p15:clr>
            <a:srgbClr val="FBAE40"/>
          </p15:clr>
        </p15:guide>
        <p15:guide id="8" pos="7838">
          <p15:clr>
            <a:srgbClr val="FBAE40"/>
          </p15:clr>
        </p15:guide>
        <p15:guide id="9" pos="9834">
          <p15:clr>
            <a:srgbClr val="FBAE40"/>
          </p15:clr>
        </p15:guide>
        <p15:guide id="10" pos="10152">
          <p15:clr>
            <a:srgbClr val="FBAE40"/>
          </p15:clr>
        </p15:guide>
        <p15:guide id="11" pos="12160">
          <p15:clr>
            <a:srgbClr val="FBAE40"/>
          </p15:clr>
        </p15:guide>
        <p15:guide id="12" pos="12480">
          <p15:clr>
            <a:srgbClr val="FBAE40"/>
          </p15:clr>
        </p15:guide>
        <p15:guide id="13" orient="horz" pos="1344">
          <p15:clr>
            <a:srgbClr val="FBAE40"/>
          </p15:clr>
        </p15:guide>
        <p15:guide id="14" orient="horz" pos="7767">
          <p15:clr>
            <a:srgbClr val="FBAE40"/>
          </p15:clr>
        </p15:guide>
        <p15:guide id="15" orient="horz" pos="8232">
          <p15:clr>
            <a:srgbClr val="FBAE40"/>
          </p15:clr>
        </p15:guide>
        <p15:guide id="16" orient="horz" pos="555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298516" y="2115691"/>
            <a:ext cx="10626783" cy="1103759"/>
          </a:xfrm>
        </p:spPr>
        <p:txBody>
          <a:bodyPr anchor="t">
            <a:noAutofit/>
          </a:bodyPr>
          <a:lstStyle>
            <a:lvl1pPr algn="l">
              <a:lnSpc>
                <a:spcPts val="6700"/>
              </a:lnSpc>
              <a:defRPr sz="73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ru-RU"/>
              <a:t>Заголовок раздела</a:t>
            </a:r>
            <a:endParaRPr lang="en-US"/>
          </a:p>
        </p:txBody>
      </p:sp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5865" y="5430202"/>
            <a:ext cx="162178" cy="1260000"/>
          </a:xfrm>
          <a:prstGeom prst="rect">
            <a:avLst/>
          </a:prstGeom>
        </p:spPr>
      </p:pic>
      <p:sp>
        <p:nvSpPr>
          <p:cNvPr id="7" name="Текст 6"/>
          <p:cNvSpPr>
            <a:spLocks noGrp="1"/>
          </p:cNvSpPr>
          <p:nvPr>
            <p:ph type="body" sz="quarter" idx="11" hasCustomPrompt="1"/>
          </p:nvPr>
        </p:nvSpPr>
        <p:spPr>
          <a:xfrm>
            <a:off x="1298368" y="3512130"/>
            <a:ext cx="3259345" cy="1050706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/>
              <a:t>Таблица 2</a:t>
            </a:r>
          </a:p>
        </p:txBody>
      </p:sp>
      <p:sp>
        <p:nvSpPr>
          <p:cNvPr id="15" name="Footer Placeholder 3"/>
          <p:cNvSpPr>
            <a:spLocks noGrp="1"/>
          </p:cNvSpPr>
          <p:nvPr>
            <p:ph type="ftr" sz="quarter" idx="19"/>
          </p:nvPr>
        </p:nvSpPr>
        <p:spPr>
          <a:xfrm>
            <a:off x="1302654" y="12664440"/>
            <a:ext cx="6952346" cy="730250"/>
          </a:xfrm>
        </p:spPr>
        <p:txBody>
          <a:bodyPr/>
          <a:lstStyle>
            <a:lvl1pPr algn="l">
              <a:defRPr sz="1500">
                <a:solidFill>
                  <a:schemeClr val="tx2"/>
                </a:solidFill>
              </a:defRPr>
            </a:lvl1pPr>
          </a:lstStyle>
          <a:p>
            <a:r>
              <a:rPr lang="ru-RU"/>
              <a:t>Название презентации в одну или несколько строк</a:t>
            </a:r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20"/>
          </p:nvPr>
        </p:nvSpPr>
        <p:spPr>
          <a:xfrm>
            <a:off x="19812000" y="12630986"/>
            <a:ext cx="3289668" cy="730250"/>
          </a:xfrm>
        </p:spPr>
        <p:txBody>
          <a:bodyPr/>
          <a:lstStyle>
            <a:lvl1pPr>
              <a:defRPr sz="2300">
                <a:solidFill>
                  <a:schemeClr val="accent1"/>
                </a:solidFill>
              </a:defRPr>
            </a:lvl1pPr>
          </a:lstStyle>
          <a:p>
            <a:fld id="{66B5E2A4-72D4-4DC4-9470-54C0EE06E412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7" name="Текст 6"/>
          <p:cNvSpPr>
            <a:spLocks noGrp="1"/>
          </p:cNvSpPr>
          <p:nvPr>
            <p:ph type="body" sz="quarter" idx="21" hasCustomPrompt="1"/>
          </p:nvPr>
        </p:nvSpPr>
        <p:spPr>
          <a:xfrm>
            <a:off x="8674101" y="12856752"/>
            <a:ext cx="6937374" cy="35514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>
                <a:solidFill>
                  <a:schemeClr val="tx2"/>
                </a:solidFill>
              </a:defRPr>
            </a:lvl1pPr>
          </a:lstStyle>
          <a:p>
            <a:pPr lvl="0"/>
            <a:r>
              <a:rPr lang="ru-RU"/>
              <a:t>Докладчик (при необходимости)</a:t>
            </a:r>
          </a:p>
        </p:txBody>
      </p:sp>
      <p:sp>
        <p:nvSpPr>
          <p:cNvPr id="18" name="TextBox 17"/>
          <p:cNvSpPr txBox="1"/>
          <p:nvPr userDrawn="1"/>
        </p:nvSpPr>
        <p:spPr>
          <a:xfrm>
            <a:off x="19812000" y="655721"/>
            <a:ext cx="32733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>
                <a:solidFill>
                  <a:schemeClr val="accent1"/>
                </a:solidFill>
              </a:rPr>
              <a:t>misis.ru</a:t>
            </a:r>
            <a:endParaRPr lang="ru-RU" sz="1600">
              <a:solidFill>
                <a:schemeClr val="accent1"/>
              </a:solidFill>
            </a:endParaRPr>
          </a:p>
        </p:txBody>
      </p:sp>
      <p:pic>
        <p:nvPicPr>
          <p:cNvPr id="19" name="Рисунок 1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48" y="399072"/>
            <a:ext cx="2394000" cy="961940"/>
          </a:xfrm>
          <a:prstGeom prst="rect">
            <a:avLst/>
          </a:prstGeom>
        </p:spPr>
      </p:pic>
      <p:sp>
        <p:nvSpPr>
          <p:cNvPr id="20" name="Текст 6"/>
          <p:cNvSpPr>
            <a:spLocks noGrp="1"/>
          </p:cNvSpPr>
          <p:nvPr>
            <p:ph type="body" sz="quarter" idx="22" hasCustomPrompt="1"/>
          </p:nvPr>
        </p:nvSpPr>
        <p:spPr>
          <a:xfrm>
            <a:off x="5007804" y="3512131"/>
            <a:ext cx="6937374" cy="1050706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3000">
                <a:solidFill>
                  <a:schemeClr val="tx2"/>
                </a:solidFill>
                <a:latin typeface="TT Norms Pro" panose="020B0103030101020204" pitchFamily="34" charset="0"/>
              </a:defRPr>
            </a:lvl1pPr>
          </a:lstStyle>
          <a:p>
            <a:pPr lvl="0"/>
            <a:r>
              <a:rPr lang="ru-RU"/>
              <a:t>Сопроводительный текст</a:t>
            </a:r>
            <a:br>
              <a:rPr lang="ru-RU"/>
            </a:br>
            <a:r>
              <a:rPr lang="ru-RU"/>
              <a:t>к данной таблице</a:t>
            </a:r>
          </a:p>
        </p:txBody>
      </p:sp>
    </p:spTree>
    <p:extLst>
      <p:ext uri="{BB962C8B-B14F-4D97-AF65-F5344CB8AC3E}">
        <p14:creationId xmlns:p14="http://schemas.microsoft.com/office/powerpoint/2010/main" val="13983389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76">
          <p15:clr>
            <a:srgbClr val="FBAE40"/>
          </p15:clr>
        </p15:guide>
        <p15:guide id="2" pos="14483">
          <p15:clr>
            <a:srgbClr val="FBAE40"/>
          </p15:clr>
        </p15:guide>
        <p15:guide id="3" pos="2871">
          <p15:clr>
            <a:srgbClr val="FBAE40"/>
          </p15:clr>
        </p15:guide>
        <p15:guide id="4" pos="3212">
          <p15:clr>
            <a:srgbClr val="FBAE40"/>
          </p15:clr>
        </p15:guide>
        <p15:guide id="5" pos="5200">
          <p15:clr>
            <a:srgbClr val="FBAE40"/>
          </p15:clr>
        </p15:guide>
        <p15:guide id="6" pos="5512">
          <p15:clr>
            <a:srgbClr val="FBAE40"/>
          </p15:clr>
        </p15:guide>
        <p15:guide id="7" pos="7512">
          <p15:clr>
            <a:srgbClr val="FBAE40"/>
          </p15:clr>
        </p15:guide>
        <p15:guide id="8" pos="7838">
          <p15:clr>
            <a:srgbClr val="FBAE40"/>
          </p15:clr>
        </p15:guide>
        <p15:guide id="9" pos="9834">
          <p15:clr>
            <a:srgbClr val="FBAE40"/>
          </p15:clr>
        </p15:guide>
        <p15:guide id="10" pos="10152">
          <p15:clr>
            <a:srgbClr val="FBAE40"/>
          </p15:clr>
        </p15:guide>
        <p15:guide id="11" pos="12160">
          <p15:clr>
            <a:srgbClr val="FBAE40"/>
          </p15:clr>
        </p15:guide>
        <p15:guide id="12" pos="12480">
          <p15:clr>
            <a:srgbClr val="FBAE40"/>
          </p15:clr>
        </p15:guide>
        <p15:guide id="13" orient="horz" pos="1344">
          <p15:clr>
            <a:srgbClr val="FBAE40"/>
          </p15:clr>
        </p15:guide>
        <p15:guide id="14" orient="horz" pos="7767">
          <p15:clr>
            <a:srgbClr val="FBAE40"/>
          </p15:clr>
        </p15:guide>
        <p15:guide id="15" orient="horz" pos="8232">
          <p15:clr>
            <a:srgbClr val="FBAE40"/>
          </p15:clr>
        </p15:guide>
        <p15:guide id="16" orient="horz" pos="555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ключительны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5865" y="5430202"/>
            <a:ext cx="162178" cy="1260000"/>
          </a:xfrm>
          <a:prstGeom prst="rect">
            <a:avLst/>
          </a:prstGeom>
        </p:spPr>
      </p:pic>
      <p:sp>
        <p:nvSpPr>
          <p:cNvPr id="20" name="Текст 6"/>
          <p:cNvSpPr>
            <a:spLocks noGrp="1"/>
          </p:cNvSpPr>
          <p:nvPr>
            <p:ph type="body" sz="quarter" idx="22" hasCustomPrompt="1"/>
          </p:nvPr>
        </p:nvSpPr>
        <p:spPr>
          <a:xfrm>
            <a:off x="1298516" y="10086693"/>
            <a:ext cx="6937374" cy="2657259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3000">
                <a:solidFill>
                  <a:schemeClr val="tx2"/>
                </a:solidFill>
                <a:latin typeface="TT Norms Pro" panose="020B0103030101020204" pitchFamily="34" charset="0"/>
              </a:defRPr>
            </a:lvl1pPr>
          </a:lstStyle>
          <a:p>
            <a:pPr lvl="0"/>
            <a:r>
              <a:rPr lang="ru-RU"/>
              <a:t>Ленинский проспект, д. 4</a:t>
            </a:r>
            <a:br>
              <a:rPr lang="ru-RU"/>
            </a:br>
            <a:r>
              <a:rPr lang="ru-RU"/>
              <a:t>Москва, 119049</a:t>
            </a:r>
            <a:br>
              <a:rPr lang="ru-RU"/>
            </a:br>
            <a:r>
              <a:rPr lang="ru-RU"/>
              <a:t>тел. +7 (495) 955-00-32</a:t>
            </a:r>
            <a:br>
              <a:rPr lang="ru-RU"/>
            </a:br>
            <a:r>
              <a:rPr lang="ru-RU"/>
              <a:t>e-</a:t>
            </a:r>
            <a:r>
              <a:rPr lang="ru-RU" err="1"/>
              <a:t>mail</a:t>
            </a:r>
            <a:r>
              <a:rPr lang="ru-RU"/>
              <a:t>: kancela@misis.ru</a:t>
            </a:r>
            <a:br>
              <a:rPr lang="ru-RU"/>
            </a:br>
            <a:r>
              <a:rPr lang="ru-RU"/>
              <a:t>misis.ru</a:t>
            </a:r>
          </a:p>
        </p:txBody>
      </p:sp>
      <p:sp>
        <p:nvSpPr>
          <p:cNvPr id="11" name="Title 1"/>
          <p:cNvSpPr>
            <a:spLocks noGrp="1"/>
          </p:cNvSpPr>
          <p:nvPr>
            <p:ph type="ctrTitle" hasCustomPrompt="1"/>
          </p:nvPr>
        </p:nvSpPr>
        <p:spPr>
          <a:xfrm>
            <a:off x="1298516" y="7184650"/>
            <a:ext cx="10626783" cy="1878793"/>
          </a:xfrm>
        </p:spPr>
        <p:txBody>
          <a:bodyPr anchor="t">
            <a:noAutofit/>
          </a:bodyPr>
          <a:lstStyle>
            <a:lvl1pPr algn="l">
              <a:lnSpc>
                <a:spcPts val="6700"/>
              </a:lnSpc>
              <a:defRPr sz="73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ru-RU"/>
              <a:t>Спасибо</a:t>
            </a:r>
            <a:br>
              <a:rPr lang="ru-RU"/>
            </a:br>
            <a:r>
              <a:rPr lang="ru-RU"/>
              <a:t>за внимание!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6584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76">
          <p15:clr>
            <a:srgbClr val="FBAE40"/>
          </p15:clr>
        </p15:guide>
        <p15:guide id="2" pos="14483">
          <p15:clr>
            <a:srgbClr val="FBAE40"/>
          </p15:clr>
        </p15:guide>
        <p15:guide id="3" pos="2871">
          <p15:clr>
            <a:srgbClr val="FBAE40"/>
          </p15:clr>
        </p15:guide>
        <p15:guide id="4" pos="3212">
          <p15:clr>
            <a:srgbClr val="FBAE40"/>
          </p15:clr>
        </p15:guide>
        <p15:guide id="5" pos="5200">
          <p15:clr>
            <a:srgbClr val="FBAE40"/>
          </p15:clr>
        </p15:guide>
        <p15:guide id="6" pos="5512">
          <p15:clr>
            <a:srgbClr val="FBAE40"/>
          </p15:clr>
        </p15:guide>
        <p15:guide id="7" pos="7512">
          <p15:clr>
            <a:srgbClr val="FBAE40"/>
          </p15:clr>
        </p15:guide>
        <p15:guide id="8" pos="7838">
          <p15:clr>
            <a:srgbClr val="FBAE40"/>
          </p15:clr>
        </p15:guide>
        <p15:guide id="9" pos="9834">
          <p15:clr>
            <a:srgbClr val="FBAE40"/>
          </p15:clr>
        </p15:guide>
        <p15:guide id="10" pos="10152">
          <p15:clr>
            <a:srgbClr val="FBAE40"/>
          </p15:clr>
        </p15:guide>
        <p15:guide id="11" pos="12160">
          <p15:clr>
            <a:srgbClr val="FBAE40"/>
          </p15:clr>
        </p15:guide>
        <p15:guide id="12" pos="12480">
          <p15:clr>
            <a:srgbClr val="FBAE40"/>
          </p15:clr>
        </p15:guide>
        <p15:guide id="13" orient="horz" pos="1344">
          <p15:clr>
            <a:srgbClr val="FBAE40"/>
          </p15:clr>
        </p15:guide>
        <p15:guide id="14" orient="horz" pos="7767">
          <p15:clr>
            <a:srgbClr val="FBAE40"/>
          </p15:clr>
        </p15:guide>
        <p15:guide id="15" orient="horz" pos="8232">
          <p15:clr>
            <a:srgbClr val="FBAE40"/>
          </p15:clr>
        </p15:guide>
        <p15:guide id="16" orient="horz" pos="555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уллиты">
  <p:cSld name="Буллиты"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0"/>
          <p:cNvSpPr txBox="1">
            <a:spLocks noGrp="1"/>
          </p:cNvSpPr>
          <p:nvPr>
            <p:ph type="ctrTitle"/>
          </p:nvPr>
        </p:nvSpPr>
        <p:spPr>
          <a:xfrm>
            <a:off x="1298516" y="2115691"/>
            <a:ext cx="10626900" cy="11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178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300"/>
              <a:buFont typeface="Tahoma"/>
              <a:buNone/>
              <a:defRPr sz="7300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282" name="Google Shape;282;p3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335865" y="5430202"/>
            <a:ext cx="162178" cy="126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30"/>
          <p:cNvSpPr txBox="1">
            <a:spLocks noGrp="1"/>
          </p:cNvSpPr>
          <p:nvPr>
            <p:ph type="body" idx="1"/>
          </p:nvPr>
        </p:nvSpPr>
        <p:spPr>
          <a:xfrm>
            <a:off x="1298516" y="3655596"/>
            <a:ext cx="10626900" cy="105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4" name="Google Shape;284;p30"/>
          <p:cNvSpPr txBox="1">
            <a:spLocks noGrp="1"/>
          </p:cNvSpPr>
          <p:nvPr>
            <p:ph type="body" idx="2"/>
          </p:nvPr>
        </p:nvSpPr>
        <p:spPr>
          <a:xfrm>
            <a:off x="1295399" y="5123398"/>
            <a:ext cx="6937500" cy="65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19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Char char="•"/>
              <a:defRPr sz="3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5" name="Google Shape;285;p30"/>
          <p:cNvSpPr txBox="1">
            <a:spLocks noGrp="1"/>
          </p:cNvSpPr>
          <p:nvPr>
            <p:ph type="ftr" idx="11"/>
          </p:nvPr>
        </p:nvSpPr>
        <p:spPr>
          <a:xfrm>
            <a:off x="1302654" y="12664440"/>
            <a:ext cx="6952200" cy="73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500"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6" name="Google Shape;286;p30"/>
          <p:cNvSpPr txBox="1">
            <a:spLocks noGrp="1"/>
          </p:cNvSpPr>
          <p:nvPr>
            <p:ph type="sldNum" idx="12"/>
          </p:nvPr>
        </p:nvSpPr>
        <p:spPr>
          <a:xfrm>
            <a:off x="19812000" y="12630986"/>
            <a:ext cx="3289800" cy="73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2300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lvl="1" indent="0" algn="r">
              <a:spcBef>
                <a:spcPts val="0"/>
              </a:spcBef>
              <a:buNone/>
              <a:defRPr sz="2300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lvl="2" indent="0" algn="r">
              <a:spcBef>
                <a:spcPts val="0"/>
              </a:spcBef>
              <a:buNone/>
              <a:defRPr sz="2300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lvl="3" indent="0" algn="r">
              <a:spcBef>
                <a:spcPts val="0"/>
              </a:spcBef>
              <a:buNone/>
              <a:defRPr sz="2300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lvl="4" indent="0" algn="r">
              <a:spcBef>
                <a:spcPts val="0"/>
              </a:spcBef>
              <a:buNone/>
              <a:defRPr sz="2300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lvl="5" indent="0" algn="r">
              <a:spcBef>
                <a:spcPts val="0"/>
              </a:spcBef>
              <a:buNone/>
              <a:defRPr sz="2300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lvl="6" indent="0" algn="r">
              <a:spcBef>
                <a:spcPts val="0"/>
              </a:spcBef>
              <a:buNone/>
              <a:defRPr sz="2300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lvl="7" indent="0" algn="r">
              <a:spcBef>
                <a:spcPts val="0"/>
              </a:spcBef>
              <a:buNone/>
              <a:defRPr sz="2300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lvl="8" indent="0" algn="r">
              <a:spcBef>
                <a:spcPts val="0"/>
              </a:spcBef>
              <a:buNone/>
              <a:defRPr sz="2300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87" name="Google Shape;287;p30"/>
          <p:cNvSpPr txBox="1">
            <a:spLocks noGrp="1"/>
          </p:cNvSpPr>
          <p:nvPr>
            <p:ph type="body" idx="3"/>
          </p:nvPr>
        </p:nvSpPr>
        <p:spPr>
          <a:xfrm>
            <a:off x="8674101" y="12856752"/>
            <a:ext cx="69375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None/>
              <a:defRPr sz="1500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8" name="Google Shape;288;p30"/>
          <p:cNvSpPr txBox="1"/>
          <p:nvPr/>
        </p:nvSpPr>
        <p:spPr>
          <a:xfrm>
            <a:off x="19812000" y="655721"/>
            <a:ext cx="3273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rPr>
              <a:t>misis.ru</a:t>
            </a:r>
            <a:endParaRPr sz="1600">
              <a:solidFill>
                <a:schemeClr val="accen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89" name="Google Shape;289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95648" y="399072"/>
            <a:ext cx="2394001" cy="961940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30"/>
          <p:cNvSpPr txBox="1">
            <a:spLocks noGrp="1"/>
          </p:cNvSpPr>
          <p:nvPr>
            <p:ph type="body" idx="4"/>
          </p:nvPr>
        </p:nvSpPr>
        <p:spPr>
          <a:xfrm>
            <a:off x="8674101" y="5123397"/>
            <a:ext cx="6937500" cy="65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19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Char char="•"/>
              <a:defRPr sz="3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1" name="Google Shape;291;p30"/>
          <p:cNvSpPr txBox="1">
            <a:spLocks noGrp="1"/>
          </p:cNvSpPr>
          <p:nvPr>
            <p:ph type="body" idx="5"/>
          </p:nvPr>
        </p:nvSpPr>
        <p:spPr>
          <a:xfrm>
            <a:off x="16052801" y="5123397"/>
            <a:ext cx="6939000" cy="65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19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Char char="•"/>
              <a:defRPr sz="3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246390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76">
          <p15:clr>
            <a:srgbClr val="FBAE40"/>
          </p15:clr>
        </p15:guide>
        <p15:guide id="2" pos="14483">
          <p15:clr>
            <a:srgbClr val="FBAE40"/>
          </p15:clr>
        </p15:guide>
        <p15:guide id="3" pos="2871">
          <p15:clr>
            <a:srgbClr val="FBAE40"/>
          </p15:clr>
        </p15:guide>
        <p15:guide id="4" pos="3212">
          <p15:clr>
            <a:srgbClr val="FBAE40"/>
          </p15:clr>
        </p15:guide>
        <p15:guide id="5" pos="5200">
          <p15:clr>
            <a:srgbClr val="FBAE40"/>
          </p15:clr>
        </p15:guide>
        <p15:guide id="6" pos="5512">
          <p15:clr>
            <a:srgbClr val="FBAE40"/>
          </p15:clr>
        </p15:guide>
        <p15:guide id="7" pos="7512">
          <p15:clr>
            <a:srgbClr val="FBAE40"/>
          </p15:clr>
        </p15:guide>
        <p15:guide id="8" pos="7838">
          <p15:clr>
            <a:srgbClr val="FBAE40"/>
          </p15:clr>
        </p15:guide>
        <p15:guide id="9" pos="9834">
          <p15:clr>
            <a:srgbClr val="FBAE40"/>
          </p15:clr>
        </p15:guide>
        <p15:guide id="10" pos="10152">
          <p15:clr>
            <a:srgbClr val="FBAE40"/>
          </p15:clr>
        </p15:guide>
        <p15:guide id="11" pos="12160">
          <p15:clr>
            <a:srgbClr val="FBAE40"/>
          </p15:clr>
        </p15:guide>
        <p15:guide id="12" pos="12480">
          <p15:clr>
            <a:srgbClr val="FBAE40"/>
          </p15:clr>
        </p15:guide>
        <p15:guide id="13" orient="horz" pos="1344">
          <p15:clr>
            <a:srgbClr val="FBAE40"/>
          </p15:clr>
        </p15:guide>
        <p15:guide id="14" orient="horz" pos="7767">
          <p15:clr>
            <a:srgbClr val="FBAE40"/>
          </p15:clr>
        </p15:guide>
        <p15:guide id="15" orient="horz" pos="8232">
          <p15:clr>
            <a:srgbClr val="FBAE40"/>
          </p15:clr>
        </p15:guide>
        <p15:guide id="16" orient="horz" pos="555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379669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76291" y="730251"/>
            <a:ext cx="21029831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6291" y="3651250"/>
            <a:ext cx="21029831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676291" y="12712701"/>
            <a:ext cx="5486043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76675" y="12712701"/>
            <a:ext cx="8229064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ru-RU"/>
              <a:t>Название презентации в одну или несколько строк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220079" y="12712701"/>
            <a:ext cx="5486043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B5E2A4-72D4-4DC4-9470-54C0EE06E4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23532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3" r:id="rId2"/>
    <p:sldLayoutId id="2147483676" r:id="rId3"/>
    <p:sldLayoutId id="2147483677" r:id="rId4"/>
    <p:sldLayoutId id="2147483678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  <p:sldLayoutId id="2147483688" r:id="rId13"/>
    <p:sldLayoutId id="2147483689" r:id="rId14"/>
    <p:sldLayoutId id="2147483690" r:id="rId15"/>
    <p:sldLayoutId id="2147483691" r:id="rId16"/>
    <p:sldLayoutId id="2147483692" r:id="rId17"/>
    <p:sldLayoutId id="2147483693" r:id="rId18"/>
    <p:sldLayoutId id="2147483694" r:id="rId19"/>
    <p:sldLayoutId id="2147483695" r:id="rId20"/>
    <p:sldLayoutId id="2147483696" r:id="rId21"/>
  </p:sldLayoutIdLst>
  <p:hf hdr="0"/>
  <p:txStyles>
    <p:titleStyle>
      <a:lvl1pPr algn="l" defTabSz="1828709" rtl="0" eaLnBrk="1" latinLnBrk="0" hangingPunct="1">
        <a:lnSpc>
          <a:spcPct val="90000"/>
        </a:lnSpc>
        <a:spcBef>
          <a:spcPct val="0"/>
        </a:spcBef>
        <a:buNone/>
        <a:defRPr sz="8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77" indent="-457177" algn="l" defTabSz="1828709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531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5886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240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594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8949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303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7657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011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354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709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063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417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1771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126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480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4834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0.xml"/><Relationship Id="rId5" Type="http://schemas.openxmlformats.org/officeDocument/2006/relationships/image" Target="../media/image16.png"/><Relationship Id="rId4" Type="http://schemas.openxmlformats.org/officeDocument/2006/relationships/customXml" Target="../ink/ink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/>
          <p:cNvSpPr>
            <a:spLocks noGrp="1"/>
          </p:cNvSpPr>
          <p:nvPr>
            <p:ph type="ctrTitle"/>
          </p:nvPr>
        </p:nvSpPr>
        <p:spPr>
          <a:xfrm>
            <a:off x="1298516" y="4158222"/>
            <a:ext cx="13789084" cy="3838664"/>
          </a:xfrm>
        </p:spPr>
        <p:txBody>
          <a:bodyPr/>
          <a:lstStyle/>
          <a:p>
            <a:r>
              <a:rPr lang="ru-RU" sz="5400" b="1">
                <a:latin typeface="Tahoma"/>
                <a:ea typeface="Tahoma"/>
                <a:cs typeface="Tahoma"/>
              </a:rPr>
              <a:t>Разработка алгоритмического обеспечения системы поддержки принятия решений в сфере персональных финансов</a:t>
            </a:r>
          </a:p>
        </p:txBody>
      </p:sp>
      <p:sp>
        <p:nvSpPr>
          <p:cNvPr id="9" name="Подзаголовок 8"/>
          <p:cNvSpPr>
            <a:spLocks noGrp="1"/>
          </p:cNvSpPr>
          <p:nvPr>
            <p:ph type="subTitle" idx="1"/>
          </p:nvPr>
        </p:nvSpPr>
        <p:spPr>
          <a:xfrm>
            <a:off x="1298516" y="8542069"/>
            <a:ext cx="11296490" cy="1999559"/>
          </a:xfrm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pPr>
              <a:lnSpc>
                <a:spcPct val="120000"/>
              </a:lnSpc>
            </a:pPr>
            <a:r>
              <a:rPr lang="ru-RU">
                <a:latin typeface="Tahoma"/>
                <a:ea typeface="Tahoma"/>
                <a:cs typeface="Tahoma"/>
              </a:rPr>
              <a:t>Студент: Евдокимов Василий Максимович</a:t>
            </a:r>
            <a:endParaRPr lang="ru-RU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lnSpc>
                <a:spcPct val="120000"/>
              </a:lnSpc>
            </a:pPr>
            <a:r>
              <a:rPr lang="ru-RU">
                <a:latin typeface="Tahoma"/>
                <a:ea typeface="Tahoma"/>
                <a:cs typeface="Tahoma"/>
              </a:rPr>
              <a:t>Группа: БИВТ-22-СП-1</a:t>
            </a:r>
            <a:endParaRPr lang="ru-RU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lnSpc>
                <a:spcPct val="120000"/>
              </a:lnSpc>
            </a:pPr>
            <a:r>
              <a:rPr lang="ru-RU">
                <a:latin typeface="Tahoma"/>
                <a:ea typeface="Tahoma"/>
                <a:cs typeface="Tahoma"/>
              </a:rPr>
              <a:t>Научный руководитель: к.т.н. доцент кафедры АСУ Бондаренко Инна Сергеевна</a:t>
            </a:r>
            <a:endParaRPr lang="ru-RU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ru-RU">
              <a:ea typeface="Tahoma"/>
              <a:cs typeface="Tahoma"/>
            </a:endParaRPr>
          </a:p>
        </p:txBody>
      </p:sp>
      <p:sp>
        <p:nvSpPr>
          <p:cNvPr id="12" name="Дата 11"/>
          <p:cNvSpPr>
            <a:spLocks noGrp="1"/>
          </p:cNvSpPr>
          <p:nvPr>
            <p:ph type="dt" sz="half" idx="10"/>
          </p:nvPr>
        </p:nvSpPr>
        <p:spPr>
          <a:xfrm>
            <a:off x="1300459" y="11867187"/>
            <a:ext cx="5761821" cy="730250"/>
          </a:xfrm>
        </p:spPr>
        <p:txBody>
          <a:bodyPr/>
          <a:lstStyle/>
          <a:p>
            <a:r>
              <a:rPr lang="ru-RU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Дата проведения (пример: 12.04.2023)</a:t>
            </a:r>
          </a:p>
        </p:txBody>
      </p:sp>
      <p:sp>
        <p:nvSpPr>
          <p:cNvPr id="2" name="Дата 11">
            <a:extLst>
              <a:ext uri="{FF2B5EF4-FFF2-40B4-BE49-F238E27FC236}">
                <a16:creationId xmlns:a16="http://schemas.microsoft.com/office/drawing/2014/main" id="{EC80368E-2407-E700-0EAC-FFDA58FBA3C2}"/>
              </a:ext>
            </a:extLst>
          </p:cNvPr>
          <p:cNvSpPr txBox="1">
            <a:spLocks/>
          </p:cNvSpPr>
          <p:nvPr/>
        </p:nvSpPr>
        <p:spPr>
          <a:xfrm>
            <a:off x="1300459" y="11294070"/>
            <a:ext cx="7082026" cy="758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l" defTabSz="1828709" rtl="0" eaLnBrk="1" latinLnBrk="0" hangingPunct="1">
              <a:defRPr sz="2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914354" algn="l" defTabSz="182870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709" algn="l" defTabSz="182870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063" algn="l" defTabSz="182870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417" algn="l" defTabSz="182870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1771" algn="l" defTabSz="182870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126" algn="l" defTabSz="182870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480" algn="l" defTabSz="182870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4834" algn="l" defTabSz="182870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>
                <a:solidFill>
                  <a:schemeClr val="tx2"/>
                </a:solidFill>
                <a:latin typeface="Tahoma"/>
                <a:ea typeface="Tahoma"/>
                <a:cs typeface="Tahoma"/>
              </a:rPr>
              <a:t>Место проведения НИТУ МИСИС Кафедра АСУ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84DEE7E-08E3-6DC3-84C0-709FF5B04BA1}"/>
              </a:ext>
            </a:extLst>
          </p:cNvPr>
          <p:cNvSpPr/>
          <p:nvPr/>
        </p:nvSpPr>
        <p:spPr>
          <a:xfrm>
            <a:off x="1233358" y="12059503"/>
            <a:ext cx="6249015" cy="740015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FFFFFF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78C5B3-F2F8-EEB7-A2C6-72AD6A5E61DC}"/>
              </a:ext>
            </a:extLst>
          </p:cNvPr>
          <p:cNvSpPr txBox="1"/>
          <p:nvPr/>
        </p:nvSpPr>
        <p:spPr>
          <a:xfrm>
            <a:off x="1300609" y="12052148"/>
            <a:ext cx="5183663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solidFill>
                  <a:srgbClr val="0541F0"/>
                </a:solidFill>
                <a:latin typeface="Tahoma"/>
                <a:ea typeface="Tahoma"/>
                <a:cs typeface="Tahoma"/>
              </a:rPr>
              <a:t>Дата проведения 16.04.2026</a:t>
            </a:r>
            <a:endParaRPr lang="en-US"/>
          </a:p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71676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Диаграмма ответов в Формах. Вопрос: В каком формате тебе удобнее получать финансовый совет?&#10;. Количество ответов: 107 ответов.">
            <a:extLst>
              <a:ext uri="{FF2B5EF4-FFF2-40B4-BE49-F238E27FC236}">
                <a16:creationId xmlns:a16="http://schemas.microsoft.com/office/drawing/2014/main" id="{2082BC2B-3585-4EAF-F50D-71CA11FBD8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92735" y="5769198"/>
            <a:ext cx="8859749" cy="3780115"/>
          </a:xfrm>
          <a:prstGeom prst="rect">
            <a:avLst/>
          </a:prstGeom>
        </p:spPr>
      </p:pic>
      <p:pic>
        <p:nvPicPr>
          <p:cNvPr id="4" name="Picture 3" descr="Диаграмма ответов в Формах. Вопрос: Когда у тебя несколько вариантов куда направить деньги — как выбираешь?&#10;. Количество ответов: 107 ответов.">
            <a:extLst>
              <a:ext uri="{FF2B5EF4-FFF2-40B4-BE49-F238E27FC236}">
                <a16:creationId xmlns:a16="http://schemas.microsoft.com/office/drawing/2014/main" id="{71D7E0C4-F258-7FB4-E32B-2C48F66C18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13384" y="9877696"/>
            <a:ext cx="8959072" cy="3814735"/>
          </a:xfrm>
          <a:prstGeom prst="rect">
            <a:avLst/>
          </a:prstGeom>
        </p:spPr>
      </p:pic>
      <p:sp>
        <p:nvSpPr>
          <p:cNvPr id="501" name="SlideNum"/>
          <p:cNvSpPr txBox="1">
            <a:spLocks noGrp="1"/>
          </p:cNvSpPr>
          <p:nvPr>
            <p:ph type="sldNum" idx="12"/>
          </p:nvPr>
        </p:nvSpPr>
        <p:spPr>
          <a:xfrm>
            <a:off x="19812000" y="12630986"/>
            <a:ext cx="3289800" cy="73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5}" type="slidenum">
              <a:rPr lang="ru-RU"/>
              <a:t>2</a:t>
            </a:fld>
            <a:endParaRPr/>
          </a:p>
        </p:txBody>
      </p:sp>
      <p:sp>
        <p:nvSpPr>
          <p:cNvPr id="502" name="Title"/>
          <p:cNvSpPr/>
          <p:nvPr/>
        </p:nvSpPr>
        <p:spPr>
          <a:xfrm>
            <a:off x="491025" y="2008939"/>
            <a:ext cx="21576000" cy="17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31400" tIns="115650" rIns="231400" bIns="115650" anchor="ctr" anchorCtr="0">
            <a:noAutofit/>
          </a:bodyPr>
          <a:lstStyle/>
          <a:p>
            <a:r>
              <a:rPr lang="ru-RU" sz="7200" b="1" dirty="0">
                <a:solidFill>
                  <a:srgbClr val="0541F0"/>
                </a:solidFill>
                <a:latin typeface="Tahoma"/>
                <a:ea typeface="Tahoma"/>
                <a:cs typeface="Tahoma"/>
              </a:rPr>
              <a:t>Актуальность темы исследования</a:t>
            </a:r>
            <a:endParaRPr lang="en-US" dirty="0"/>
          </a:p>
        </p:txBody>
      </p:sp>
      <p:sp>
        <p:nvSpPr>
          <p:cNvPr id="503" name="LeftBg"/>
          <p:cNvSpPr/>
          <p:nvPr/>
        </p:nvSpPr>
        <p:spPr>
          <a:xfrm>
            <a:off x="491025" y="5801040"/>
            <a:ext cx="9589500" cy="4445588"/>
          </a:xfrm>
          <a:prstGeom prst="rect">
            <a:avLst/>
          </a:prstGeom>
          <a:solidFill>
            <a:srgbClr val="1A3B6E"/>
          </a:solidFill>
          <a:ln w="32150" cap="flat" cmpd="sng">
            <a:solidFill>
              <a:srgbClr val="1A3B6E"/>
            </a:solidFill>
            <a:prstDash val="solid"/>
          </a:ln>
        </p:spPr>
        <p:txBody>
          <a:bodyPr spcFirstLastPara="1" wrap="square" lIns="340000" tIns="300000" rIns="231400" bIns="2314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500" b="1" i="1" u="none" strike="noStrike" cap="none" dirty="0">
                <a:solidFill>
                  <a:srgbClr val="1E9ED8"/>
                </a:solidFill>
                <a:latin typeface="Times New Roman"/>
                <a:ea typeface="Calibri"/>
                <a:cs typeface="Times New Roman"/>
              </a:rPr>
              <a:t>Проблема 1</a:t>
            </a:r>
          </a:p>
          <a:p>
            <a:pPr marL="0" lvl="0" indent="0" algn="l" rtl="0">
              <a:spcBef>
                <a:spcPts val="0"/>
              </a:spcBef>
              <a:spcAft>
                <a:spcPts val="400"/>
              </a:spcAft>
              <a:buNone/>
            </a:pPr>
            <a:r>
              <a:rPr lang="ru-RU" sz="3000" b="0" i="0" u="none" strike="noStrike" cap="none" dirty="0">
                <a:solidFill>
                  <a:srgbClr val="FFFFFF"/>
                </a:solidFill>
                <a:latin typeface="Times New Roman"/>
                <a:ea typeface="Calibri"/>
                <a:cs typeface="Times New Roman"/>
              </a:rPr>
              <a:t>76% выбирают куда направить деньги вручную или по ощущению — без расчёта</a:t>
            </a:r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ru-RU" sz="3500" b="1" i="1" u="none" strike="noStrike" cap="none" dirty="0">
                <a:solidFill>
                  <a:srgbClr val="1E9ED8"/>
                </a:solidFill>
                <a:latin typeface="Times New Roman"/>
                <a:ea typeface="Calibri"/>
                <a:cs typeface="Times New Roman"/>
              </a:rPr>
              <a:t>Проблема 2</a:t>
            </a:r>
          </a:p>
          <a:p>
            <a:pPr>
              <a:spcAft>
                <a:spcPts val="400"/>
              </a:spcAft>
            </a:pPr>
            <a:r>
              <a:rPr lang="ru-RU" sz="3000" b="0" i="0" u="none" strike="noStrike" cap="none" dirty="0">
                <a:solidFill>
                  <a:srgbClr val="FFFFFF"/>
                </a:solidFill>
                <a:latin typeface="Times New Roman"/>
                <a:ea typeface="Calibri"/>
                <a:cs typeface="Times New Roman"/>
              </a:rPr>
              <a:t>34% — инструмент не говорит куда направить свободные деньги. </a:t>
            </a:r>
            <a:endParaRPr lang="ru-RU" sz="3000" dirty="0">
              <a:solidFill>
                <a:srgbClr val="FFFFFF"/>
              </a:solidFill>
              <a:latin typeface="Times New Roman"/>
              <a:ea typeface="Calibri"/>
              <a:cs typeface="Times New Roman"/>
            </a:endParaRPr>
          </a:p>
          <a:p>
            <a:pPr>
              <a:spcAft>
                <a:spcPts val="400"/>
              </a:spcAft>
            </a:pPr>
            <a:r>
              <a:rPr lang="ru-RU" sz="3000" b="0" i="0" u="none" strike="noStrike" cap="none" dirty="0">
                <a:solidFill>
                  <a:srgbClr val="FFFFFF"/>
                </a:solidFill>
                <a:latin typeface="Times New Roman"/>
                <a:ea typeface="Calibri"/>
                <a:cs typeface="Times New Roman"/>
              </a:rPr>
              <a:t>31% — не предупреждает о нехватке заранее. </a:t>
            </a:r>
            <a:endParaRPr lang="ru-RU" sz="3000" dirty="0">
              <a:solidFill>
                <a:srgbClr val="000000"/>
              </a:solidFill>
              <a:latin typeface="Times New Roman"/>
              <a:ea typeface="Tahoma"/>
              <a:cs typeface="Times New Roman"/>
            </a:endParaRPr>
          </a:p>
          <a:p>
            <a:pPr marL="0" lvl="0" indent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ru-RU" sz="3000" b="0" i="0" u="none" strike="noStrike" cap="none" dirty="0">
                <a:solidFill>
                  <a:srgbClr val="FFFFFF"/>
                </a:solidFill>
                <a:latin typeface="Times New Roman"/>
                <a:ea typeface="Calibri"/>
                <a:cs typeface="Times New Roman"/>
              </a:rPr>
              <a:t>22% — советы есть, но логика непонятна</a:t>
            </a:r>
            <a:endParaRPr lang="ru-RU" dirty="0">
              <a:latin typeface="Times New Roman"/>
              <a:cs typeface="Times New Roman"/>
            </a:endParaRPr>
          </a:p>
        </p:txBody>
      </p:sp>
      <p:sp>
        <p:nvSpPr>
          <p:cNvPr id="510" name="Card1Bg"/>
          <p:cNvSpPr/>
          <p:nvPr/>
        </p:nvSpPr>
        <p:spPr>
          <a:xfrm>
            <a:off x="10331801" y="5815007"/>
            <a:ext cx="5037134" cy="2171064"/>
          </a:xfrm>
          <a:prstGeom prst="rect">
            <a:avLst/>
          </a:prstGeom>
          <a:solidFill>
            <a:srgbClr val="EBF5FB"/>
          </a:solidFill>
          <a:ln w="32150" cap="flat" cmpd="sng">
            <a:solidFill>
              <a:srgbClr val="DDEEF7"/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11" name="Card1Accent"/>
          <p:cNvSpPr/>
          <p:nvPr/>
        </p:nvSpPr>
        <p:spPr>
          <a:xfrm>
            <a:off x="10261979" y="5801039"/>
            <a:ext cx="144000" cy="2199000"/>
          </a:xfrm>
          <a:prstGeom prst="rect">
            <a:avLst/>
          </a:prstGeom>
          <a:solidFill>
            <a:srgbClr val="1E9ED8"/>
          </a:solidFill>
          <a:ln w="32150" cap="flat" cmpd="sng">
            <a:solidFill>
              <a:srgbClr val="1E9E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2" name="Card1Num"/>
          <p:cNvSpPr/>
          <p:nvPr/>
        </p:nvSpPr>
        <p:spPr>
          <a:xfrm>
            <a:off x="10621580" y="5917452"/>
            <a:ext cx="3000000" cy="11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31400" tIns="115650" rIns="231400" bIns="1156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5568" b="1" i="0" u="none" strike="noStrike" cap="none">
                <a:solidFill>
                  <a:srgbClr val="1B5FA8"/>
                </a:solidFill>
                <a:latin typeface="Calibri"/>
                <a:ea typeface="Calibri"/>
                <a:cs typeface="Calibri"/>
              </a:rPr>
              <a:t>107</a:t>
            </a:r>
          </a:p>
        </p:txBody>
      </p:sp>
      <p:sp>
        <p:nvSpPr>
          <p:cNvPr id="513" name="Card1Label"/>
          <p:cNvSpPr/>
          <p:nvPr/>
        </p:nvSpPr>
        <p:spPr>
          <a:xfrm>
            <a:off x="10405605" y="6099028"/>
            <a:ext cx="7200000" cy="1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31400" tIns="115650" rIns="231400" bIns="1156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037" b="0" i="0" u="none" strike="noStrike" cap="none" dirty="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респондентов опрошено</a:t>
            </a:r>
          </a:p>
        </p:txBody>
      </p:sp>
      <p:sp>
        <p:nvSpPr>
          <p:cNvPr id="520" name="Card2Bg"/>
          <p:cNvSpPr/>
          <p:nvPr/>
        </p:nvSpPr>
        <p:spPr>
          <a:xfrm>
            <a:off x="10275944" y="8075562"/>
            <a:ext cx="5148851" cy="2171065"/>
          </a:xfrm>
          <a:prstGeom prst="rect">
            <a:avLst/>
          </a:prstGeom>
          <a:solidFill>
            <a:srgbClr val="FAFAFA"/>
          </a:solidFill>
          <a:ln w="32150" cap="flat" cmpd="sng">
            <a:solidFill>
              <a:srgbClr val="DDEEF7"/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21" name="Card2Accent"/>
          <p:cNvSpPr/>
          <p:nvPr/>
        </p:nvSpPr>
        <p:spPr>
          <a:xfrm>
            <a:off x="10261979" y="8080873"/>
            <a:ext cx="144000" cy="2165754"/>
          </a:xfrm>
          <a:prstGeom prst="rect">
            <a:avLst/>
          </a:prstGeom>
          <a:solidFill>
            <a:srgbClr val="1E9ED8"/>
          </a:solidFill>
          <a:ln w="32150" cap="flat" cmpd="sng">
            <a:solidFill>
              <a:srgbClr val="1E9E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2" name="Card2Num"/>
          <p:cNvSpPr/>
          <p:nvPr/>
        </p:nvSpPr>
        <p:spPr>
          <a:xfrm>
            <a:off x="10621580" y="8051819"/>
            <a:ext cx="3000000" cy="11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31400" tIns="115650" rIns="231400" bIns="1156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5568" b="1" i="0" u="none" strike="noStrike" cap="none" dirty="0">
                <a:solidFill>
                  <a:srgbClr val="1B5FA8"/>
                </a:solidFill>
                <a:latin typeface="Calibri"/>
                <a:ea typeface="Calibri"/>
                <a:cs typeface="Calibri"/>
              </a:rPr>
              <a:t>83%</a:t>
            </a:r>
          </a:p>
        </p:txBody>
      </p:sp>
      <p:sp>
        <p:nvSpPr>
          <p:cNvPr id="523" name="Card2Label"/>
          <p:cNvSpPr/>
          <p:nvPr/>
        </p:nvSpPr>
        <p:spPr>
          <a:xfrm>
            <a:off x="10405605" y="8557303"/>
            <a:ext cx="5412516" cy="1941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31400" tIns="115650" rIns="231400" bIns="1156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037" b="0" i="0" u="none" strike="noStrike" cap="none" dirty="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готовы использовать СППР (если будет понятна логика)</a:t>
            </a:r>
          </a:p>
        </p:txBody>
      </p:sp>
      <p:sp>
        <p:nvSpPr>
          <p:cNvPr id="530" name="Card3Bg"/>
          <p:cNvSpPr/>
          <p:nvPr/>
        </p:nvSpPr>
        <p:spPr>
          <a:xfrm>
            <a:off x="10275943" y="10574860"/>
            <a:ext cx="5134887" cy="2101229"/>
          </a:xfrm>
          <a:prstGeom prst="rect">
            <a:avLst/>
          </a:prstGeom>
          <a:solidFill>
            <a:srgbClr val="EBF5FB"/>
          </a:solidFill>
          <a:ln w="32150" cap="flat" cmpd="sng">
            <a:solidFill>
              <a:srgbClr val="DDEEF7"/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31" name="Card3Accent"/>
          <p:cNvSpPr/>
          <p:nvPr/>
        </p:nvSpPr>
        <p:spPr>
          <a:xfrm>
            <a:off x="10261979" y="10574859"/>
            <a:ext cx="144000" cy="2101230"/>
          </a:xfrm>
          <a:prstGeom prst="rect">
            <a:avLst/>
          </a:prstGeom>
          <a:solidFill>
            <a:srgbClr val="1E9ED8"/>
          </a:solidFill>
          <a:ln w="32150" cap="flat" cmpd="sng">
            <a:solidFill>
              <a:srgbClr val="1E9E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2" name="Card3Num"/>
          <p:cNvSpPr/>
          <p:nvPr/>
        </p:nvSpPr>
        <p:spPr>
          <a:xfrm>
            <a:off x="10621580" y="10601817"/>
            <a:ext cx="3000000" cy="11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31400" tIns="115650" rIns="231400" bIns="1156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5568" b="1" i="0" u="none" strike="noStrike" cap="none">
                <a:solidFill>
                  <a:srgbClr val="1B5FA8"/>
                </a:solidFill>
                <a:latin typeface="Calibri"/>
                <a:ea typeface="Calibri"/>
                <a:cs typeface="Calibri"/>
              </a:rPr>
              <a:t>77%</a:t>
            </a:r>
          </a:p>
        </p:txBody>
      </p:sp>
      <p:sp>
        <p:nvSpPr>
          <p:cNvPr id="533" name="Card3Label"/>
          <p:cNvSpPr/>
          <p:nvPr/>
        </p:nvSpPr>
        <p:spPr>
          <a:xfrm>
            <a:off x="10363711" y="11090676"/>
            <a:ext cx="6250399" cy="1844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31400" tIns="115650" rIns="231400" bIns="1156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037" b="0" i="0" u="none" strike="noStrike" cap="none" dirty="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ЦА — 18–27 лет (студенты и молодые специалисты)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B9E1E3AF-FE68-203C-708A-EF15D8529EA5}"/>
                  </a:ext>
                </a:extLst>
              </p14:cNvPr>
              <p14:cNvContentPartPr/>
              <p14:nvPr/>
            </p14:nvContentPartPr>
            <p14:xfrm>
              <a:off x="5690867" y="1011161"/>
              <a:ext cx="27404" cy="27404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B9E1E3AF-FE68-203C-708A-EF15D8529EA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731727" y="-3784539"/>
                <a:ext cx="1940203" cy="9591400"/>
              </a:xfrm>
              <a:prstGeom prst="rect">
                <a:avLst/>
              </a:prstGeom>
            </p:spPr>
          </p:pic>
        </mc:Fallback>
      </mc:AlternateContent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CF80F049-2CFF-15E7-9CB3-29CE52EFBAE1}"/>
              </a:ext>
            </a:extLst>
          </p:cNvPr>
          <p:cNvSpPr txBox="1">
            <a:spLocks/>
          </p:cNvSpPr>
          <p:nvPr/>
        </p:nvSpPr>
        <p:spPr>
          <a:xfrm>
            <a:off x="1302654" y="12856464"/>
            <a:ext cx="6952346" cy="730250"/>
          </a:xfrm>
          <a:prstGeom prst="rect">
            <a:avLst/>
          </a:prstGeom>
        </p:spPr>
        <p:txBody>
          <a:bodyPr lIns="91440" tIns="45720" rIns="91440" bIns="45720" anchor="t"/>
          <a:lstStyle>
            <a:defPPr>
              <a:defRPr lang="ru-RU"/>
            </a:defPPr>
            <a:lvl1pPr marL="0" algn="l" defTabSz="182870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354" algn="l" defTabSz="182870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709" algn="l" defTabSz="182870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063" algn="l" defTabSz="182870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417" algn="l" defTabSz="182870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1771" algn="l" defTabSz="182870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126" algn="l" defTabSz="182870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480" algn="l" defTabSz="182870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4834" algn="l" defTabSz="182870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500">
                <a:solidFill>
                  <a:schemeClr val="tx2"/>
                </a:solidFill>
                <a:latin typeface="Tahoma"/>
                <a:ea typeface="Tahoma"/>
                <a:cs typeface="Tahoma"/>
              </a:rPr>
              <a:t>Разработка алгоритмического обеспечения системы поддержки принятия решений в сфере персональных финансов</a:t>
            </a:r>
          </a:p>
        </p:txBody>
      </p:sp>
      <p:sp>
        <p:nvSpPr>
          <p:cNvPr id="8" name="Текст 11">
            <a:extLst>
              <a:ext uri="{FF2B5EF4-FFF2-40B4-BE49-F238E27FC236}">
                <a16:creationId xmlns:a16="http://schemas.microsoft.com/office/drawing/2014/main" id="{EE337CE8-A879-3442-FC00-F72186DEE187}"/>
              </a:ext>
            </a:extLst>
          </p:cNvPr>
          <p:cNvSpPr txBox="1">
            <a:spLocks/>
          </p:cNvSpPr>
          <p:nvPr/>
        </p:nvSpPr>
        <p:spPr>
          <a:xfrm>
            <a:off x="8674101" y="12856752"/>
            <a:ext cx="6937374" cy="35514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457177" indent="-457177" algn="l" defTabSz="1828709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531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5886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240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594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8949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303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7657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011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500">
                <a:solidFill>
                  <a:schemeClr val="tx2"/>
                </a:solidFill>
                <a:latin typeface="Tahoma"/>
                <a:ea typeface="Tahoma"/>
                <a:cs typeface="Tahoma"/>
              </a:rPr>
              <a:t>Евдокимов В.М.</a:t>
            </a:r>
            <a:endParaRPr lang="ru-RU" sz="1500">
              <a:solidFill>
                <a:schemeClr val="tx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9968FA-AC4D-6DAB-F87C-B1ABA0CBF5AA}"/>
              </a:ext>
            </a:extLst>
          </p:cNvPr>
          <p:cNvSpPr txBox="1"/>
          <p:nvPr/>
        </p:nvSpPr>
        <p:spPr>
          <a:xfrm>
            <a:off x="530100" y="3879525"/>
            <a:ext cx="23492305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1" dirty="0">
                <a:solidFill>
                  <a:srgbClr val="0541F0"/>
                </a:solidFill>
                <a:latin typeface="Tahoma"/>
                <a:ea typeface="Tahoma"/>
                <a:cs typeface="Tahoma"/>
              </a:rPr>
              <a:t>– значительная часть пользователей принимает финансовые решения интуитивно, без формализованных расчётов;</a:t>
            </a:r>
            <a:br>
              <a:rPr lang="ru-RU" sz="2800" b="1" dirty="0">
                <a:solidFill>
                  <a:srgbClr val="0541F0"/>
                </a:solidFill>
                <a:latin typeface="Tahoma"/>
                <a:ea typeface="Tahoma"/>
                <a:cs typeface="Tahoma"/>
              </a:rPr>
            </a:br>
            <a:r>
              <a:rPr lang="ru-RU" sz="2800" b="1" dirty="0">
                <a:solidFill>
                  <a:srgbClr val="0541F0"/>
                </a:solidFill>
                <a:latin typeface="Tahoma"/>
                <a:ea typeface="Tahoma"/>
                <a:cs typeface="Tahoma"/>
              </a:rPr>
              <a:t>– существующие решения либо ограничиваются учётом операций, либо используют непрозрачную логику рекомендаций;</a:t>
            </a:r>
            <a:br>
              <a:rPr lang="ru-RU" sz="2800" b="1" dirty="0">
                <a:solidFill>
                  <a:srgbClr val="0541F0"/>
                </a:solidFill>
                <a:latin typeface="Tahoma"/>
                <a:ea typeface="Tahoma"/>
                <a:cs typeface="Tahoma"/>
              </a:rPr>
            </a:br>
            <a:r>
              <a:rPr lang="ru-RU" sz="2800" b="1" dirty="0">
                <a:solidFill>
                  <a:srgbClr val="0541F0"/>
                </a:solidFill>
                <a:latin typeface="Tahoma"/>
                <a:ea typeface="Tahoma"/>
                <a:cs typeface="Tahoma"/>
              </a:rPr>
              <a:t>– отсутствует инструмент, позволяющий выбирать между альтернативами с учётом ликвидности, риска и целей;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2456E4B-5E07-D2C9-CE79-B1966E6EEFB0}"/>
              </a:ext>
            </a:extLst>
          </p:cNvPr>
          <p:cNvSpPr txBox="1"/>
          <p:nvPr/>
        </p:nvSpPr>
        <p:spPr>
          <a:xfrm>
            <a:off x="458027" y="10758597"/>
            <a:ext cx="9696151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1" dirty="0">
                <a:latin typeface="Tahoma"/>
                <a:ea typeface="Tahoma"/>
                <a:cs typeface="Tahoma"/>
              </a:rPr>
              <a:t>Вывод</a:t>
            </a:r>
            <a:r>
              <a:rPr lang="ru-RU" sz="2800" b="1" dirty="0">
                <a:solidFill>
                  <a:srgbClr val="0541F0"/>
                </a:solidFill>
                <a:latin typeface="Tahoma"/>
                <a:ea typeface="Tahoma"/>
                <a:cs typeface="Tahoma"/>
              </a:rPr>
              <a:t>: требуется система поддержки принятия решений, обеспечивающая формализованный и объяснимый выбор финансовой стратегии</a:t>
            </a:r>
          </a:p>
          <a:p>
            <a:endParaRPr lang="ru-RU" sz="2800" b="1" dirty="0">
              <a:solidFill>
                <a:srgbClr val="0541F0"/>
              </a:solidFill>
              <a:latin typeface="Tahoma"/>
              <a:ea typeface="Tahoma"/>
              <a:cs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Заголовок 10"/>
          <p:cNvSpPr>
            <a:spLocks noGrp="1"/>
          </p:cNvSpPr>
          <p:nvPr>
            <p:ph type="ctrTitle"/>
          </p:nvPr>
        </p:nvSpPr>
        <p:spPr>
          <a:xfrm>
            <a:off x="1298516" y="2115691"/>
            <a:ext cx="16585038" cy="1878793"/>
          </a:xfrm>
        </p:spPr>
        <p:txBody>
          <a:bodyPr/>
          <a:lstStyle/>
          <a:p>
            <a:r>
              <a:rPr lang="ru-RU" sz="7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Цель ВКР</a:t>
            </a:r>
            <a:br>
              <a:rPr lang="ru-RU" sz="7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ru-RU" sz="7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Объект и предмет исследования</a:t>
            </a:r>
          </a:p>
        </p:txBody>
      </p:sp>
      <p:sp>
        <p:nvSpPr>
          <p:cNvPr id="12" name="Текст 11"/>
          <p:cNvSpPr>
            <a:spLocks noGrp="1"/>
          </p:cNvSpPr>
          <p:nvPr>
            <p:ph type="body" sz="quarter" idx="12"/>
          </p:nvPr>
        </p:nvSpPr>
        <p:spPr>
          <a:xfrm>
            <a:off x="1297765" y="4139970"/>
            <a:ext cx="10627535" cy="5143398"/>
          </a:xfrm>
        </p:spPr>
        <p:txBody>
          <a:bodyPr/>
          <a:lstStyle/>
          <a:p>
            <a:endParaRPr lang="ru-RU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ru-RU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ru-RU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разработка алгоритмического обеспечения системы поддержки принятия решений в сфере персональных финансов, обеспечивающего формализованный выбор и ранжирование альтернатив с учётом ограничений</a:t>
            </a: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9"/>
          </p:nvPr>
        </p:nvSpPr>
        <p:spPr>
          <a:xfrm>
            <a:off x="1302657" y="12664440"/>
            <a:ext cx="6952346" cy="730250"/>
          </a:xfrm>
        </p:spPr>
        <p:txBody>
          <a:bodyPr/>
          <a:lstStyle/>
          <a:p>
            <a:r>
              <a:rPr lang="ru-RU">
                <a:latin typeface="Tahoma"/>
                <a:ea typeface="Tahoma"/>
                <a:cs typeface="Tahoma"/>
              </a:rPr>
              <a:t>Разработка алгоритмического обеспечения системы поддержки принятия решений в сфере персональных финансов</a:t>
            </a:r>
            <a:endParaRPr lang="en-US"/>
          </a:p>
        </p:txBody>
      </p:sp>
      <p:sp>
        <p:nvSpPr>
          <p:cNvPr id="13" name="Текст 12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ru-RU" sz="1500" baseline="0">
                <a:solidFill>
                  <a:srgbClr val="505569"/>
                </a:solidFill>
                <a:latin typeface="Tahoma"/>
              </a:rPr>
              <a:t>Евдокимов В.М.</a:t>
            </a:r>
            <a:r>
              <a:rPr lang="ru-RU" sz="1500">
                <a:latin typeface="Tahoma"/>
                <a:ea typeface="Tahoma"/>
                <a:cs typeface="Tahoma"/>
              </a:rPr>
              <a:t>​</a:t>
            </a:r>
            <a:endParaRPr lang="ru-RU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4" name="Текст 13"/>
          <p:cNvSpPr>
            <a:spLocks noGrp="1"/>
          </p:cNvSpPr>
          <p:nvPr>
            <p:ph type="body" sz="quarter" idx="23"/>
          </p:nvPr>
        </p:nvSpPr>
        <p:spPr>
          <a:xfrm>
            <a:off x="15749589" y="5373052"/>
            <a:ext cx="8347074" cy="1180148"/>
          </a:xfrm>
        </p:spPr>
        <p:txBody>
          <a:bodyPr/>
          <a:lstStyle/>
          <a:p>
            <a:r>
              <a:rPr lang="ru-RU" sz="6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Объект исследования</a:t>
            </a:r>
          </a:p>
        </p:txBody>
      </p:sp>
      <p:sp>
        <p:nvSpPr>
          <p:cNvPr id="15" name="Текст 14"/>
          <p:cNvSpPr>
            <a:spLocks noGrp="1"/>
          </p:cNvSpPr>
          <p:nvPr>
            <p:ph type="body" sz="quarter" idx="25"/>
          </p:nvPr>
        </p:nvSpPr>
        <p:spPr>
          <a:xfrm>
            <a:off x="15750196" y="6497778"/>
            <a:ext cx="6936767" cy="1180148"/>
          </a:xfrm>
        </p:spPr>
        <p:txBody>
          <a:bodyPr/>
          <a:lstStyle/>
          <a:p>
            <a:r>
              <a:rPr lang="ru-RU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процессы принятия решений в сфере персональных финансов</a:t>
            </a:r>
          </a:p>
        </p:txBody>
      </p:sp>
      <p:sp>
        <p:nvSpPr>
          <p:cNvPr id="16" name="Номер слайда 15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66B5E2A4-72D4-4DC4-9470-54C0EE06E412}" type="slidenum">
              <a:rPr lang="ru-RU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/>
              <a:t>3</a:t>
            </a:fld>
            <a:endParaRPr lang="ru-RU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45C67F7-4BE9-D164-D985-B201311EDF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57113" y="10155316"/>
            <a:ext cx="11925299" cy="2117645"/>
          </a:xfrm>
          <a:prstGeom prst="rect">
            <a:avLst/>
          </a:prstGeom>
        </p:spPr>
      </p:pic>
      <p:sp>
        <p:nvSpPr>
          <p:cNvPr id="7" name="Текст 13">
            <a:extLst>
              <a:ext uri="{FF2B5EF4-FFF2-40B4-BE49-F238E27FC236}">
                <a16:creationId xmlns:a16="http://schemas.microsoft.com/office/drawing/2014/main" id="{FD321E9B-48EA-C7F3-71E2-E49C606E541D}"/>
              </a:ext>
            </a:extLst>
          </p:cNvPr>
          <p:cNvSpPr txBox="1">
            <a:spLocks/>
          </p:cNvSpPr>
          <p:nvPr/>
        </p:nvSpPr>
        <p:spPr>
          <a:xfrm>
            <a:off x="15749588" y="8132784"/>
            <a:ext cx="8347074" cy="11801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1828709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7300" kern="120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  <a:lvl2pPr marL="1371531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5886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240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594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8949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303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7657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011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6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Предмет исследования</a:t>
            </a:r>
          </a:p>
        </p:txBody>
      </p:sp>
      <p:sp>
        <p:nvSpPr>
          <p:cNvPr id="8" name="Текст 14">
            <a:extLst>
              <a:ext uri="{FF2B5EF4-FFF2-40B4-BE49-F238E27FC236}">
                <a16:creationId xmlns:a16="http://schemas.microsoft.com/office/drawing/2014/main" id="{45157E0E-4153-BB6E-585F-9907AEE9D051}"/>
              </a:ext>
            </a:extLst>
          </p:cNvPr>
          <p:cNvSpPr txBox="1">
            <a:spLocks/>
          </p:cNvSpPr>
          <p:nvPr/>
        </p:nvSpPr>
        <p:spPr>
          <a:xfrm>
            <a:off x="15879151" y="9240690"/>
            <a:ext cx="7914299" cy="257553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1828709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4000" b="0" kern="1200">
                <a:solidFill>
                  <a:schemeClr val="bg2"/>
                </a:solidFill>
                <a:latin typeface="TT Norms Pro" panose="020B0103030101020204" pitchFamily="34" charset="0"/>
                <a:ea typeface="+mn-ea"/>
                <a:cs typeface="+mn-cs"/>
              </a:defRPr>
            </a:lvl1pPr>
            <a:lvl2pPr marL="1371531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5886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240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594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8949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303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7657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011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алгоритмическое обеспечение СППР, предназначенной для обработки финансовых данных пользователя и генерации рекомендаций</a:t>
            </a:r>
          </a:p>
        </p:txBody>
      </p:sp>
      <p:sp>
        <p:nvSpPr>
          <p:cNvPr id="9" name="Текст 13">
            <a:extLst>
              <a:ext uri="{FF2B5EF4-FFF2-40B4-BE49-F238E27FC236}">
                <a16:creationId xmlns:a16="http://schemas.microsoft.com/office/drawing/2014/main" id="{64C27232-40FF-F5B5-B727-850B1FD5DBD4}"/>
              </a:ext>
            </a:extLst>
          </p:cNvPr>
          <p:cNvSpPr txBox="1">
            <a:spLocks/>
          </p:cNvSpPr>
          <p:nvPr/>
        </p:nvSpPr>
        <p:spPr>
          <a:xfrm>
            <a:off x="1381615" y="4428409"/>
            <a:ext cx="8347074" cy="11801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1828709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7300" kern="120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  <a:lvl2pPr marL="1371531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5886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240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594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8949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303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7657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011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6000" dirty="0">
                <a:solidFill>
                  <a:schemeClr val="accent5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Цель ВКР: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B76B2D-1441-5ACA-16C2-B87916EFFDCB}"/>
              </a:ext>
            </a:extLst>
          </p:cNvPr>
          <p:cNvSpPr txBox="1"/>
          <p:nvPr/>
        </p:nvSpPr>
        <p:spPr>
          <a:xfrm>
            <a:off x="1381615" y="8454971"/>
            <a:ext cx="10772286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sz="300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– формализовать задачу выбора финансовой стратегии (параметры, ограничения, критерии);</a:t>
            </a:r>
            <a:br>
              <a:rPr lang="ru-RU" sz="300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ru-RU" sz="300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– разработать математическую модель оценки финансового состояния пользователя;</a:t>
            </a:r>
            <a:br>
              <a:rPr lang="ru-RU" sz="300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ru-RU" sz="300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– реализовать алгоритм формирования и ранжирования альтернатив;</a:t>
            </a:r>
            <a:br>
              <a:rPr lang="ru-RU" sz="300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ru-RU" sz="300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– создать программный прототип системы и провести оценку эффективности;</a:t>
            </a:r>
          </a:p>
        </p:txBody>
      </p:sp>
      <p:sp>
        <p:nvSpPr>
          <p:cNvPr id="10" name="Текст 13">
            <a:extLst>
              <a:ext uri="{FF2B5EF4-FFF2-40B4-BE49-F238E27FC236}">
                <a16:creationId xmlns:a16="http://schemas.microsoft.com/office/drawing/2014/main" id="{22EB88A9-194D-B60B-892C-5D8B51CA23F8}"/>
              </a:ext>
            </a:extLst>
          </p:cNvPr>
          <p:cNvSpPr txBox="1">
            <a:spLocks/>
          </p:cNvSpPr>
          <p:nvPr/>
        </p:nvSpPr>
        <p:spPr>
          <a:xfrm>
            <a:off x="1381615" y="7458701"/>
            <a:ext cx="8281988" cy="11801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1828709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7300" kern="120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  <a:lvl2pPr marL="1371531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5886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240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594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8949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303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7657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011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6000" dirty="0">
                <a:solidFill>
                  <a:schemeClr val="accent5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Задачи ВКР:</a:t>
            </a:r>
          </a:p>
        </p:txBody>
      </p:sp>
    </p:spTree>
    <p:extLst>
      <p:ext uri="{BB962C8B-B14F-4D97-AF65-F5344CB8AC3E}">
        <p14:creationId xmlns:p14="http://schemas.microsoft.com/office/powerpoint/2010/main" val="39334162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0B567D-7C21-A6EC-1904-EE77935B5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Заголовок 22">
            <a:extLst>
              <a:ext uri="{FF2B5EF4-FFF2-40B4-BE49-F238E27FC236}">
                <a16:creationId xmlns:a16="http://schemas.microsoft.com/office/drawing/2014/main" id="{1D9A74CD-FA6C-5136-F5B3-0CC3C63BA5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8516" y="2115691"/>
            <a:ext cx="16379884" cy="1878793"/>
          </a:xfrm>
        </p:spPr>
        <p:txBody>
          <a:bodyPr/>
          <a:lstStyle/>
          <a:p>
            <a:r>
              <a:rPr lang="ru-RU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Анализ существующих решений</a:t>
            </a:r>
          </a:p>
        </p:txBody>
      </p:sp>
      <p:sp>
        <p:nvSpPr>
          <p:cNvPr id="32" name="Текст 31">
            <a:extLst>
              <a:ext uri="{FF2B5EF4-FFF2-40B4-BE49-F238E27FC236}">
                <a16:creationId xmlns:a16="http://schemas.microsoft.com/office/drawing/2014/main" id="{FAD11BFA-1416-C948-4AF9-849502D9E45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ru-RU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Евдокимов В.М.</a:t>
            </a:r>
          </a:p>
          <a:p>
            <a:endParaRPr lang="ru-RU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3" name="Нижний колонтитул 32">
            <a:extLst>
              <a:ext uri="{FF2B5EF4-FFF2-40B4-BE49-F238E27FC236}">
                <a16:creationId xmlns:a16="http://schemas.microsoft.com/office/drawing/2014/main" id="{75843C67-17C7-CFF7-8CBE-923D5BD966DF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ru-RU">
                <a:latin typeface="Tahoma"/>
                <a:ea typeface="Tahoma"/>
                <a:cs typeface="Tahoma"/>
              </a:rPr>
              <a:t>Разработка алгоритмического обеспечения системы поддержки принятия решений в сфере персональных финансов</a:t>
            </a:r>
          </a:p>
        </p:txBody>
      </p:sp>
      <p:sp>
        <p:nvSpPr>
          <p:cNvPr id="34" name="Номер слайда 33">
            <a:extLst>
              <a:ext uri="{FF2B5EF4-FFF2-40B4-BE49-F238E27FC236}">
                <a16:creationId xmlns:a16="http://schemas.microsoft.com/office/drawing/2014/main" id="{FB0578E8-0F76-5747-2B58-15974FAC5252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66B5E2A4-72D4-4DC4-9470-54C0EE06E412}" type="slidenum">
              <a:rPr lang="ru-RU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/>
              <a:t>4</a:t>
            </a:fld>
            <a:endParaRPr lang="ru-RU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51C4AD7C-A227-44A2-5ED2-7BC50770F6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3678678"/>
              </p:ext>
            </p:extLst>
          </p:nvPr>
        </p:nvGraphicFramePr>
        <p:xfrm>
          <a:off x="1298516" y="3561286"/>
          <a:ext cx="21980583" cy="455401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349934">
                  <a:extLst>
                    <a:ext uri="{9D8B030D-6E8A-4147-A177-3AD203B41FA5}">
                      <a16:colId xmlns:a16="http://schemas.microsoft.com/office/drawing/2014/main" val="2589882006"/>
                    </a:ext>
                  </a:extLst>
                </a:gridCol>
                <a:gridCol w="8496300">
                  <a:extLst>
                    <a:ext uri="{9D8B030D-6E8A-4147-A177-3AD203B41FA5}">
                      <a16:colId xmlns:a16="http://schemas.microsoft.com/office/drawing/2014/main" val="1478060562"/>
                    </a:ext>
                  </a:extLst>
                </a:gridCol>
                <a:gridCol w="8134349">
                  <a:extLst>
                    <a:ext uri="{9D8B030D-6E8A-4147-A177-3AD203B41FA5}">
                      <a16:colId xmlns:a16="http://schemas.microsoft.com/office/drawing/2014/main" val="2633475097"/>
                    </a:ext>
                  </a:extLst>
                </a:gridCol>
              </a:tblGrid>
              <a:tr h="905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3200" kern="100" dirty="0">
                          <a:effectLst/>
                        </a:rPr>
                        <a:t>Класс решений</a:t>
                      </a:r>
                      <a:endParaRPr lang="ru-RU" sz="3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3200" kern="100" dirty="0">
                          <a:effectLst/>
                        </a:rPr>
                        <a:t>Преимущества</a:t>
                      </a:r>
                      <a:endParaRPr lang="ru-RU" sz="3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3200" kern="100" dirty="0">
                          <a:effectLst/>
                        </a:rPr>
                        <a:t>Ограничения</a:t>
                      </a:r>
                      <a:endParaRPr lang="ru-RU" sz="3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345711415"/>
                  </a:ext>
                </a:extLst>
              </a:tr>
              <a:tr h="90585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3200" kern="100">
                          <a:effectLst/>
                        </a:rPr>
                        <a:t>Приложения-трекеры</a:t>
                      </a:r>
                      <a:endParaRPr lang="ru-RU" sz="3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3200" kern="100">
                          <a:effectLst/>
                        </a:rPr>
                        <a:t>Удобный учёт и категоризация операций</a:t>
                      </a:r>
                      <a:endParaRPr lang="ru-RU" sz="3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3200" kern="100">
                          <a:effectLst/>
                        </a:rPr>
                        <a:t>Нет поддержки выбора альтернатив</a:t>
                      </a:r>
                      <a:endParaRPr lang="ru-RU" sz="3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015597506"/>
                  </a:ext>
                </a:extLst>
              </a:tr>
              <a:tr h="90585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3200" kern="100">
                          <a:effectLst/>
                        </a:rPr>
                        <a:t>Банковские советники</a:t>
                      </a:r>
                      <a:endParaRPr lang="ru-RU" sz="3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3200" kern="100">
                          <a:effectLst/>
                        </a:rPr>
                        <a:t>Интеграция с данными пользователя</a:t>
                      </a:r>
                      <a:endParaRPr lang="ru-RU" sz="3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3200" kern="100">
                          <a:effectLst/>
                        </a:rPr>
                        <a:t>Непрозрачная логика («чёрный ящик»)</a:t>
                      </a:r>
                      <a:endParaRPr lang="ru-RU" sz="3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695270967"/>
                  </a:ext>
                </a:extLst>
              </a:tr>
              <a:tr h="183646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3200" kern="100">
                          <a:effectLst/>
                        </a:rPr>
                        <a:t>Таблицы и ручные методы</a:t>
                      </a:r>
                      <a:endParaRPr lang="ru-RU" sz="3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3200" kern="100">
                          <a:effectLst/>
                        </a:rPr>
                        <a:t>Гибкость и полный контроль</a:t>
                      </a:r>
                      <a:endParaRPr lang="ru-RU" sz="3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3200" kern="100" dirty="0">
                          <a:effectLst/>
                        </a:rPr>
                        <a:t>Высокая трудоёмкость, отсутствие автоматизации</a:t>
                      </a:r>
                      <a:endParaRPr lang="ru-RU" sz="3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57238957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48E89403-CBCA-683A-F6E0-1200CF2625D9}"/>
              </a:ext>
            </a:extLst>
          </p:cNvPr>
          <p:cNvSpPr txBox="1"/>
          <p:nvPr/>
        </p:nvSpPr>
        <p:spPr>
          <a:xfrm>
            <a:off x="4778826" y="9043215"/>
            <a:ext cx="1808117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Ни один из существующих подходов не обеспечивает формализованный и объяснимый выбор финансовых решений с учётом ограничений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4DC39B2-E834-53E4-CB08-B487CE933A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8516" y="8673377"/>
            <a:ext cx="2800350" cy="304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491349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42665C-4D45-88BA-CEB3-56C036FD1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Заголовок 22">
            <a:extLst>
              <a:ext uri="{FF2B5EF4-FFF2-40B4-BE49-F238E27FC236}">
                <a16:creationId xmlns:a16="http://schemas.microsoft.com/office/drawing/2014/main" id="{20903800-AEFD-FA58-BBCF-5C6B75AE06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8516" y="2115691"/>
            <a:ext cx="21313834" cy="1878793"/>
          </a:xfrm>
        </p:spPr>
        <p:txBody>
          <a:bodyPr/>
          <a:lstStyle/>
          <a:p>
            <a:r>
              <a:rPr lang="ru-RU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Формальная постановка задачи</a:t>
            </a:r>
          </a:p>
        </p:txBody>
      </p:sp>
      <p:sp>
        <p:nvSpPr>
          <p:cNvPr id="32" name="Текст 31">
            <a:extLst>
              <a:ext uri="{FF2B5EF4-FFF2-40B4-BE49-F238E27FC236}">
                <a16:creationId xmlns:a16="http://schemas.microsoft.com/office/drawing/2014/main" id="{235DE8AE-D6AC-5BF1-79F1-9C8A71B0C77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ru-RU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Евдокимов В.М.</a:t>
            </a:r>
          </a:p>
          <a:p>
            <a:endParaRPr lang="ru-RU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3" name="Нижний колонтитул 32">
            <a:extLst>
              <a:ext uri="{FF2B5EF4-FFF2-40B4-BE49-F238E27FC236}">
                <a16:creationId xmlns:a16="http://schemas.microsoft.com/office/drawing/2014/main" id="{3A4E852D-2200-DF0B-D36E-4BA98056C49D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ru-RU">
                <a:latin typeface="Tahoma"/>
                <a:ea typeface="Tahoma"/>
                <a:cs typeface="Tahoma"/>
              </a:rPr>
              <a:t>Разработка алгоритмического обеспечения системы поддержки принятия решений в сфере персональных финансов</a:t>
            </a:r>
          </a:p>
        </p:txBody>
      </p:sp>
      <p:sp>
        <p:nvSpPr>
          <p:cNvPr id="34" name="Номер слайда 33">
            <a:extLst>
              <a:ext uri="{FF2B5EF4-FFF2-40B4-BE49-F238E27FC236}">
                <a16:creationId xmlns:a16="http://schemas.microsoft.com/office/drawing/2014/main" id="{1174AA80-14F2-262B-1726-F788B000F919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66B5E2A4-72D4-4DC4-9470-54C0EE06E412}" type="slidenum">
              <a:rPr lang="ru-RU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/>
              <a:t>5</a:t>
            </a:fld>
            <a:endParaRPr lang="ru-RU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A6DF17-1261-F16F-8C2B-C79A79D6FBEA}"/>
              </a:ext>
            </a:extLst>
          </p:cNvPr>
          <p:cNvSpPr txBox="1"/>
          <p:nvPr/>
        </p:nvSpPr>
        <p:spPr>
          <a:xfrm>
            <a:off x="1949331" y="4184473"/>
            <a:ext cx="32766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000">
                <a:solidFill>
                  <a:schemeClr val="accen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Доходы</a:t>
            </a:r>
            <a:endParaRPr lang="ru-RU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2721657-4DE3-6394-E7A3-EB48E162ACD5}"/>
                  </a:ext>
                </a:extLst>
              </p:cNvPr>
              <p:cNvSpPr txBox="1"/>
              <p:nvPr/>
            </p:nvSpPr>
            <p:spPr>
              <a:xfrm>
                <a:off x="4105215" y="4184473"/>
                <a:ext cx="4527550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ru-RU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ru-RU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2721657-4DE3-6394-E7A3-EB48E162AC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5215" y="4184473"/>
                <a:ext cx="4527550" cy="6463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DA8E1A0F-D043-DF5A-D74C-C2E98C9CBA2D}"/>
              </a:ext>
            </a:extLst>
          </p:cNvPr>
          <p:cNvSpPr txBox="1"/>
          <p:nvPr/>
        </p:nvSpPr>
        <p:spPr>
          <a:xfrm>
            <a:off x="1949331" y="5199455"/>
            <a:ext cx="32766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000">
                <a:solidFill>
                  <a:schemeClr val="accen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Расходы</a:t>
            </a:r>
            <a:endParaRPr lang="ru-RU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44600B6-39AF-DDA1-2A46-8C3FB24C8139}"/>
                  </a:ext>
                </a:extLst>
              </p:cNvPr>
              <p:cNvSpPr txBox="1"/>
              <p:nvPr/>
            </p:nvSpPr>
            <p:spPr>
              <a:xfrm>
                <a:off x="4105215" y="5199455"/>
                <a:ext cx="4991100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ru-RU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sepChr m:val=","/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  <m:e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…</m:t>
                          </m:r>
                        </m:e>
                        <m:e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ru-RU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44600B6-39AF-DDA1-2A46-8C3FB24C81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5215" y="5199455"/>
                <a:ext cx="4991100" cy="6463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9774511A-5D6F-C7C2-A868-D99F3D7B8017}"/>
              </a:ext>
            </a:extLst>
          </p:cNvPr>
          <p:cNvSpPr txBox="1"/>
          <p:nvPr/>
        </p:nvSpPr>
        <p:spPr>
          <a:xfrm>
            <a:off x="10635117" y="3427759"/>
            <a:ext cx="437838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000">
                <a:solidFill>
                  <a:schemeClr val="accen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Чистый денежный поток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593C530-9722-2C76-498D-7FBF90511A06}"/>
                  </a:ext>
                </a:extLst>
              </p:cNvPr>
              <p:cNvSpPr txBox="1"/>
              <p:nvPr/>
            </p:nvSpPr>
            <p:spPr>
              <a:xfrm>
                <a:off x="10161649" y="4699666"/>
                <a:ext cx="5124450" cy="16673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i="1" smtClean="0">
                          <a:latin typeface="Cambria Math" panose="02040503050406030204" pitchFamily="18" charset="0"/>
                        </a:rPr>
                        <m:t>𝐶</m:t>
                      </m:r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ru-RU" i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grow m:val="on"/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  <m:r>
                        <a:rPr lang="ru-RU" i="0"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limLoc m:val="undOvr"/>
                          <m:grow m:val="on"/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ru-RU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593C530-9722-2C76-498D-7FBF90511A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1649" y="4699666"/>
                <a:ext cx="5124450" cy="166731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32A41B9F-E766-C592-BF12-98E0768D9F76}"/>
              </a:ext>
            </a:extLst>
          </p:cNvPr>
          <p:cNvSpPr txBox="1"/>
          <p:nvPr/>
        </p:nvSpPr>
        <p:spPr>
          <a:xfrm>
            <a:off x="1916023" y="7187080"/>
            <a:ext cx="43783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000">
                <a:solidFill>
                  <a:schemeClr val="accen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Обязательства</a:t>
            </a:r>
            <a:endParaRPr lang="ru-RU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085F68F-1307-234C-1149-B42C23DC6E6B}"/>
                  </a:ext>
                </a:extLst>
              </p:cNvPr>
              <p:cNvSpPr txBox="1"/>
              <p:nvPr/>
            </p:nvSpPr>
            <p:spPr>
              <a:xfrm>
                <a:off x="5225931" y="7200913"/>
                <a:ext cx="4896644" cy="7274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i="1" smtClean="0"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ru-RU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sepChr m:val=","/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e>
                            <m:sub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e>
                            <m:sub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  <m:e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…</m:t>
                          </m:r>
                        </m:e>
                        <m:e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e>
                            <m:sub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ru-RU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085F68F-1307-234C-1149-B42C23DC6E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5931" y="7200913"/>
                <a:ext cx="4896644" cy="72744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CE2FA81-112E-0910-26DD-7FD77E5565D8}"/>
                  </a:ext>
                </a:extLst>
              </p:cNvPr>
              <p:cNvSpPr txBox="1"/>
              <p:nvPr/>
            </p:nvSpPr>
            <p:spPr>
              <a:xfrm>
                <a:off x="5074102" y="7838102"/>
                <a:ext cx="4378384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r>
                        <a:rPr lang="ru-RU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sepChr m:val=","/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ru-RU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CE2FA81-112E-0910-26DD-7FD77E5565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102" y="7838102"/>
                <a:ext cx="4378384" cy="64633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63B22DC7-3E67-C4C2-98CD-3408A418AFF5}"/>
              </a:ext>
            </a:extLst>
          </p:cNvPr>
          <p:cNvSpPr txBox="1"/>
          <p:nvPr/>
        </p:nvSpPr>
        <p:spPr>
          <a:xfrm>
            <a:off x="10611069" y="7147872"/>
            <a:ext cx="489664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000">
                <a:solidFill>
                  <a:schemeClr val="accen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Плановый платёж по обязательству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CE02EC2-2386-7D09-7A0C-26466512B12C}"/>
                  </a:ext>
                </a:extLst>
              </p:cNvPr>
              <p:cNvSpPr txBox="1"/>
              <p:nvPr/>
            </p:nvSpPr>
            <p:spPr>
              <a:xfrm>
                <a:off x="10028299" y="8450706"/>
                <a:ext cx="5257800" cy="6706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ru-RU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ru-RU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sepChr m:val=","/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e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ru-RU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CE02EC2-2386-7D09-7A0C-26466512B1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28299" y="8450706"/>
                <a:ext cx="5257800" cy="67069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CD96A736-A62E-37B6-E96A-4D4CA2853E82}"/>
              </a:ext>
            </a:extLst>
          </p:cNvPr>
          <p:cNvSpPr txBox="1"/>
          <p:nvPr/>
        </p:nvSpPr>
        <p:spPr>
          <a:xfrm>
            <a:off x="1298516" y="3286598"/>
            <a:ext cx="662628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0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1. Денежные потоки</a:t>
            </a:r>
            <a:endParaRPr lang="ru-RU" b="1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322F69E-6ECA-3E02-9306-6D1CFFD71F44}"/>
              </a:ext>
            </a:extLst>
          </p:cNvPr>
          <p:cNvSpPr txBox="1"/>
          <p:nvPr/>
        </p:nvSpPr>
        <p:spPr>
          <a:xfrm>
            <a:off x="1298516" y="6220391"/>
            <a:ext cx="9636184" cy="6435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0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2. Обязательства пользователя</a:t>
            </a:r>
            <a:endParaRPr lang="ru-RU" b="1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820BD08-C64B-480E-9257-842C52101B10}"/>
              </a:ext>
            </a:extLst>
          </p:cNvPr>
          <p:cNvSpPr txBox="1"/>
          <p:nvPr/>
        </p:nvSpPr>
        <p:spPr>
          <a:xfrm>
            <a:off x="1298516" y="8813688"/>
            <a:ext cx="963618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0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3. Параметры пользователя</a:t>
            </a:r>
            <a:endParaRPr lang="ru-RU" b="1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6059C1EC-6C12-BB95-DE1A-9A492FD8FE32}"/>
                  </a:ext>
                </a:extLst>
              </p:cNvPr>
              <p:cNvSpPr txBox="1"/>
              <p:nvPr/>
            </p:nvSpPr>
            <p:spPr>
              <a:xfrm>
                <a:off x="1531987" y="9657824"/>
                <a:ext cx="4111287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i="1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ru-RU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sepChr m:val=","/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𝑚𝑖𝑛</m:t>
                              </m:r>
                            </m:sub>
                          </m:sSub>
                        </m:e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</m:d>
                    </m:oMath>
                  </m:oMathPara>
                </a14:m>
                <a:endParaRPr lang="ru-RU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6059C1EC-6C12-BB95-DE1A-9A492FD8FE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1987" y="9657824"/>
                <a:ext cx="4111287" cy="64633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Box 27">
            <a:extLst>
              <a:ext uri="{FF2B5EF4-FFF2-40B4-BE49-F238E27FC236}">
                <a16:creationId xmlns:a16="http://schemas.microsoft.com/office/drawing/2014/main" id="{9CE6CC6F-59CA-6321-55A6-B12FFAA596B5}"/>
              </a:ext>
            </a:extLst>
          </p:cNvPr>
          <p:cNvSpPr txBox="1"/>
          <p:nvPr/>
        </p:nvSpPr>
        <p:spPr>
          <a:xfrm>
            <a:off x="1298516" y="10354122"/>
            <a:ext cx="963618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0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4. Финансовые цели пользователя</a:t>
            </a:r>
            <a:endParaRPr lang="ru-RU" b="1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3A2D5C47-9CCE-E1FC-535C-07562EF372C9}"/>
                  </a:ext>
                </a:extLst>
              </p:cNvPr>
              <p:cNvSpPr txBox="1"/>
              <p:nvPr/>
            </p:nvSpPr>
            <p:spPr>
              <a:xfrm>
                <a:off x="1365190" y="11111734"/>
                <a:ext cx="5003800" cy="7274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i="1" smtClean="0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ru-RU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sepChr m:val=","/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  <m:e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…</m:t>
                          </m:r>
                        </m:e>
                        <m:e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ru-RU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3A2D5C47-9CCE-E1FC-535C-07562EF372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5190" y="11111734"/>
                <a:ext cx="5003800" cy="72744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1" name="Таблица 30">
                <a:extLst>
                  <a:ext uri="{FF2B5EF4-FFF2-40B4-BE49-F238E27FC236}">
                    <a16:creationId xmlns:a16="http://schemas.microsoft.com/office/drawing/2014/main" id="{0AA55921-B3D2-6600-B992-05AD622D4E1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6773058"/>
                  </p:ext>
                </p:extLst>
              </p:nvPr>
            </p:nvGraphicFramePr>
            <p:xfrm>
              <a:off x="16529383" y="3286598"/>
              <a:ext cx="7384867" cy="8552579"/>
            </p:xfrm>
            <a:graphic>
              <a:graphicData uri="http://schemas.openxmlformats.org/drawingml/2006/table">
                <a:tbl>
                  <a:tblPr firstRow="1" firstCol="1" bandRow="1">
                    <a:tableStyleId>{2D5ABB26-0587-4C30-8999-92F81FD0307C}</a:tableStyleId>
                  </a:tblPr>
                  <a:tblGrid>
                    <a:gridCol w="4976016">
                      <a:extLst>
                        <a:ext uri="{9D8B030D-6E8A-4147-A177-3AD203B41FA5}">
                          <a16:colId xmlns:a16="http://schemas.microsoft.com/office/drawing/2014/main" val="1299177965"/>
                        </a:ext>
                      </a:extLst>
                    </a:gridCol>
                    <a:gridCol w="2408851">
                      <a:extLst>
                        <a:ext uri="{9D8B030D-6E8A-4147-A177-3AD203B41FA5}">
                          <a16:colId xmlns:a16="http://schemas.microsoft.com/office/drawing/2014/main" val="3630810891"/>
                        </a:ext>
                      </a:extLst>
                    </a:gridCol>
                  </a:tblGrid>
                  <a:tr h="592661"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buNone/>
                          </a:pPr>
                          <a:r>
                            <a:rPr lang="ru-RU" sz="2800">
                              <a:effectLst/>
                              <a:latin typeface="+mn-lt"/>
                            </a:rPr>
                            <a:t>Наименование</a:t>
                          </a:r>
                          <a:endParaRPr lang="ru-RU" sz="32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buNone/>
                          </a:pPr>
                          <a:r>
                            <a:rPr lang="ru-RU" sz="2800">
                              <a:effectLst/>
                              <a:latin typeface="+mn-lt"/>
                            </a:rPr>
                            <a:t>Обозначение</a:t>
                          </a:r>
                          <a:endParaRPr lang="ru-RU" sz="32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330947070"/>
                      </a:ext>
                    </a:extLst>
                  </a:tr>
                  <a:tr h="610300"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  <a:buNone/>
                          </a:pPr>
                          <a:r>
                            <a:rPr lang="ru-RU" sz="2800">
                              <a:effectLst/>
                              <a:latin typeface="+mn-lt"/>
                            </a:rPr>
                            <a:t>Доходы в момент времени </a:t>
                          </a:r>
                          <a14:m>
                            <m:oMath xmlns:m="http://schemas.openxmlformats.org/officeDocument/2006/math">
                              <m:r>
                                <a:rPr lang="ru-RU" sz="2800">
                                  <a:effectLst/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oMath>
                          </a14:m>
                          <a:endParaRPr lang="ru-RU" sz="32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u-RU" sz="28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2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e>
                                  <m:sub>
                                    <m:r>
                                      <a:rPr lang="ru-RU" sz="2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32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701565836"/>
                      </a:ext>
                    </a:extLst>
                  </a:tr>
                  <a:tr h="610300"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  <a:buNone/>
                          </a:pPr>
                          <a:r>
                            <a:rPr lang="ru-RU" sz="2800">
                              <a:effectLst/>
                              <a:latin typeface="+mn-lt"/>
                            </a:rPr>
                            <a:t>Расходы в момент времени </a:t>
                          </a:r>
                          <a14:m>
                            <m:oMath xmlns:m="http://schemas.openxmlformats.org/officeDocument/2006/math">
                              <m:r>
                                <a:rPr lang="ru-RU" sz="2800">
                                  <a:effectLst/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oMath>
                          </a14:m>
                          <a:endParaRPr lang="ru-RU" sz="32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u-RU" sz="28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2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lang="ru-RU" sz="2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32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560381278"/>
                      </a:ext>
                    </a:extLst>
                  </a:tr>
                  <a:tr h="610300"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  <a:buNone/>
                          </a:pPr>
                          <a:r>
                            <a:rPr lang="ru-RU" sz="2800">
                              <a:effectLst/>
                              <a:latin typeface="+mn-lt"/>
                            </a:rPr>
                            <a:t>Чистый денежный поток</a:t>
                          </a:r>
                          <a:endParaRPr lang="ru-RU" sz="32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z="2800">
                                    <a:effectLst/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  <m:sSub>
                                  <m:sSubPr>
                                    <m:ctrlPr>
                                      <a:rPr lang="ru-RU" sz="28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2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𝐹</m:t>
                                    </m:r>
                                  </m:e>
                                  <m:sub>
                                    <m:r>
                                      <a:rPr lang="ru-RU" sz="2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32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4142211573"/>
                      </a:ext>
                    </a:extLst>
                  </a:tr>
                  <a:tr h="610300"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  <a:buNone/>
                          </a:pPr>
                          <a:r>
                            <a:rPr lang="ru-RU" sz="2800">
                              <a:effectLst/>
                              <a:latin typeface="+mn-lt"/>
                            </a:rPr>
                            <a:t>Множество обязательств</a:t>
                          </a:r>
                          <a:endParaRPr lang="ru-RU" sz="32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z="2800">
                                    <a:effectLst/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</m:oMath>
                            </m:oMathPara>
                          </a14:m>
                          <a:endParaRPr lang="ru-RU" sz="32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69206577"/>
                      </a:ext>
                    </a:extLst>
                  </a:tr>
                  <a:tr h="610300"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  <a:buNone/>
                          </a:pPr>
                          <a:r>
                            <a:rPr lang="ru-RU" sz="2800">
                              <a:effectLst/>
                              <a:latin typeface="+mn-lt"/>
                            </a:rPr>
                            <a:t>Отдельное обязательство</a:t>
                          </a:r>
                          <a:endParaRPr lang="ru-RU" sz="32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u-RU" sz="28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2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𝑜</m:t>
                                    </m:r>
                                  </m:e>
                                  <m:sub>
                                    <m:r>
                                      <a:rPr lang="ru-RU" sz="2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32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814656706"/>
                      </a:ext>
                    </a:extLst>
                  </a:tr>
                  <a:tr h="636318"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  <a:buNone/>
                          </a:pPr>
                          <a:r>
                            <a:rPr lang="ru-RU" sz="2800">
                              <a:effectLst/>
                              <a:latin typeface="+mn-lt"/>
                            </a:rPr>
                            <a:t>Платёж по обязательству</a:t>
                          </a:r>
                          <a:endParaRPr lang="ru-RU" sz="32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u-RU" sz="28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2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ru-RU" sz="2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  <m:r>
                                      <a:rPr lang="ru-RU" sz="2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ru-RU" sz="2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32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523372304"/>
                      </a:ext>
                    </a:extLst>
                  </a:tr>
                  <a:tr h="610300"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  <a:buNone/>
                          </a:pPr>
                          <a:r>
                            <a:rPr lang="ru-RU" sz="2800">
                              <a:effectLst/>
                              <a:latin typeface="+mn-lt"/>
                            </a:rPr>
                            <a:t>Параметры пользователя</a:t>
                          </a:r>
                          <a:endParaRPr lang="ru-RU" sz="32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z="2800">
                                    <a:effectLst/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</m:oMath>
                            </m:oMathPara>
                          </a14:m>
                          <a:endParaRPr lang="ru-RU" sz="32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427042598"/>
                      </a:ext>
                    </a:extLst>
                  </a:tr>
                  <a:tr h="610300"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  <a:buNone/>
                          </a:pPr>
                          <a:r>
                            <a:rPr lang="ru-RU" sz="2800">
                              <a:effectLst/>
                              <a:latin typeface="+mn-lt"/>
                            </a:rPr>
                            <a:t>Минимальная ликвидность</a:t>
                          </a:r>
                          <a:endParaRPr lang="ru-RU" sz="32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u-RU" sz="28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2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e>
                                  <m:sub>
                                    <m:r>
                                      <a:rPr lang="ru-RU" sz="2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𝑚𝑖𝑛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32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41329073"/>
                      </a:ext>
                    </a:extLst>
                  </a:tr>
                  <a:tr h="610300"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  <a:buNone/>
                          </a:pPr>
                          <a:r>
                            <a:rPr lang="ru-RU" sz="2800">
                              <a:effectLst/>
                              <a:latin typeface="+mn-lt"/>
                            </a:rPr>
                            <a:t>Уровень риска</a:t>
                          </a:r>
                          <a:endParaRPr lang="ru-RU" sz="32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z="2800">
                                    <a:effectLst/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oMath>
                            </m:oMathPara>
                          </a14:m>
                          <a:endParaRPr lang="ru-RU" sz="32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662624280"/>
                      </a:ext>
                    </a:extLst>
                  </a:tr>
                  <a:tr h="610300"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  <a:buNone/>
                          </a:pPr>
                          <a:r>
                            <a:rPr lang="ru-RU" sz="2800">
                              <a:effectLst/>
                              <a:latin typeface="+mn-lt"/>
                            </a:rPr>
                            <a:t>Горизонт планирования</a:t>
                          </a:r>
                          <a:endParaRPr lang="ru-RU" sz="32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z="2800">
                                    <a:effectLst/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oMath>
                            </m:oMathPara>
                          </a14:m>
                          <a:endParaRPr lang="ru-RU" sz="32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785016973"/>
                      </a:ext>
                    </a:extLst>
                  </a:tr>
                  <a:tr h="610300"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  <a:buNone/>
                          </a:pPr>
                          <a:r>
                            <a:rPr lang="ru-RU" sz="2800">
                              <a:effectLst/>
                              <a:latin typeface="+mn-lt"/>
                            </a:rPr>
                            <a:t>Множество целей</a:t>
                          </a:r>
                          <a:endParaRPr lang="ru-RU" sz="32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z="2800">
                                    <a:effectLst/>
                                    <a:latin typeface="Cambria Math" panose="02040503050406030204" pitchFamily="18" charset="0"/>
                                  </a:rPr>
                                  <m:t>𝐺</m:t>
                                </m:r>
                              </m:oMath>
                            </m:oMathPara>
                          </a14:m>
                          <a:endParaRPr lang="ru-RU" sz="32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4032749654"/>
                      </a:ext>
                    </a:extLst>
                  </a:tr>
                  <a:tr h="610300"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  <a:buNone/>
                          </a:pPr>
                          <a:r>
                            <a:rPr lang="ru-RU" sz="2800">
                              <a:effectLst/>
                              <a:latin typeface="+mn-lt"/>
                            </a:rPr>
                            <a:t>Отдельная цель</a:t>
                          </a:r>
                          <a:endParaRPr lang="ru-RU" sz="32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u-RU" sz="28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2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lang="ru-RU" sz="2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32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382146215"/>
                      </a:ext>
                    </a:extLst>
                  </a:tr>
                  <a:tr h="610300"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  <a:buNone/>
                          </a:pPr>
                          <a:r>
                            <a:rPr lang="ru-RU" sz="2800">
                              <a:effectLst/>
                              <a:latin typeface="+mn-lt"/>
                            </a:rPr>
                            <a:t>Баланс</a:t>
                          </a:r>
                          <a:endParaRPr lang="ru-RU" sz="32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u-RU" sz="28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2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  <m:sub>
                                    <m:r>
                                      <a:rPr lang="ru-RU" sz="2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32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83951824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1" name="Таблица 30">
                <a:extLst>
                  <a:ext uri="{FF2B5EF4-FFF2-40B4-BE49-F238E27FC236}">
                    <a16:creationId xmlns:a16="http://schemas.microsoft.com/office/drawing/2014/main" id="{0AA55921-B3D2-6600-B992-05AD622D4E1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6773058"/>
                  </p:ext>
                </p:extLst>
              </p:nvPr>
            </p:nvGraphicFramePr>
            <p:xfrm>
              <a:off x="16529383" y="3286598"/>
              <a:ext cx="7384867" cy="8552579"/>
            </p:xfrm>
            <a:graphic>
              <a:graphicData uri="http://schemas.openxmlformats.org/drawingml/2006/table">
                <a:tbl>
                  <a:tblPr firstRow="1" firstCol="1" bandRow="1">
                    <a:tableStyleId>{2D5ABB26-0587-4C30-8999-92F81FD0307C}</a:tableStyleId>
                  </a:tblPr>
                  <a:tblGrid>
                    <a:gridCol w="4976016">
                      <a:extLst>
                        <a:ext uri="{9D8B030D-6E8A-4147-A177-3AD203B41FA5}">
                          <a16:colId xmlns:a16="http://schemas.microsoft.com/office/drawing/2014/main" val="1299177965"/>
                        </a:ext>
                      </a:extLst>
                    </a:gridCol>
                    <a:gridCol w="2408851">
                      <a:extLst>
                        <a:ext uri="{9D8B030D-6E8A-4147-A177-3AD203B41FA5}">
                          <a16:colId xmlns:a16="http://schemas.microsoft.com/office/drawing/2014/main" val="3630810891"/>
                        </a:ext>
                      </a:extLst>
                    </a:gridCol>
                  </a:tblGrid>
                  <a:tr h="592661"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buNone/>
                          </a:pPr>
                          <a:r>
                            <a:rPr lang="ru-RU" sz="2800">
                              <a:effectLst/>
                              <a:latin typeface="+mn-lt"/>
                            </a:rPr>
                            <a:t>Наименование</a:t>
                          </a:r>
                          <a:endParaRPr lang="ru-RU" sz="32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buNone/>
                          </a:pPr>
                          <a:r>
                            <a:rPr lang="ru-RU" sz="2800">
                              <a:effectLst/>
                              <a:latin typeface="+mn-lt"/>
                            </a:rPr>
                            <a:t>Обозначение</a:t>
                          </a:r>
                          <a:endParaRPr lang="ru-RU" sz="32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330947070"/>
                      </a:ext>
                    </a:extLst>
                  </a:tr>
                  <a:tr h="610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11"/>
                          <a:stretch>
                            <a:fillRect t="-101000" r="-48348" b="-1227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11"/>
                          <a:stretch>
                            <a:fillRect l="-206835" t="-101000" b="-1227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01565836"/>
                      </a:ext>
                    </a:extLst>
                  </a:tr>
                  <a:tr h="610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11"/>
                          <a:stretch>
                            <a:fillRect t="-199010" r="-48348" b="-11148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11"/>
                          <a:stretch>
                            <a:fillRect l="-206835" t="-199010" b="-11148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60381278"/>
                      </a:ext>
                    </a:extLst>
                  </a:tr>
                  <a:tr h="610300"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  <a:buNone/>
                          </a:pPr>
                          <a:r>
                            <a:rPr lang="ru-RU" sz="2800">
                              <a:effectLst/>
                              <a:latin typeface="+mn-lt"/>
                            </a:rPr>
                            <a:t>Чистый денежный поток</a:t>
                          </a:r>
                          <a:endParaRPr lang="ru-RU" sz="32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11"/>
                          <a:stretch>
                            <a:fillRect l="-206835" t="-302000" b="-1026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42211573"/>
                      </a:ext>
                    </a:extLst>
                  </a:tr>
                  <a:tr h="610300"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  <a:buNone/>
                          </a:pPr>
                          <a:r>
                            <a:rPr lang="ru-RU" sz="2800">
                              <a:effectLst/>
                              <a:latin typeface="+mn-lt"/>
                            </a:rPr>
                            <a:t>Множество обязательств</a:t>
                          </a:r>
                          <a:endParaRPr lang="ru-RU" sz="32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11"/>
                          <a:stretch>
                            <a:fillRect l="-206835" t="-402000" b="-926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9206577"/>
                      </a:ext>
                    </a:extLst>
                  </a:tr>
                  <a:tr h="610300"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  <a:buNone/>
                          </a:pPr>
                          <a:r>
                            <a:rPr lang="ru-RU" sz="2800">
                              <a:effectLst/>
                              <a:latin typeface="+mn-lt"/>
                            </a:rPr>
                            <a:t>Отдельное обязательство</a:t>
                          </a:r>
                          <a:endParaRPr lang="ru-RU" sz="32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11"/>
                          <a:stretch>
                            <a:fillRect l="-206835" t="-502000" b="-826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14656706"/>
                      </a:ext>
                    </a:extLst>
                  </a:tr>
                  <a:tr h="636318"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  <a:buNone/>
                          </a:pPr>
                          <a:r>
                            <a:rPr lang="ru-RU" sz="2800">
                              <a:effectLst/>
                              <a:latin typeface="+mn-lt"/>
                            </a:rPr>
                            <a:t>Платёж по обязательству</a:t>
                          </a:r>
                          <a:endParaRPr lang="ru-RU" sz="32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11"/>
                          <a:stretch>
                            <a:fillRect l="-206835" t="-573333" b="-68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23372304"/>
                      </a:ext>
                    </a:extLst>
                  </a:tr>
                  <a:tr h="610300"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  <a:buNone/>
                          </a:pPr>
                          <a:r>
                            <a:rPr lang="ru-RU" sz="2800">
                              <a:effectLst/>
                              <a:latin typeface="+mn-lt"/>
                            </a:rPr>
                            <a:t>Параметры пользователя</a:t>
                          </a:r>
                          <a:endParaRPr lang="ru-RU" sz="32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11"/>
                          <a:stretch>
                            <a:fillRect l="-206835" t="-707000" b="-621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7042598"/>
                      </a:ext>
                    </a:extLst>
                  </a:tr>
                  <a:tr h="610300"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  <a:buNone/>
                          </a:pPr>
                          <a:r>
                            <a:rPr lang="ru-RU" sz="2800">
                              <a:effectLst/>
                              <a:latin typeface="+mn-lt"/>
                            </a:rPr>
                            <a:t>Минимальная ликвидность</a:t>
                          </a:r>
                          <a:endParaRPr lang="ru-RU" sz="32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11"/>
                          <a:stretch>
                            <a:fillRect l="-206835" t="-807000" b="-521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29073"/>
                      </a:ext>
                    </a:extLst>
                  </a:tr>
                  <a:tr h="610300"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  <a:buNone/>
                          </a:pPr>
                          <a:r>
                            <a:rPr lang="ru-RU" sz="2800">
                              <a:effectLst/>
                              <a:latin typeface="+mn-lt"/>
                            </a:rPr>
                            <a:t>Уровень риска</a:t>
                          </a:r>
                          <a:endParaRPr lang="ru-RU" sz="32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11"/>
                          <a:stretch>
                            <a:fillRect l="-206835" t="-907000" b="-421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62624280"/>
                      </a:ext>
                    </a:extLst>
                  </a:tr>
                  <a:tr h="610300"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  <a:buNone/>
                          </a:pPr>
                          <a:r>
                            <a:rPr lang="ru-RU" sz="2800">
                              <a:effectLst/>
                              <a:latin typeface="+mn-lt"/>
                            </a:rPr>
                            <a:t>Горизонт планирования</a:t>
                          </a:r>
                          <a:endParaRPr lang="ru-RU" sz="32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11"/>
                          <a:stretch>
                            <a:fillRect l="-206835" t="-1007000" b="-321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85016973"/>
                      </a:ext>
                    </a:extLst>
                  </a:tr>
                  <a:tr h="610300"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  <a:buNone/>
                          </a:pPr>
                          <a:r>
                            <a:rPr lang="ru-RU" sz="2800">
                              <a:effectLst/>
                              <a:latin typeface="+mn-lt"/>
                            </a:rPr>
                            <a:t>Множество целей</a:t>
                          </a:r>
                          <a:endParaRPr lang="ru-RU" sz="32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11"/>
                          <a:stretch>
                            <a:fillRect l="-206835" t="-1096040" b="-2178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32749654"/>
                      </a:ext>
                    </a:extLst>
                  </a:tr>
                  <a:tr h="610300"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  <a:buNone/>
                          </a:pPr>
                          <a:r>
                            <a:rPr lang="ru-RU" sz="2800">
                              <a:effectLst/>
                              <a:latin typeface="+mn-lt"/>
                            </a:rPr>
                            <a:t>Отдельная цель</a:t>
                          </a:r>
                          <a:endParaRPr lang="ru-RU" sz="32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11"/>
                          <a:stretch>
                            <a:fillRect l="-206835" t="-1208000" b="-12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82146215"/>
                      </a:ext>
                    </a:extLst>
                  </a:tr>
                  <a:tr h="610300"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  <a:buNone/>
                          </a:pPr>
                          <a:r>
                            <a:rPr lang="ru-RU" sz="2800">
                              <a:effectLst/>
                              <a:latin typeface="+mn-lt"/>
                            </a:rPr>
                            <a:t>Баланс</a:t>
                          </a:r>
                          <a:endParaRPr lang="ru-RU" sz="32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11"/>
                          <a:stretch>
                            <a:fillRect l="-206835" t="-1308000" b="-2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3951824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700976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55E648-39FF-F322-985E-1756095A33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Заголовок 22">
            <a:extLst>
              <a:ext uri="{FF2B5EF4-FFF2-40B4-BE49-F238E27FC236}">
                <a16:creationId xmlns:a16="http://schemas.microsoft.com/office/drawing/2014/main" id="{1C6C2134-8CFE-B863-90B2-48F577EAC3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8516" y="2115691"/>
            <a:ext cx="21313834" cy="1878793"/>
          </a:xfrm>
        </p:spPr>
        <p:txBody>
          <a:bodyPr/>
          <a:lstStyle/>
          <a:p>
            <a:r>
              <a:rPr lang="ru-RU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Целевая функция и критерий выбора</a:t>
            </a:r>
          </a:p>
        </p:txBody>
      </p:sp>
      <p:sp>
        <p:nvSpPr>
          <p:cNvPr id="32" name="Текст 31">
            <a:extLst>
              <a:ext uri="{FF2B5EF4-FFF2-40B4-BE49-F238E27FC236}">
                <a16:creationId xmlns:a16="http://schemas.microsoft.com/office/drawing/2014/main" id="{5576DE5D-6CA7-F098-035E-34E44F793F4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ru-RU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Евдокимов В.М.</a:t>
            </a:r>
          </a:p>
          <a:p>
            <a:endParaRPr lang="ru-RU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3" name="Нижний колонтитул 32">
            <a:extLst>
              <a:ext uri="{FF2B5EF4-FFF2-40B4-BE49-F238E27FC236}">
                <a16:creationId xmlns:a16="http://schemas.microsoft.com/office/drawing/2014/main" id="{77C19E5E-54FF-6C29-7D15-8A7552F72521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ru-RU">
                <a:latin typeface="Tahoma"/>
                <a:ea typeface="Tahoma"/>
                <a:cs typeface="Tahoma"/>
              </a:rPr>
              <a:t>Разработка алгоритмического обеспечения системы поддержки принятия решений в сфере персональных финансов</a:t>
            </a:r>
          </a:p>
        </p:txBody>
      </p:sp>
      <p:sp>
        <p:nvSpPr>
          <p:cNvPr id="34" name="Номер слайда 33">
            <a:extLst>
              <a:ext uri="{FF2B5EF4-FFF2-40B4-BE49-F238E27FC236}">
                <a16:creationId xmlns:a16="http://schemas.microsoft.com/office/drawing/2014/main" id="{C0CB1787-051C-F986-39EC-C351AEE4EAD0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66B5E2A4-72D4-4DC4-9470-54C0EE06E412}" type="slidenum">
              <a:rPr lang="ru-RU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/>
              <a:t>6</a:t>
            </a:fld>
            <a:endParaRPr lang="ru-RU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E181A02-9B44-2FAA-62A8-979C22361B25}"/>
              </a:ext>
            </a:extLst>
          </p:cNvPr>
          <p:cNvSpPr txBox="1"/>
          <p:nvPr/>
        </p:nvSpPr>
        <p:spPr>
          <a:xfrm>
            <a:off x="1085056" y="4217765"/>
            <a:ext cx="1009338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Интегральная функция полезности:</a:t>
            </a:r>
            <a:endParaRPr lang="ru-RU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FD1EA9E-3460-4D6F-35C2-61161A6FE9B7}"/>
                  </a:ext>
                </a:extLst>
              </p:cNvPr>
              <p:cNvSpPr txBox="1"/>
              <p:nvPr/>
            </p:nvSpPr>
            <p:spPr>
              <a:xfrm>
                <a:off x="3062122" y="5291604"/>
                <a:ext cx="18161332" cy="10156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6000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𝑼</m:t>
                      </m:r>
                      <m:d>
                        <m:dPr>
                          <m:ctrlPr>
                            <a:rPr lang="ru-RU" sz="6000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sz="6000" b="1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6000" b="1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ru-RU" sz="6000" b="1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</m:e>
                      </m:d>
                      <m:r>
                        <a:rPr lang="ru-RU" sz="6000" b="1" i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ru-RU" sz="6000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6000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ru-RU" sz="6000" b="1" i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sSub>
                        <m:sSubPr>
                          <m:ctrlPr>
                            <a:rPr lang="ru-RU" sz="6000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6000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ru-RU" sz="6000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ru-RU" sz="6000" b="1" i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ru-RU" sz="6000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6000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ru-RU" sz="6000" b="1" i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sSub>
                        <m:sSubPr>
                          <m:ctrlPr>
                            <a:rPr lang="ru-RU" sz="6000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6000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𝑳</m:t>
                          </m:r>
                        </m:e>
                        <m:sub>
                          <m:r>
                            <a:rPr lang="ru-RU" sz="6000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ru-RU" sz="6000" b="1" i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ru-RU" sz="6000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6000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ru-RU" sz="6000" b="1" i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d>
                        <m:dPr>
                          <m:ctrlPr>
                            <a:rPr lang="ru-RU" sz="6000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6000" b="1" i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ru-RU" sz="6000" b="1" i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ru-RU" sz="6000" b="1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6000" b="1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𝑫</m:t>
                              </m:r>
                            </m:e>
                            <m:sub>
                              <m:r>
                                <a:rPr lang="ru-RU" sz="6000" b="1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</m:e>
                      </m:d>
                      <m:r>
                        <a:rPr lang="ru-RU" sz="6000" b="1" i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ru-RU" sz="6000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6000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ru-RU" sz="6000" b="1" i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  <m:sSub>
                        <m:sSubPr>
                          <m:ctrlPr>
                            <a:rPr lang="ru-RU" sz="6000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6000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ru-RU" sz="6000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</m:oMath>
                  </m:oMathPara>
                </a14:m>
                <a:endParaRPr lang="ru-RU" sz="6000" b="1" dirty="0">
                  <a:solidFill>
                    <a:schemeClr val="accent1"/>
                  </a:solidFill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FD1EA9E-3460-4D6F-35C2-61161A6FE9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2122" y="5291604"/>
                <a:ext cx="18161332" cy="101566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C12D16D-117F-8AE5-6204-E63DEDC7122C}"/>
                  </a:ext>
                </a:extLst>
              </p:cNvPr>
              <p:cNvSpPr txBox="1"/>
              <p:nvPr/>
            </p:nvSpPr>
            <p:spPr>
              <a:xfrm>
                <a:off x="1085056" y="6689178"/>
                <a:ext cx="12192000" cy="26064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ru-RU" sz="3600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Cordia New" panose="020B0304020202020204" pitchFamily="34" charset="-34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36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Cordia New" panose="020B0304020202020204" pitchFamily="34" charset="-34"/>
                          </a:rPr>
                        </m:ctrlPr>
                      </m:sSubPr>
                      <m:e>
                        <m:r>
                          <a:rPr lang="ru-RU" sz="36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Cordia New" panose="020B0304020202020204" pitchFamily="34" charset="-34"/>
                          </a:rPr>
                          <m:t>𝑅</m:t>
                        </m:r>
                      </m:e>
                      <m:sub>
                        <m:r>
                          <a:rPr lang="ru-RU" sz="36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Cordia New" panose="020B0304020202020204" pitchFamily="34" charset="-34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sz="3600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Cordia New" panose="020B0304020202020204" pitchFamily="34" charset="-34"/>
                  </a:rPr>
                  <a:t>— доступный ресурс;</a:t>
                </a:r>
                <a:br>
                  <a:rPr lang="ru-RU" sz="3600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Cordia New" panose="020B0304020202020204" pitchFamily="34" charset="-34"/>
                  </a:rPr>
                </a:br>
                <a:r>
                  <a:rPr lang="ru-RU" sz="3600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Cordia New" panose="020B0304020202020204" pitchFamily="34" charset="-34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36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Cordia New" panose="020B0304020202020204" pitchFamily="34" charset="-34"/>
                          </a:rPr>
                        </m:ctrlPr>
                      </m:sSubPr>
                      <m:e>
                        <m:r>
                          <a:rPr lang="ru-RU" sz="36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Cordia New" panose="020B0304020202020204" pitchFamily="34" charset="-34"/>
                          </a:rPr>
                          <m:t>𝐿</m:t>
                        </m:r>
                      </m:e>
                      <m:sub>
                        <m:r>
                          <a:rPr lang="ru-RU" sz="36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Cordia New" panose="020B0304020202020204" pitchFamily="34" charset="-34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sz="3600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Cordia New" panose="020B0304020202020204" pitchFamily="34" charset="-34"/>
                  </a:rPr>
                  <a:t>— ликвидность;</a:t>
                </a:r>
                <a:br>
                  <a:rPr lang="ru-RU" sz="3600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Cordia New" panose="020B0304020202020204" pitchFamily="34" charset="-34"/>
                  </a:rPr>
                </a:br>
                <a:r>
                  <a:rPr lang="ru-RU" sz="3600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Cordia New" panose="020B0304020202020204" pitchFamily="34" charset="-34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36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Cordia New" panose="020B0304020202020204" pitchFamily="34" charset="-34"/>
                          </a:rPr>
                        </m:ctrlPr>
                      </m:sSubPr>
                      <m:e>
                        <m:r>
                          <a:rPr lang="ru-RU" sz="36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Cordia New" panose="020B0304020202020204" pitchFamily="34" charset="-34"/>
                          </a:rPr>
                          <m:t>𝐷</m:t>
                        </m:r>
                      </m:e>
                      <m:sub>
                        <m:r>
                          <a:rPr lang="ru-RU" sz="36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Cordia New" panose="020B0304020202020204" pitchFamily="34" charset="-34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sz="3600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Cordia New" panose="020B0304020202020204" pitchFamily="34" charset="-34"/>
                  </a:rPr>
                  <a:t>— долговая нагрузка;</a:t>
                </a:r>
                <a:br>
                  <a:rPr lang="ru-RU" sz="3600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Cordia New" panose="020B0304020202020204" pitchFamily="34" charset="-34"/>
                  </a:rPr>
                </a:br>
                <a:r>
                  <a:rPr lang="ru-RU" sz="3600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Cordia New" panose="020B0304020202020204" pitchFamily="34" charset="-34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36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Cordia New" panose="020B0304020202020204" pitchFamily="34" charset="-34"/>
                          </a:rPr>
                        </m:ctrlPr>
                      </m:sSubPr>
                      <m:e>
                        <m:r>
                          <a:rPr lang="ru-RU" sz="36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Cordia New" panose="020B0304020202020204" pitchFamily="34" charset="-34"/>
                          </a:rPr>
                          <m:t>𝑆</m:t>
                        </m:r>
                      </m:e>
                      <m:sub>
                        <m:r>
                          <a:rPr lang="ru-RU" sz="36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Cordia New" panose="020B0304020202020204" pitchFamily="34" charset="-34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sz="3600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Cordia New" panose="020B0304020202020204" pitchFamily="34" charset="-34"/>
                  </a:rPr>
                  <a:t>— обеспеченность финансовых целей;</a:t>
                </a: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C12D16D-117F-8AE5-6204-E63DEDC712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5056" y="6689178"/>
                <a:ext cx="12192000" cy="2606483"/>
              </a:xfrm>
              <a:prstGeom prst="rect">
                <a:avLst/>
              </a:prstGeom>
              <a:blipFill>
                <a:blip r:embed="rId4"/>
                <a:stretch>
                  <a:fillRect t="-1402" b="-794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33FC6FD9-D3C2-C062-F8D2-79C8444158F5}"/>
              </a:ext>
            </a:extLst>
          </p:cNvPr>
          <p:cNvSpPr txBox="1"/>
          <p:nvPr/>
        </p:nvSpPr>
        <p:spPr>
          <a:xfrm>
            <a:off x="1085056" y="9797785"/>
            <a:ext cx="1219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Весовые коэффициенты: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E9F2F10-0940-1D65-56F1-44C9B6986989}"/>
                  </a:ext>
                </a:extLst>
              </p:cNvPr>
              <p:cNvSpPr txBox="1"/>
              <p:nvPr/>
            </p:nvSpPr>
            <p:spPr>
              <a:xfrm>
                <a:off x="1085056" y="10822756"/>
                <a:ext cx="12192000" cy="13322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ru-RU" sz="3600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Cordia New" panose="020B0304020202020204" pitchFamily="34" charset="-34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36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Cordia New" panose="020B0304020202020204" pitchFamily="34" charset="-34"/>
                          </a:rPr>
                        </m:ctrlPr>
                      </m:sSubPr>
                      <m:e>
                        <m:r>
                          <a:rPr lang="ru-RU" sz="36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Cordia New" panose="020B0304020202020204" pitchFamily="34" charset="-34"/>
                          </a:rPr>
                          <m:t>𝑤</m:t>
                        </m:r>
                      </m:e>
                      <m:sub>
                        <m:r>
                          <a:rPr lang="ru-RU" sz="36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Cordia New" panose="020B0304020202020204" pitchFamily="34" charset="-34"/>
                          </a:rPr>
                          <m:t>1</m:t>
                        </m:r>
                      </m:sub>
                    </m:sSub>
                    <m:r>
                      <a:rPr lang="ru-RU" sz="36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Cordia New" panose="020B0304020202020204" pitchFamily="34" charset="-34"/>
                      </a:rPr>
                      <m:t>,</m:t>
                    </m:r>
                    <m:sSub>
                      <m:sSubPr>
                        <m:ctrlPr>
                          <a:rPr lang="ru-RU" sz="36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Cordia New" panose="020B0304020202020204" pitchFamily="34" charset="-34"/>
                          </a:rPr>
                        </m:ctrlPr>
                      </m:sSubPr>
                      <m:e>
                        <m:r>
                          <a:rPr lang="ru-RU" sz="36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Cordia New" panose="020B0304020202020204" pitchFamily="34" charset="-34"/>
                          </a:rPr>
                          <m:t>𝑤</m:t>
                        </m:r>
                      </m:e>
                      <m:sub>
                        <m:r>
                          <a:rPr lang="ru-RU" sz="36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Cordia New" panose="020B0304020202020204" pitchFamily="34" charset="-34"/>
                          </a:rPr>
                          <m:t>2</m:t>
                        </m:r>
                      </m:sub>
                    </m:sSub>
                    <m:r>
                      <a:rPr lang="ru-RU" sz="36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Cordia New" panose="020B0304020202020204" pitchFamily="34" charset="-34"/>
                      </a:rPr>
                      <m:t>,</m:t>
                    </m:r>
                    <m:sSub>
                      <m:sSubPr>
                        <m:ctrlPr>
                          <a:rPr lang="ru-RU" sz="36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Cordia New" panose="020B0304020202020204" pitchFamily="34" charset="-34"/>
                          </a:rPr>
                        </m:ctrlPr>
                      </m:sSubPr>
                      <m:e>
                        <m:r>
                          <a:rPr lang="ru-RU" sz="36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Cordia New" panose="020B0304020202020204" pitchFamily="34" charset="-34"/>
                          </a:rPr>
                          <m:t>𝑤</m:t>
                        </m:r>
                      </m:e>
                      <m:sub>
                        <m:r>
                          <a:rPr lang="ru-RU" sz="36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Cordia New" panose="020B0304020202020204" pitchFamily="34" charset="-34"/>
                          </a:rPr>
                          <m:t>3</m:t>
                        </m:r>
                      </m:sub>
                    </m:sSub>
                    <m:r>
                      <a:rPr lang="ru-RU" sz="36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Cordia New" panose="020B0304020202020204" pitchFamily="34" charset="-34"/>
                      </a:rPr>
                      <m:t>,</m:t>
                    </m:r>
                    <m:sSub>
                      <m:sSubPr>
                        <m:ctrlPr>
                          <a:rPr lang="ru-RU" sz="36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Cordia New" panose="020B0304020202020204" pitchFamily="34" charset="-34"/>
                          </a:rPr>
                        </m:ctrlPr>
                      </m:sSubPr>
                      <m:e>
                        <m:r>
                          <a:rPr lang="ru-RU" sz="36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Cordia New" panose="020B0304020202020204" pitchFamily="34" charset="-34"/>
                          </a:rPr>
                          <m:t>𝑤</m:t>
                        </m:r>
                      </m:e>
                      <m:sub>
                        <m:r>
                          <a:rPr lang="ru-RU" sz="36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Cordia New" panose="020B0304020202020204" pitchFamily="34" charset="-34"/>
                          </a:rPr>
                          <m:t>4</m:t>
                        </m:r>
                      </m:sub>
                    </m:sSub>
                  </m:oMath>
                </a14:m>
                <a:r>
                  <a:rPr lang="ru-RU" sz="3600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Cordia New" panose="020B0304020202020204" pitchFamily="34" charset="-34"/>
                  </a:rPr>
                  <a:t>— значимость критериев;</a:t>
                </a:r>
                <a:br>
                  <a:rPr lang="ru-RU" sz="3600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Cordia New" panose="020B0304020202020204" pitchFamily="34" charset="-34"/>
                  </a:rPr>
                </a:br>
                <a:r>
                  <a:rPr lang="ru-RU" sz="3600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Cordia New" panose="020B0304020202020204" pitchFamily="34" charset="-34"/>
                  </a:rPr>
                  <a:t> </a:t>
                </a:r>
                <a14:m>
                  <m:oMath xmlns:m="http://schemas.openxmlformats.org/officeDocument/2006/math">
                    <m:r>
                      <a:rPr lang="ru-RU" sz="36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Cordia New" panose="020B0304020202020204" pitchFamily="34" charset="-34"/>
                      </a:rPr>
                      <m:t>∑</m:t>
                    </m:r>
                    <m:sSub>
                      <m:sSubPr>
                        <m:ctrlPr>
                          <a:rPr lang="ru-RU" sz="36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Cordia New" panose="020B0304020202020204" pitchFamily="34" charset="-34"/>
                          </a:rPr>
                        </m:ctrlPr>
                      </m:sSubPr>
                      <m:e>
                        <m:r>
                          <a:rPr lang="ru-RU" sz="36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Cordia New" panose="020B0304020202020204" pitchFamily="34" charset="-34"/>
                          </a:rPr>
                          <m:t>𝑤</m:t>
                        </m:r>
                      </m:e>
                      <m:sub>
                        <m:r>
                          <a:rPr lang="ru-RU" sz="36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Cordia New" panose="020B0304020202020204" pitchFamily="34" charset="-34"/>
                          </a:rPr>
                          <m:t>𝑘</m:t>
                        </m:r>
                      </m:sub>
                    </m:sSub>
                    <m:r>
                      <a:rPr lang="ru-RU" sz="36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Cordia New" panose="020B0304020202020204" pitchFamily="34" charset="-34"/>
                      </a:rPr>
                      <m:t>=1</m:t>
                    </m:r>
                  </m:oMath>
                </a14:m>
                <a:r>
                  <a:rPr lang="ru-RU" sz="3600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Cordia New" panose="020B0304020202020204" pitchFamily="34" charset="-34"/>
                  </a:rPr>
                  <a:t>;</a:t>
                </a:r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E9F2F10-0940-1D65-56F1-44C9B69869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5056" y="10822756"/>
                <a:ext cx="12192000" cy="1332288"/>
              </a:xfrm>
              <a:prstGeom prst="rect">
                <a:avLst/>
              </a:prstGeom>
              <a:blipFill>
                <a:blip r:embed="rId5"/>
                <a:stretch>
                  <a:fillRect t="-2740" b="-1643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656D3AAA-628E-D840-7526-590421045D8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269549" y="7143749"/>
            <a:ext cx="9466751" cy="5374353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20A3F817-91B2-5DDC-D115-071E4ACF017D}"/>
              </a:ext>
            </a:extLst>
          </p:cNvPr>
          <p:cNvSpPr txBox="1"/>
          <p:nvPr/>
        </p:nvSpPr>
        <p:spPr>
          <a:xfrm>
            <a:off x="15183399" y="7744469"/>
            <a:ext cx="855290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0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Критерий выбора: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18A63CD-5450-6955-3BD3-BDDF1E0F5CA2}"/>
              </a:ext>
            </a:extLst>
          </p:cNvPr>
          <p:cNvSpPr txBox="1"/>
          <p:nvPr/>
        </p:nvSpPr>
        <p:spPr>
          <a:xfrm>
            <a:off x="15183399" y="8928188"/>
            <a:ext cx="742895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6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Cordia New" panose="020B0304020202020204" pitchFamily="34" charset="-34"/>
              </a:rPr>
              <a:t>выбирается альтернатива с максимальным значением функции полезности:</a:t>
            </a:r>
            <a:endParaRPr lang="ru-RU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52DE9A40-42A8-8F9B-35A2-5FA25D558B0C}"/>
                  </a:ext>
                </a:extLst>
              </p:cNvPr>
              <p:cNvSpPr txBox="1"/>
              <p:nvPr/>
            </p:nvSpPr>
            <p:spPr>
              <a:xfrm>
                <a:off x="15183399" y="11215588"/>
                <a:ext cx="7577641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ru-RU" sz="5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sz="54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ru-RU" sz="5400" b="1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ru-RU" sz="5400" b="1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ru-RU" sz="5400" b="1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𝐚𝐫</m:t>
                      </m:r>
                      <m:func>
                        <m:funcPr>
                          <m:ctrlPr>
                            <a:rPr lang="ru-RU" sz="54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ru-RU" sz="5400" b="1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𝐠</m:t>
                          </m:r>
                          <m:r>
                            <a:rPr lang="ru-RU" sz="5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fName>
                        <m:e>
                          <m:r>
                            <a:rPr lang="ru-RU" sz="5400" b="1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𝐦</m:t>
                          </m:r>
                        </m:e>
                      </m:func>
                      <m:r>
                        <a:rPr lang="ru-RU" sz="5400" b="1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𝐚</m:t>
                      </m:r>
                      <m:func>
                        <m:funcPr>
                          <m:ctrlPr>
                            <a:rPr lang="ru-RU" sz="54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ru-RU" sz="5400" b="1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  <m:r>
                            <a:rPr lang="ru-RU" sz="54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fName>
                        <m:e>
                          <m:r>
                            <a:rPr lang="ru-RU" sz="54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𝑼</m:t>
                          </m:r>
                        </m:e>
                      </m:func>
                      <m:d>
                        <m:dPr>
                          <m:ctrlPr>
                            <a:rPr lang="ru-RU" sz="54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sz="540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540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ru-RU" sz="540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ru-RU" sz="5400" b="1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52DE9A40-42A8-8F9B-35A2-5FA25D558B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83399" y="11215588"/>
                <a:ext cx="7577641" cy="92333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254678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E89653-0129-D04C-2E30-EF574B254D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Заголовок 22">
            <a:extLst>
              <a:ext uri="{FF2B5EF4-FFF2-40B4-BE49-F238E27FC236}">
                <a16:creationId xmlns:a16="http://schemas.microsoft.com/office/drawing/2014/main" id="{3CF5F58F-12CF-3039-0764-38DDC4840A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8516" y="2115691"/>
            <a:ext cx="20342284" cy="1878793"/>
          </a:xfrm>
        </p:spPr>
        <p:txBody>
          <a:bodyPr/>
          <a:lstStyle/>
          <a:p>
            <a:r>
              <a:rPr lang="ru-RU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Математическая модель</a:t>
            </a:r>
          </a:p>
        </p:txBody>
      </p:sp>
      <p:sp>
        <p:nvSpPr>
          <p:cNvPr id="32" name="Текст 31">
            <a:extLst>
              <a:ext uri="{FF2B5EF4-FFF2-40B4-BE49-F238E27FC236}">
                <a16:creationId xmlns:a16="http://schemas.microsoft.com/office/drawing/2014/main" id="{ED1D0026-EAD7-15CA-FE28-F1BD5AA3A04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ru-RU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Евдокимов В.М.</a:t>
            </a:r>
          </a:p>
          <a:p>
            <a:endParaRPr lang="ru-RU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3" name="Нижний колонтитул 32">
            <a:extLst>
              <a:ext uri="{FF2B5EF4-FFF2-40B4-BE49-F238E27FC236}">
                <a16:creationId xmlns:a16="http://schemas.microsoft.com/office/drawing/2014/main" id="{D1996A98-AB3C-542B-B266-7C0D8E6D60F8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ru-RU">
                <a:latin typeface="Tahoma"/>
                <a:ea typeface="Tahoma"/>
                <a:cs typeface="Tahoma"/>
              </a:rPr>
              <a:t>Разработка алгоритмического обеспечения системы поддержки принятия решений в сфере персональных финансов</a:t>
            </a:r>
          </a:p>
        </p:txBody>
      </p:sp>
      <p:sp>
        <p:nvSpPr>
          <p:cNvPr id="34" name="Номер слайда 33">
            <a:extLst>
              <a:ext uri="{FF2B5EF4-FFF2-40B4-BE49-F238E27FC236}">
                <a16:creationId xmlns:a16="http://schemas.microsoft.com/office/drawing/2014/main" id="{1166A0F9-7C34-5406-3BBA-9CA8BE8E9AAE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66B5E2A4-72D4-4DC4-9470-54C0EE06E412}" type="slidenum">
              <a:rPr lang="ru-RU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/>
              <a:t>7</a:t>
            </a:fld>
            <a:endParaRPr lang="ru-RU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0C8B0B5-1AEE-E6DE-56ED-64BD37AF98DC}"/>
                  </a:ext>
                </a:extLst>
              </p:cNvPr>
              <p:cNvSpPr txBox="1"/>
              <p:nvPr/>
            </p:nvSpPr>
            <p:spPr>
              <a:xfrm>
                <a:off x="6095093" y="3808315"/>
                <a:ext cx="4972050" cy="7694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4400" b="1" i="1" smtClean="0">
                          <a:latin typeface="Cambria Math" panose="02040503050406030204" pitchFamily="18" charset="0"/>
                        </a:rPr>
                        <m:t>𝐦</m:t>
                      </m:r>
                      <m:r>
                        <a:rPr lang="ru-RU" sz="4400" b="1" i="0">
                          <a:latin typeface="Cambria Math" panose="02040503050406030204" pitchFamily="18" charset="0"/>
                        </a:rPr>
                        <m:t>𝐚</m:t>
                      </m:r>
                      <m:func>
                        <m:funcPr>
                          <m:ctrlPr>
                            <a:rPr lang="ru-RU" sz="4400" b="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ru-RU" sz="4400" b="1" i="0">
                              <a:latin typeface="Cambria Math" panose="02040503050406030204" pitchFamily="18" charset="0"/>
                            </a:rPr>
                            <m:t>𝐱</m:t>
                          </m:r>
                        </m:fName>
                        <m:e>
                          <m:r>
                            <a:rPr lang="ru-RU" sz="4400" b="1" i="1">
                              <a:latin typeface="Cambria Math" panose="02040503050406030204" pitchFamily="18" charset="0"/>
                            </a:rPr>
                            <m:t>𝑼</m:t>
                          </m:r>
                        </m:e>
                      </m:func>
                      <m:d>
                        <m:dPr>
                          <m:ctrlPr>
                            <a:rPr lang="ru-RU" sz="4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sz="4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4400" b="1" i="1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ru-RU" sz="44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ru-RU" sz="4400" b="1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0C8B0B5-1AEE-E6DE-56ED-64BD37AF98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5093" y="3808315"/>
                <a:ext cx="4972050" cy="76944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19F8177C-D5D2-70DB-FFFC-455F10C4C4B2}"/>
              </a:ext>
            </a:extLst>
          </p:cNvPr>
          <p:cNvSpPr txBox="1"/>
          <p:nvPr/>
        </p:nvSpPr>
        <p:spPr>
          <a:xfrm>
            <a:off x="1468804" y="3875900"/>
            <a:ext cx="695234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Целевая функция: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291C0F1-594F-B671-E97E-73C372826932}"/>
              </a:ext>
            </a:extLst>
          </p:cNvPr>
          <p:cNvSpPr txBox="1"/>
          <p:nvPr/>
        </p:nvSpPr>
        <p:spPr>
          <a:xfrm>
            <a:off x="1468804" y="5228198"/>
            <a:ext cx="695234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Ограничения: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B0E09E3-9985-AD61-BE7F-302D1277E51B}"/>
                  </a:ext>
                </a:extLst>
              </p:cNvPr>
              <p:cNvSpPr txBox="1"/>
              <p:nvPr/>
            </p:nvSpPr>
            <p:spPr>
              <a:xfrm>
                <a:off x="6217176" y="4989466"/>
                <a:ext cx="4913850" cy="31445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ru-RU" sz="4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ru-RU" sz="44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ru-RU" sz="4400" i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ru-RU" sz="4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440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ru-RU" sz="4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ru-RU" sz="4400" i="0"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sSub>
                                <m:sSubPr>
                                  <m:ctrlPr>
                                    <a:rPr lang="ru-RU" sz="4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440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ru-RU" sz="4400" i="1">
                                      <a:latin typeface="Cambria Math" panose="02040503050406030204" pitchFamily="18" charset="0"/>
                                    </a:rPr>
                                    <m:t>𝑚𝑖𝑛</m:t>
                                  </m:r>
                                </m:sub>
                              </m:sSub>
                            </m:e>
                            <m:e>
                              <m:r>
                                <a:rPr lang="ru-RU" sz="4400" i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ru-RU" sz="4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4400" i="1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  <m:sub>
                                  <m:r>
                                    <a:rPr lang="ru-RU" sz="4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ru-RU" sz="4400" i="0"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sSub>
                                <m:sSubPr>
                                  <m:ctrlPr>
                                    <a:rPr lang="ru-RU" sz="4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4400" i="1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  <m:sub>
                                  <m:r>
                                    <a:rPr lang="ru-RU" sz="4400" i="1">
                                      <a:latin typeface="Cambria Math" panose="02040503050406030204" pitchFamily="18" charset="0"/>
                                    </a:rPr>
                                    <m:t>𝑚𝑎𝑥</m:t>
                                  </m:r>
                                </m:sub>
                              </m:sSub>
                            </m:e>
                            <m:e>
                              <m:r>
                                <a:rPr lang="ru-RU" sz="4400" i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ru-RU" sz="44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ru-RU" sz="4400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ru-RU" sz="44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ru-RU" sz="4400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ru-RU" sz="4400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r>
                                <a:rPr lang="ru-RU" sz="4400" i="0"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sSub>
                                <m:sSubPr>
                                  <m:ctrlPr>
                                    <a:rPr lang="ru-RU" sz="4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4400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ru-RU" sz="44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  <m:e>
                              <m:r>
                                <a:rPr lang="ru-RU" sz="4400" i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ru-RU" sz="44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ru-RU" sz="4400" i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ru-RU" sz="44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ru-RU" sz="4400" i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ru-RU" sz="4400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r>
                                <a:rPr lang="ru-RU" sz="4400" i="0">
                                  <a:latin typeface="Cambria Math" panose="02040503050406030204" pitchFamily="18" charset="0"/>
                                </a:rPr>
                                <m:t>≥0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ru-RU" sz="4400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B0E09E3-9985-AD61-BE7F-302D1277E5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7176" y="4989466"/>
                <a:ext cx="4913850" cy="314451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E5D9743-5EA4-327B-4D96-455491F25FC7}"/>
                  </a:ext>
                </a:extLst>
              </p:cNvPr>
              <p:cNvSpPr txBox="1"/>
              <p:nvPr/>
            </p:nvSpPr>
            <p:spPr>
              <a:xfrm>
                <a:off x="14443371" y="3867280"/>
                <a:ext cx="7687898" cy="91115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ru-RU" sz="3600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Cordia New" panose="020B0304020202020204" pitchFamily="34" charset="-34"/>
                  </a:rPr>
                  <a:t>Чистый денежный поток:</a:t>
                </a:r>
                <a:endParaRPr lang="ru-RU" sz="3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Cordia New" panose="020B0304020202020204" pitchFamily="34" charset="-34"/>
                </a:endParaRPr>
              </a:p>
              <a:p>
                <a:pPr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44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Cordia New" panose="020B0304020202020204" pitchFamily="34" charset="-34"/>
                        </a:rPr>
                        <m:t>𝐶</m:t>
                      </m:r>
                      <m:sSub>
                        <m:sSubPr>
                          <m:ctrlPr>
                            <a:rPr lang="ru-RU" sz="4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Cordia New" panose="020B0304020202020204" pitchFamily="34" charset="-34"/>
                            </a:rPr>
                          </m:ctrlPr>
                        </m:sSubPr>
                        <m:e>
                          <m:r>
                            <a:rPr lang="ru-RU" sz="4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Cordia New" panose="020B0304020202020204" pitchFamily="34" charset="-34"/>
                            </a:rPr>
                            <m:t>𝐹</m:t>
                          </m:r>
                        </m:e>
                        <m:sub>
                          <m:r>
                            <a:rPr lang="ru-RU" sz="4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Cordia New" panose="020B0304020202020204" pitchFamily="34" charset="-34"/>
                            </a:rPr>
                            <m:t>𝑡</m:t>
                          </m:r>
                        </m:sub>
                      </m:sSub>
                      <m:r>
                        <a:rPr lang="ru-RU" sz="44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Cordia New" panose="020B0304020202020204" pitchFamily="34" charset="-34"/>
                        </a:rPr>
                        <m:t>=∑</m:t>
                      </m:r>
                      <m:sSub>
                        <m:sSubPr>
                          <m:ctrlPr>
                            <a:rPr lang="ru-RU" sz="4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Cordia New" panose="020B0304020202020204" pitchFamily="34" charset="-34"/>
                            </a:rPr>
                          </m:ctrlPr>
                        </m:sSubPr>
                        <m:e>
                          <m:r>
                            <a:rPr lang="ru-RU" sz="4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Cordia New" panose="020B0304020202020204" pitchFamily="34" charset="-34"/>
                            </a:rPr>
                            <m:t>𝐼</m:t>
                          </m:r>
                        </m:e>
                        <m:sub>
                          <m:r>
                            <a:rPr lang="ru-RU" sz="4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Cordia New" panose="020B0304020202020204" pitchFamily="34" charset="-34"/>
                            </a:rPr>
                            <m:t>𝑡</m:t>
                          </m:r>
                        </m:sub>
                      </m:sSub>
                      <m:r>
                        <a:rPr lang="ru-RU" sz="44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Cordia New" panose="020B0304020202020204" pitchFamily="34" charset="-34"/>
                        </a:rPr>
                        <m:t>−∑</m:t>
                      </m:r>
                      <m:sSub>
                        <m:sSubPr>
                          <m:ctrlPr>
                            <a:rPr lang="ru-RU" sz="4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Cordia New" panose="020B0304020202020204" pitchFamily="34" charset="-34"/>
                            </a:rPr>
                          </m:ctrlPr>
                        </m:sSubPr>
                        <m:e>
                          <m:r>
                            <a:rPr lang="ru-RU" sz="4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Cordia New" panose="020B0304020202020204" pitchFamily="34" charset="-34"/>
                            </a:rPr>
                            <m:t>𝐸</m:t>
                          </m:r>
                        </m:e>
                        <m:sub>
                          <m:r>
                            <a:rPr lang="ru-RU" sz="4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Cordia New" panose="020B0304020202020204" pitchFamily="34" charset="-34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br>
                  <a:rPr lang="ru-RU" sz="3600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Cordia New" panose="020B0304020202020204" pitchFamily="34" charset="-34"/>
                  </a:rPr>
                </a:br>
                <a:endParaRPr lang="ru-RU" sz="3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Cordia New" panose="020B0304020202020204" pitchFamily="34" charset="-34"/>
                </a:endParaRPr>
              </a:p>
              <a:p>
                <a:pPr algn="ctr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endParaRPr lang="ru-RU" sz="3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Cordia New" panose="020B0304020202020204" pitchFamily="34" charset="-34"/>
                </a:endParaRPr>
              </a:p>
              <a:p>
                <a:pPr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ru-RU" sz="3600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Cordia New" panose="020B0304020202020204" pitchFamily="34" charset="-34"/>
                  </a:rPr>
                  <a:t>Доступный ресурс:</a:t>
                </a:r>
                <a:endParaRPr lang="ru-RU" sz="3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Cordia New" panose="020B0304020202020204" pitchFamily="34" charset="-34"/>
                </a:endParaRPr>
              </a:p>
              <a:p>
                <a:pPr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4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Cordia New" panose="020B0304020202020204" pitchFamily="34" charset="-34"/>
                            </a:rPr>
                          </m:ctrlPr>
                        </m:sSubPr>
                        <m:e>
                          <m:r>
                            <a:rPr lang="ru-RU" sz="4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Cordia New" panose="020B0304020202020204" pitchFamily="34" charset="-34"/>
                            </a:rPr>
                            <m:t>𝑅</m:t>
                          </m:r>
                        </m:e>
                        <m:sub>
                          <m:r>
                            <a:rPr lang="ru-RU" sz="4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Cordia New" panose="020B0304020202020204" pitchFamily="34" charset="-34"/>
                            </a:rPr>
                            <m:t>𝑡</m:t>
                          </m:r>
                        </m:sub>
                      </m:sSub>
                      <m:r>
                        <a:rPr lang="ru-RU" sz="44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Cordia New" panose="020B0304020202020204" pitchFamily="34" charset="-34"/>
                        </a:rPr>
                        <m:t>=</m:t>
                      </m:r>
                      <m:sSub>
                        <m:sSubPr>
                          <m:ctrlPr>
                            <a:rPr lang="ru-RU" sz="4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Cordia New" panose="020B0304020202020204" pitchFamily="34" charset="-34"/>
                            </a:rPr>
                          </m:ctrlPr>
                        </m:sSubPr>
                        <m:e>
                          <m:r>
                            <a:rPr lang="ru-RU" sz="4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Cordia New" panose="020B0304020202020204" pitchFamily="34" charset="-34"/>
                            </a:rPr>
                            <m:t>𝐵</m:t>
                          </m:r>
                        </m:e>
                        <m:sub>
                          <m:r>
                            <a:rPr lang="ru-RU" sz="4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Cordia New" panose="020B0304020202020204" pitchFamily="34" charset="-34"/>
                            </a:rPr>
                            <m:t>𝑡</m:t>
                          </m:r>
                        </m:sub>
                      </m:sSub>
                      <m:r>
                        <a:rPr lang="ru-RU" sz="44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Cordia New" panose="020B0304020202020204" pitchFamily="34" charset="-34"/>
                        </a:rPr>
                        <m:t>+</m:t>
                      </m:r>
                      <m:r>
                        <a:rPr lang="ru-RU" sz="44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Cordia New" panose="020B0304020202020204" pitchFamily="34" charset="-34"/>
                        </a:rPr>
                        <m:t>𝐶</m:t>
                      </m:r>
                      <m:sSub>
                        <m:sSubPr>
                          <m:ctrlPr>
                            <a:rPr lang="ru-RU" sz="4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Cordia New" panose="020B0304020202020204" pitchFamily="34" charset="-34"/>
                            </a:rPr>
                          </m:ctrlPr>
                        </m:sSubPr>
                        <m:e>
                          <m:r>
                            <a:rPr lang="ru-RU" sz="4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Cordia New" panose="020B0304020202020204" pitchFamily="34" charset="-34"/>
                            </a:rPr>
                            <m:t>𝐹</m:t>
                          </m:r>
                        </m:e>
                        <m:sub>
                          <m:r>
                            <a:rPr lang="ru-RU" sz="4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Cordia New" panose="020B0304020202020204" pitchFamily="34" charset="-34"/>
                            </a:rPr>
                            <m:t>𝑡</m:t>
                          </m:r>
                        </m:sub>
                      </m:sSub>
                      <m:r>
                        <a:rPr lang="ru-RU" sz="44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Cordia New" panose="020B0304020202020204" pitchFamily="34" charset="-34"/>
                        </a:rPr>
                        <m:t>−∑</m:t>
                      </m:r>
                      <m:sSub>
                        <m:sSubPr>
                          <m:ctrlPr>
                            <a:rPr lang="ru-RU" sz="4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Cordia New" panose="020B0304020202020204" pitchFamily="34" charset="-34"/>
                            </a:rPr>
                          </m:ctrlPr>
                        </m:sSubPr>
                        <m:e>
                          <m:r>
                            <a:rPr lang="ru-RU" sz="4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Cordia New" panose="020B0304020202020204" pitchFamily="34" charset="-34"/>
                            </a:rPr>
                            <m:t>𝑃</m:t>
                          </m:r>
                        </m:e>
                        <m:sub>
                          <m:r>
                            <a:rPr lang="ru-RU" sz="4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Cordia New" panose="020B0304020202020204" pitchFamily="34" charset="-34"/>
                            </a:rPr>
                            <m:t>𝑙</m:t>
                          </m:r>
                          <m:r>
                            <a:rPr lang="ru-RU" sz="4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Cordia New" panose="020B0304020202020204" pitchFamily="34" charset="-34"/>
                            </a:rPr>
                            <m:t>,</m:t>
                          </m:r>
                          <m:r>
                            <a:rPr lang="ru-RU" sz="4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Cordia New" panose="020B0304020202020204" pitchFamily="34" charset="-34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br>
                  <a:rPr lang="ru-RU" sz="4400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Cordia New" panose="020B0304020202020204" pitchFamily="34" charset="-34"/>
                  </a:rPr>
                </a:br>
                <a:endParaRPr lang="ru-RU" sz="3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Cordia New" panose="020B0304020202020204" pitchFamily="34" charset="-34"/>
                </a:endParaRPr>
              </a:p>
              <a:p>
                <a:pPr algn="ctr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endParaRPr lang="ru-RU" sz="3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Cordia New" panose="020B0304020202020204" pitchFamily="34" charset="-34"/>
                </a:endParaRPr>
              </a:p>
              <a:p>
                <a:pPr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ru-RU" sz="3600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Cordia New" panose="020B0304020202020204" pitchFamily="34" charset="-34"/>
                  </a:rPr>
                  <a:t>Коэффициент ликвидности:</a:t>
                </a:r>
                <a:endParaRPr lang="ru-RU" sz="3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Cordia New" panose="020B0304020202020204" pitchFamily="34" charset="-34"/>
                </a:endParaRPr>
              </a:p>
              <a:p>
                <a:pPr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4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Cordia New" panose="020B0304020202020204" pitchFamily="34" charset="-34"/>
                            </a:rPr>
                          </m:ctrlPr>
                        </m:sSubPr>
                        <m:e>
                          <m:r>
                            <a:rPr lang="ru-RU" sz="4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Cordia New" panose="020B0304020202020204" pitchFamily="34" charset="-34"/>
                            </a:rPr>
                            <m:t>𝐿</m:t>
                          </m:r>
                        </m:e>
                        <m:sub>
                          <m:r>
                            <a:rPr lang="ru-RU" sz="4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Cordia New" panose="020B0304020202020204" pitchFamily="34" charset="-34"/>
                            </a:rPr>
                            <m:t>𝑡</m:t>
                          </m:r>
                        </m:sub>
                      </m:sSub>
                      <m:r>
                        <a:rPr lang="ru-RU" sz="44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Cordia New" panose="020B0304020202020204" pitchFamily="34" charset="-34"/>
                        </a:rPr>
                        <m:t>=</m:t>
                      </m:r>
                      <m:f>
                        <m:fPr>
                          <m:ctrlPr>
                            <a:rPr lang="ru-RU" sz="4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Cordia New" panose="020B0304020202020204" pitchFamily="34" charset="-34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ru-RU" sz="4400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Cordia New" panose="020B0304020202020204" pitchFamily="34" charset="-34"/>
                                </a:rPr>
                              </m:ctrlPr>
                            </m:sSubPr>
                            <m:e>
                              <m:r>
                                <a:rPr lang="ru-RU" sz="4400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Cordia New" panose="020B0304020202020204" pitchFamily="34" charset="-34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ru-RU" sz="4400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Cordia New" panose="020B0304020202020204" pitchFamily="34" charset="-34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r>
                            <a:rPr lang="ru-RU" sz="4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Cordia New" panose="020B0304020202020204" pitchFamily="34" charset="-34"/>
                            </a:rPr>
                            <m:t>∑</m:t>
                          </m:r>
                          <m:sSub>
                            <m:sSubPr>
                              <m:ctrlPr>
                                <a:rPr lang="ru-RU" sz="4400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Cordia New" panose="020B0304020202020204" pitchFamily="34" charset="-34"/>
                                </a:rPr>
                              </m:ctrlPr>
                            </m:sSubPr>
                            <m:e>
                              <m:r>
                                <a:rPr lang="ru-RU" sz="4400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Cordia New" panose="020B0304020202020204" pitchFamily="34" charset="-34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ru-RU" sz="4400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Cordia New" panose="020B0304020202020204" pitchFamily="34" charset="-34"/>
                                </a:rPr>
                                <m:t>𝑡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br>
                  <a:rPr lang="ru-RU" sz="3600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Cordia New" panose="020B0304020202020204" pitchFamily="34" charset="-34"/>
                  </a:rPr>
                </a:br>
                <a:r>
                  <a:rPr lang="ru-RU" sz="3600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Cordia New" panose="020B0304020202020204" pitchFamily="34" charset="-34"/>
                  </a:rPr>
                  <a:t>Долговая нагрузка:</a:t>
                </a:r>
                <a:endParaRPr lang="ru-RU" sz="3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Cordia New" panose="020B0304020202020204" pitchFamily="34" charset="-34"/>
                </a:endParaRP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44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44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Cordia New" panose="020B0304020202020204" pitchFamily="34" charset="-34"/>
                            </a:rPr>
                            <m:t>𝐷</m:t>
                          </m:r>
                        </m:e>
                        <m:sub>
                          <m:r>
                            <a:rPr lang="ru-RU" sz="44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Cordia New" panose="020B0304020202020204" pitchFamily="34" charset="-34"/>
                            </a:rPr>
                            <m:t>𝑡</m:t>
                          </m:r>
                        </m:sub>
                      </m:sSub>
                      <m:r>
                        <a:rPr lang="ru-RU" sz="44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Cordia New" panose="020B0304020202020204" pitchFamily="34" charset="-34"/>
                        </a:rPr>
                        <m:t>=</m:t>
                      </m:r>
                      <m:f>
                        <m:fPr>
                          <m:ctrlPr>
                            <a:rPr lang="ru-RU" sz="44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sz="44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Cordia New" panose="020B0304020202020204" pitchFamily="34" charset="-34"/>
                            </a:rPr>
                            <m:t>∑</m:t>
                          </m:r>
                          <m:sSub>
                            <m:sSubPr>
                              <m:ctrlPr>
                                <a:rPr lang="ru-RU" sz="4400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4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Cordia New" panose="020B0304020202020204" pitchFamily="34" charset="-34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ru-RU" sz="4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Cordia New" panose="020B0304020202020204" pitchFamily="34" charset="-34"/>
                                </a:rPr>
                                <m:t>𝑙</m:t>
                              </m:r>
                              <m:r>
                                <a:rPr lang="ru-RU" sz="4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Cordia New" panose="020B0304020202020204" pitchFamily="34" charset="-34"/>
                                </a:rPr>
                                <m:t>,</m:t>
                              </m:r>
                              <m:r>
                                <a:rPr lang="ru-RU" sz="4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Cordia New" panose="020B0304020202020204" pitchFamily="34" charset="-34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r>
                            <a:rPr lang="ru-RU" sz="44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Cordia New" panose="020B0304020202020204" pitchFamily="34" charset="-34"/>
                            </a:rPr>
                            <m:t>∑</m:t>
                          </m:r>
                          <m:sSub>
                            <m:sSubPr>
                              <m:ctrlPr>
                                <a:rPr lang="ru-RU" sz="4400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4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Cordia New" panose="020B0304020202020204" pitchFamily="34" charset="-34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ru-RU" sz="4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Cordia New" panose="020B0304020202020204" pitchFamily="34" charset="-34"/>
                                </a:rPr>
                                <m:t>𝑡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br>
                  <a:rPr lang="ru-RU" sz="36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Cordia New" panose="020B0304020202020204" pitchFamily="34" charset="-34"/>
                  </a:rPr>
                </a:br>
                <a:endParaRPr lang="ru-RU" dirty="0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E5D9743-5EA4-327B-4D96-455491F25F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43371" y="3867280"/>
                <a:ext cx="7687898" cy="9111597"/>
              </a:xfrm>
              <a:prstGeom prst="rect">
                <a:avLst/>
              </a:prstGeom>
              <a:blipFill>
                <a:blip r:embed="rId5"/>
                <a:stretch>
                  <a:fillRect l="-2379" t="-40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829774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BEE108-7E1D-BBF4-4E5F-9109BFD7CE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Заголовок 22">
            <a:extLst>
              <a:ext uri="{FF2B5EF4-FFF2-40B4-BE49-F238E27FC236}">
                <a16:creationId xmlns:a16="http://schemas.microsoft.com/office/drawing/2014/main" id="{47A6D8C4-1FE4-4851-4E62-28781041EE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8516" y="2115691"/>
            <a:ext cx="23083897" cy="1878793"/>
          </a:xfrm>
        </p:spPr>
        <p:txBody>
          <a:bodyPr/>
          <a:lstStyle/>
          <a:p>
            <a:r>
              <a:rPr lang="ru-RU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Общая </a:t>
            </a:r>
            <a:br>
              <a:rPr lang="ru-RU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ru-RU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схема </a:t>
            </a:r>
            <a:br>
              <a:rPr lang="ru-RU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ru-RU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алгоритма</a:t>
            </a:r>
            <a:br>
              <a:rPr lang="ru-RU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ru-RU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b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ru-RU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«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 BE»</a:t>
            </a:r>
            <a:endParaRPr lang="ru-RU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2" name="Текст 31">
            <a:extLst>
              <a:ext uri="{FF2B5EF4-FFF2-40B4-BE49-F238E27FC236}">
                <a16:creationId xmlns:a16="http://schemas.microsoft.com/office/drawing/2014/main" id="{304220D1-EA42-DAFF-5D92-1C053E7ED51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ru-RU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Евдокимов В.М.</a:t>
            </a:r>
          </a:p>
          <a:p>
            <a:endParaRPr lang="ru-RU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3" name="Нижний колонтитул 32">
            <a:extLst>
              <a:ext uri="{FF2B5EF4-FFF2-40B4-BE49-F238E27FC236}">
                <a16:creationId xmlns:a16="http://schemas.microsoft.com/office/drawing/2014/main" id="{2BE87594-487B-74F4-6688-8D7519A38B64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ru-RU">
                <a:latin typeface="Tahoma"/>
                <a:ea typeface="Tahoma"/>
                <a:cs typeface="Tahoma"/>
              </a:rPr>
              <a:t>Разработка алгоритмического обеспечения системы поддержки принятия решений в сфере персональных финансов</a:t>
            </a:r>
          </a:p>
        </p:txBody>
      </p:sp>
      <p:sp>
        <p:nvSpPr>
          <p:cNvPr id="34" name="Номер слайда 33">
            <a:extLst>
              <a:ext uri="{FF2B5EF4-FFF2-40B4-BE49-F238E27FC236}">
                <a16:creationId xmlns:a16="http://schemas.microsoft.com/office/drawing/2014/main" id="{D6A9FF37-C0EB-DB22-7205-A56B60C4984C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66B5E2A4-72D4-4DC4-9470-54C0EE06E412}" type="slidenum">
              <a:rPr lang="ru-RU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/>
              <a:t>8</a:t>
            </a:fld>
            <a:endParaRPr lang="ru-RU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AE23A0F-9A2F-70BF-BAA3-468EDA4445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1620" y="504099"/>
            <a:ext cx="13819598" cy="12004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9582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61A403-E195-5FB5-B2C7-E374A86FCF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Заголовок 22">
            <a:extLst>
              <a:ext uri="{FF2B5EF4-FFF2-40B4-BE49-F238E27FC236}">
                <a16:creationId xmlns:a16="http://schemas.microsoft.com/office/drawing/2014/main" id="{48BBDC26-A8D1-7B7A-FB7E-7FBEBE15AF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8517" y="2115691"/>
            <a:ext cx="13389034" cy="1878793"/>
          </a:xfrm>
        </p:spPr>
        <p:txBody>
          <a:bodyPr/>
          <a:lstStyle/>
          <a:p>
            <a:r>
              <a:rPr lang="ru-RU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Используемые алгоритмы и их сложность</a:t>
            </a:r>
          </a:p>
        </p:txBody>
      </p:sp>
      <p:sp>
        <p:nvSpPr>
          <p:cNvPr id="32" name="Текст 31">
            <a:extLst>
              <a:ext uri="{FF2B5EF4-FFF2-40B4-BE49-F238E27FC236}">
                <a16:creationId xmlns:a16="http://schemas.microsoft.com/office/drawing/2014/main" id="{A0E41399-3142-8C23-8D6D-533D2BB0795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ru-RU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Евдокимов В.М.</a:t>
            </a:r>
          </a:p>
          <a:p>
            <a:endParaRPr lang="ru-RU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3" name="Нижний колонтитул 32">
            <a:extLst>
              <a:ext uri="{FF2B5EF4-FFF2-40B4-BE49-F238E27FC236}">
                <a16:creationId xmlns:a16="http://schemas.microsoft.com/office/drawing/2014/main" id="{AA20C514-B45D-9927-8648-01011D869462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ru-RU">
                <a:latin typeface="Tahoma"/>
                <a:ea typeface="Tahoma"/>
                <a:cs typeface="Tahoma"/>
              </a:rPr>
              <a:t>Разработка алгоритмического обеспечения системы поддержки принятия решений в сфере персональных финансов</a:t>
            </a:r>
          </a:p>
        </p:txBody>
      </p:sp>
      <p:sp>
        <p:nvSpPr>
          <p:cNvPr id="34" name="Номер слайда 33">
            <a:extLst>
              <a:ext uri="{FF2B5EF4-FFF2-40B4-BE49-F238E27FC236}">
                <a16:creationId xmlns:a16="http://schemas.microsoft.com/office/drawing/2014/main" id="{0AACAFA6-F064-A579-2CF6-38725A5501FD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66B5E2A4-72D4-4DC4-9470-54C0EE06E412}" type="slidenum">
              <a:rPr lang="ru-RU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/>
              <a:t>9</a:t>
            </a:fld>
            <a:endParaRPr lang="ru-RU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Таблица 2">
                <a:extLst>
                  <a:ext uri="{FF2B5EF4-FFF2-40B4-BE49-F238E27FC236}">
                    <a16:creationId xmlns:a16="http://schemas.microsoft.com/office/drawing/2014/main" id="{A5EE4EF9-276E-62CD-2254-B4E9AFB5E68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43188582"/>
                  </p:ext>
                </p:extLst>
              </p:nvPr>
            </p:nvGraphicFramePr>
            <p:xfrm>
              <a:off x="1298517" y="4360608"/>
              <a:ext cx="21029613" cy="4726241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9464733">
                      <a:extLst>
                        <a:ext uri="{9D8B030D-6E8A-4147-A177-3AD203B41FA5}">
                          <a16:colId xmlns:a16="http://schemas.microsoft.com/office/drawing/2014/main" val="2033850899"/>
                        </a:ext>
                      </a:extLst>
                    </a:gridCol>
                    <a:gridCol w="6838950">
                      <a:extLst>
                        <a:ext uri="{9D8B030D-6E8A-4147-A177-3AD203B41FA5}">
                          <a16:colId xmlns:a16="http://schemas.microsoft.com/office/drawing/2014/main" val="3968985993"/>
                        </a:ext>
                      </a:extLst>
                    </a:gridCol>
                    <a:gridCol w="4725930">
                      <a:extLst>
                        <a:ext uri="{9D8B030D-6E8A-4147-A177-3AD203B41FA5}">
                          <a16:colId xmlns:a16="http://schemas.microsoft.com/office/drawing/2014/main" val="1836048933"/>
                        </a:ext>
                      </a:extLst>
                    </a:gridCol>
                  </a:tblGrid>
                  <a:tr h="650552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ru-RU" sz="3200" kern="100" dirty="0">
                              <a:effectLst/>
                            </a:rPr>
                            <a:t>Метод</a:t>
                          </a:r>
                          <a:endParaRPr lang="ru-RU" sz="3200" kern="100" dirty="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Cordia New" panose="020B0304020202020204" pitchFamily="34" charset="-34"/>
                          </a:endParaRPr>
                        </a:p>
                      </a:txBody>
                      <a:tcPr marL="9525" marR="9525" marT="9525" marB="9525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ru-RU" sz="3200" kern="100" dirty="0">
                              <a:effectLst/>
                            </a:rPr>
                            <a:t>Назначение</a:t>
                          </a:r>
                          <a:endParaRPr lang="ru-RU" sz="3200" kern="100" dirty="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Cordia New" panose="020B0304020202020204" pitchFamily="34" charset="-34"/>
                          </a:endParaRPr>
                        </a:p>
                      </a:txBody>
                      <a:tcPr marL="9525" marR="9525" marT="9525" marB="9525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ru-RU" sz="3200" kern="100" dirty="0">
                              <a:effectLst/>
                            </a:rPr>
                            <a:t>Оценка сложности</a:t>
                          </a:r>
                          <a:endParaRPr lang="ru-RU" sz="3200" kern="100" dirty="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Cordia New" panose="020B0304020202020204" pitchFamily="34" charset="-34"/>
                          </a:endParaRPr>
                        </a:p>
                      </a:txBody>
                      <a:tcPr marL="9525" marR="9525" marT="9525" marB="9525" anchor="ctr"/>
                    </a:tc>
                    <a:extLst>
                      <a:ext uri="{0D108BD9-81ED-4DB2-BD59-A6C34878D82A}">
                        <a16:rowId xmlns:a16="http://schemas.microsoft.com/office/drawing/2014/main" val="2055267187"/>
                      </a:ext>
                    </a:extLst>
                  </a:tr>
                  <a:tr h="812111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ru-RU" sz="3200" kern="100">
                              <a:effectLst/>
                            </a:rPr>
                            <a:t>Финансовые коэффициенты</a:t>
                          </a:r>
                          <a:endParaRPr lang="ru-RU" sz="32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Cordia New" panose="020B0304020202020204" pitchFamily="34" charset="-34"/>
                          </a:endParaRPr>
                        </a:p>
                      </a:txBody>
                      <a:tcPr marL="9525" marR="9525" marT="9525" marB="9525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ru-RU" sz="3200" kern="100">
                              <a:effectLst/>
                            </a:rPr>
                            <a:t>Расчёт показателей (Rt, Lt, Dt)</a:t>
                          </a:r>
                          <a:endParaRPr lang="ru-RU" sz="32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Cordia New" panose="020B0304020202020204" pitchFamily="34" charset="-34"/>
                          </a:endParaRPr>
                        </a:p>
                      </a:txBody>
                      <a:tcPr marL="9525" marR="9525" marT="9525" marB="9525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z="3200" kern="100">
                                    <a:effectLst/>
                                  </a:rPr>
                                  <m:t>𝑂</m:t>
                                </m:r>
                                <m:r>
                                  <a:rPr lang="ru-RU" sz="3200" kern="100">
                                    <a:effectLst/>
                                  </a:rPr>
                                  <m:t>(</m:t>
                                </m:r>
                                <m:r>
                                  <a:rPr lang="ru-RU" sz="3200" kern="100">
                                    <a:effectLst/>
                                  </a:rPr>
                                  <m:t>𝑛</m:t>
                                </m:r>
                                <m:r>
                                  <a:rPr lang="ru-RU" sz="3200" kern="100">
                                    <a:effectLst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ru-RU" sz="32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Cordia New" panose="020B0304020202020204" pitchFamily="34" charset="-34"/>
                          </a:endParaRPr>
                        </a:p>
                      </a:txBody>
                      <a:tcPr marL="9525" marR="9525" marT="9525" marB="9525" anchor="ctr"/>
                    </a:tc>
                    <a:extLst>
                      <a:ext uri="{0D108BD9-81ED-4DB2-BD59-A6C34878D82A}">
                        <a16:rowId xmlns:a16="http://schemas.microsoft.com/office/drawing/2014/main" val="3209212243"/>
                      </a:ext>
                    </a:extLst>
                  </a:tr>
                  <a:tr h="812111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ru-RU" sz="3200" kern="100">
                              <a:effectLst/>
                            </a:rPr>
                            <a:t>Экспоненциальное сглаживание (SES)</a:t>
                          </a:r>
                          <a:endParaRPr lang="ru-RU" sz="32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Cordia New" panose="020B0304020202020204" pitchFamily="34" charset="-34"/>
                          </a:endParaRPr>
                        </a:p>
                      </a:txBody>
                      <a:tcPr marL="9525" marR="9525" marT="9525" marB="9525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ru-RU" sz="3200" kern="100">
                              <a:effectLst/>
                            </a:rPr>
                            <a:t>Прогноз доходов и расходов</a:t>
                          </a:r>
                          <a:endParaRPr lang="ru-RU" sz="32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Cordia New" panose="020B0304020202020204" pitchFamily="34" charset="-34"/>
                          </a:endParaRPr>
                        </a:p>
                      </a:txBody>
                      <a:tcPr marL="9525" marR="9525" marT="9525" marB="9525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z="3200" kern="100">
                                    <a:effectLst/>
                                  </a:rPr>
                                  <m:t>𝑂</m:t>
                                </m:r>
                                <m:r>
                                  <a:rPr lang="ru-RU" sz="3200" kern="100">
                                    <a:effectLst/>
                                  </a:rPr>
                                  <m:t>(</m:t>
                                </m:r>
                                <m:r>
                                  <a:rPr lang="ru-RU" sz="3200" kern="100">
                                    <a:effectLst/>
                                  </a:rPr>
                                  <m:t>𝑛</m:t>
                                </m:r>
                                <m:r>
                                  <a:rPr lang="ru-RU" sz="3200" kern="100">
                                    <a:effectLst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ru-RU" sz="32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Cordia New" panose="020B0304020202020204" pitchFamily="34" charset="-34"/>
                          </a:endParaRPr>
                        </a:p>
                      </a:txBody>
                      <a:tcPr marL="9525" marR="9525" marT="9525" marB="9525" anchor="ctr"/>
                    </a:tc>
                    <a:extLst>
                      <a:ext uri="{0D108BD9-81ED-4DB2-BD59-A6C34878D82A}">
                        <a16:rowId xmlns:a16="http://schemas.microsoft.com/office/drawing/2014/main" val="3085994925"/>
                      </a:ext>
                    </a:extLst>
                  </a:tr>
                  <a:tr h="812111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ru-RU" sz="3200" kern="100">
                              <a:effectLst/>
                            </a:rPr>
                            <a:t>Метод Монте-Карло</a:t>
                          </a:r>
                          <a:endParaRPr lang="ru-RU" sz="32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Cordia New" panose="020B0304020202020204" pitchFamily="34" charset="-34"/>
                          </a:endParaRPr>
                        </a:p>
                      </a:txBody>
                      <a:tcPr marL="9525" marR="9525" marT="9525" marB="9525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ru-RU" sz="3200" kern="100">
                              <a:effectLst/>
                            </a:rPr>
                            <a:t>Интервальный прогноз</a:t>
                          </a:r>
                          <a:endParaRPr lang="ru-RU" sz="32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Cordia New" panose="020B0304020202020204" pitchFamily="34" charset="-34"/>
                          </a:endParaRPr>
                        </a:p>
                      </a:txBody>
                      <a:tcPr marL="9525" marR="9525" marT="9525" marB="9525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z="3200" kern="100">
                                    <a:effectLst/>
                                  </a:rPr>
                                  <m:t>𝑂</m:t>
                                </m:r>
                                <m:r>
                                  <a:rPr lang="ru-RU" sz="3200" kern="100">
                                    <a:effectLst/>
                                  </a:rPr>
                                  <m:t>(</m:t>
                                </m:r>
                                <m:r>
                                  <a:rPr lang="ru-RU" sz="3200" kern="100">
                                    <a:effectLst/>
                                  </a:rPr>
                                  <m:t>𝑁</m:t>
                                </m:r>
                                <m:r>
                                  <a:rPr lang="ru-RU" sz="3200" kern="100">
                                    <a:effectLst/>
                                  </a:rPr>
                                  <m:t>⋅</m:t>
                                </m:r>
                                <m:r>
                                  <a:rPr lang="ru-RU" sz="3200" kern="100">
                                    <a:effectLst/>
                                  </a:rPr>
                                  <m:t>h</m:t>
                                </m:r>
                                <m:r>
                                  <a:rPr lang="ru-RU" sz="3200" kern="100">
                                    <a:effectLst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ru-RU" sz="32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Cordia New" panose="020B0304020202020204" pitchFamily="34" charset="-34"/>
                          </a:endParaRPr>
                        </a:p>
                      </a:txBody>
                      <a:tcPr marL="9525" marR="9525" marT="9525" marB="9525" anchor="ctr"/>
                    </a:tc>
                    <a:extLst>
                      <a:ext uri="{0D108BD9-81ED-4DB2-BD59-A6C34878D82A}">
                        <a16:rowId xmlns:a16="http://schemas.microsoft.com/office/drawing/2014/main" val="2462740483"/>
                      </a:ext>
                    </a:extLst>
                  </a:tr>
                  <a:tr h="82724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ru-RU" sz="3200" kern="100">
                              <a:effectLst/>
                            </a:rPr>
                            <a:t>Генерация альтернатив (stars and bars)</a:t>
                          </a:r>
                          <a:endParaRPr lang="ru-RU" sz="32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Cordia New" panose="020B0304020202020204" pitchFamily="34" charset="-34"/>
                          </a:endParaRPr>
                        </a:p>
                      </a:txBody>
                      <a:tcPr marL="9525" marR="9525" marT="9525" marB="9525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ru-RU" sz="3200" kern="100">
                              <a:effectLst/>
                            </a:rPr>
                            <a:t>Формирование вариантов решений</a:t>
                          </a:r>
                          <a:endParaRPr lang="ru-RU" sz="32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Cordia New" panose="020B0304020202020204" pitchFamily="34" charset="-34"/>
                          </a:endParaRPr>
                        </a:p>
                      </a:txBody>
                      <a:tcPr marL="9525" marR="9525" marT="9525" marB="9525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z="3200" kern="100">
                                    <a:effectLst/>
                                  </a:rPr>
                                  <m:t>𝑂</m:t>
                                </m:r>
                                <m:r>
                                  <a:rPr lang="ru-RU" sz="3200" kern="100">
                                    <a:effectLst/>
                                  </a:rPr>
                                  <m:t>(</m:t>
                                </m:r>
                                <m:sSup>
                                  <m:sSupPr>
                                    <m:ctrlPr>
                                      <a:rPr lang="ru-RU" sz="3200" kern="100">
                                        <a:effectLst/>
                                      </a:rPr>
                                    </m:ctrlPr>
                                  </m:sSupPr>
                                  <m:e>
                                    <m:r>
                                      <a:rPr lang="ru-RU" sz="3200" kern="100">
                                        <a:effectLst/>
                                      </a:rPr>
                                      <m:t>𝑁</m:t>
                                    </m:r>
                                  </m:e>
                                  <m:sup>
                                    <m:r>
                                      <a:rPr lang="ru-RU" sz="3200" kern="100">
                                        <a:effectLst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ru-RU" sz="3200" kern="100">
                                    <a:effectLst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ru-RU" sz="32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Cordia New" panose="020B0304020202020204" pitchFamily="34" charset="-34"/>
                          </a:endParaRPr>
                        </a:p>
                      </a:txBody>
                      <a:tcPr marL="9525" marR="9525" marT="9525" marB="9525" anchor="ctr"/>
                    </a:tc>
                    <a:extLst>
                      <a:ext uri="{0D108BD9-81ED-4DB2-BD59-A6C34878D82A}">
                        <a16:rowId xmlns:a16="http://schemas.microsoft.com/office/drawing/2014/main" val="730998541"/>
                      </a:ext>
                    </a:extLst>
                  </a:tr>
                  <a:tr h="812111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ru-RU" sz="3200" kern="100">
                              <a:effectLst/>
                            </a:rPr>
                            <a:t>SAW (взвешенная сумма)</a:t>
                          </a:r>
                          <a:endParaRPr lang="ru-RU" sz="32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Cordia New" panose="020B0304020202020204" pitchFamily="34" charset="-34"/>
                          </a:endParaRPr>
                        </a:p>
                      </a:txBody>
                      <a:tcPr marL="9525" marR="9525" marT="9525" marB="9525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ru-RU" sz="3200" kern="100">
                              <a:effectLst/>
                            </a:rPr>
                            <a:t>Ранжирование альтернатив</a:t>
                          </a:r>
                          <a:endParaRPr lang="ru-RU" sz="32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Cordia New" panose="020B0304020202020204" pitchFamily="34" charset="-34"/>
                          </a:endParaRPr>
                        </a:p>
                      </a:txBody>
                      <a:tcPr marL="9525" marR="9525" marT="9525" marB="9525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z="3200" kern="100">
                                    <a:effectLst/>
                                  </a:rPr>
                                  <m:t>𝑂</m:t>
                                </m:r>
                                <m:r>
                                  <a:rPr lang="ru-RU" sz="3200" kern="100">
                                    <a:effectLst/>
                                  </a:rPr>
                                  <m:t>(</m:t>
                                </m:r>
                                <m:r>
                                  <a:rPr lang="ru-RU" sz="3200" kern="100">
                                    <a:effectLst/>
                                  </a:rPr>
                                  <m:t>𝑘</m:t>
                                </m:r>
                                <m:r>
                                  <a:rPr lang="ru-RU" sz="3200" kern="100">
                                    <a:effectLst/>
                                  </a:rPr>
                                  <m:t>⋅</m:t>
                                </m:r>
                                <m:r>
                                  <a:rPr lang="ru-RU" sz="3200" kern="100">
                                    <a:effectLst/>
                                  </a:rPr>
                                  <m:t>𝑚</m:t>
                                </m:r>
                                <m:r>
                                  <a:rPr lang="ru-RU" sz="3200" kern="100">
                                    <a:effectLst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ru-RU" sz="3200" kern="100" dirty="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Cordia New" panose="020B0304020202020204" pitchFamily="34" charset="-34"/>
                          </a:endParaRPr>
                        </a:p>
                      </a:txBody>
                      <a:tcPr marL="9525" marR="9525" marT="9525" marB="9525" anchor="ctr"/>
                    </a:tc>
                    <a:extLst>
                      <a:ext uri="{0D108BD9-81ED-4DB2-BD59-A6C34878D82A}">
                        <a16:rowId xmlns:a16="http://schemas.microsoft.com/office/drawing/2014/main" val="78724859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" name="Таблица 2">
                <a:extLst>
                  <a:ext uri="{FF2B5EF4-FFF2-40B4-BE49-F238E27FC236}">
                    <a16:creationId xmlns:a16="http://schemas.microsoft.com/office/drawing/2014/main" id="{A5EE4EF9-276E-62CD-2254-B4E9AFB5E68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43188582"/>
                  </p:ext>
                </p:extLst>
              </p:nvPr>
            </p:nvGraphicFramePr>
            <p:xfrm>
              <a:off x="1298517" y="4360608"/>
              <a:ext cx="21029613" cy="4726241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9464733">
                      <a:extLst>
                        <a:ext uri="{9D8B030D-6E8A-4147-A177-3AD203B41FA5}">
                          <a16:colId xmlns:a16="http://schemas.microsoft.com/office/drawing/2014/main" val="2033850899"/>
                        </a:ext>
                      </a:extLst>
                    </a:gridCol>
                    <a:gridCol w="6838950">
                      <a:extLst>
                        <a:ext uri="{9D8B030D-6E8A-4147-A177-3AD203B41FA5}">
                          <a16:colId xmlns:a16="http://schemas.microsoft.com/office/drawing/2014/main" val="3968985993"/>
                        </a:ext>
                      </a:extLst>
                    </a:gridCol>
                    <a:gridCol w="4725930">
                      <a:extLst>
                        <a:ext uri="{9D8B030D-6E8A-4147-A177-3AD203B41FA5}">
                          <a16:colId xmlns:a16="http://schemas.microsoft.com/office/drawing/2014/main" val="1836048933"/>
                        </a:ext>
                      </a:extLst>
                    </a:gridCol>
                  </a:tblGrid>
                  <a:tr h="650552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ru-RU" sz="3200" kern="100" dirty="0">
                              <a:effectLst/>
                            </a:rPr>
                            <a:t>Метод</a:t>
                          </a:r>
                          <a:endParaRPr lang="ru-RU" sz="3200" kern="100" dirty="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Cordia New" panose="020B0304020202020204" pitchFamily="34" charset="-34"/>
                          </a:endParaRPr>
                        </a:p>
                      </a:txBody>
                      <a:tcPr marL="9525" marR="9525" marT="9525" marB="9525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ru-RU" sz="3200" kern="100" dirty="0">
                              <a:effectLst/>
                            </a:rPr>
                            <a:t>Назначение</a:t>
                          </a:r>
                          <a:endParaRPr lang="ru-RU" sz="3200" kern="100" dirty="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Cordia New" panose="020B0304020202020204" pitchFamily="34" charset="-34"/>
                          </a:endParaRPr>
                        </a:p>
                      </a:txBody>
                      <a:tcPr marL="9525" marR="9525" marT="9525" marB="9525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ru-RU" sz="3200" kern="100" dirty="0">
                              <a:effectLst/>
                            </a:rPr>
                            <a:t>Оценка сложности</a:t>
                          </a:r>
                          <a:endParaRPr lang="ru-RU" sz="3200" kern="100" dirty="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Cordia New" panose="020B0304020202020204" pitchFamily="34" charset="-34"/>
                          </a:endParaRPr>
                        </a:p>
                      </a:txBody>
                      <a:tcPr marL="9525" marR="9525" marT="9525" marB="9525" anchor="ctr"/>
                    </a:tc>
                    <a:extLst>
                      <a:ext uri="{0D108BD9-81ED-4DB2-BD59-A6C34878D82A}">
                        <a16:rowId xmlns:a16="http://schemas.microsoft.com/office/drawing/2014/main" val="2055267187"/>
                      </a:ext>
                    </a:extLst>
                  </a:tr>
                  <a:tr h="812111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ru-RU" sz="3200" kern="100">
                              <a:effectLst/>
                            </a:rPr>
                            <a:t>Финансовые коэффициенты</a:t>
                          </a:r>
                          <a:endParaRPr lang="ru-RU" sz="32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Cordia New" panose="020B0304020202020204" pitchFamily="34" charset="-34"/>
                          </a:endParaRPr>
                        </a:p>
                      </a:txBody>
                      <a:tcPr marL="9525" marR="9525" marT="9525" marB="9525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ru-RU" sz="3200" kern="100">
                              <a:effectLst/>
                            </a:rPr>
                            <a:t>Расчёт показателей (Rt, Lt, Dt)</a:t>
                          </a:r>
                          <a:endParaRPr lang="ru-RU" sz="32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Cordia New" panose="020B0304020202020204" pitchFamily="34" charset="-34"/>
                          </a:endParaRPr>
                        </a:p>
                      </a:txBody>
                      <a:tcPr marL="9525" marR="9525" marT="9525" marB="9525" anchor="ctr"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9525" marR="9525" marT="9525" marB="9525" anchor="ctr">
                        <a:blipFill>
                          <a:blip r:embed="rId3"/>
                          <a:stretch>
                            <a:fillRect l="-345419" t="-85714" r="-516" b="-4127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09212243"/>
                      </a:ext>
                    </a:extLst>
                  </a:tr>
                  <a:tr h="812111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ru-RU" sz="3200" kern="100">
                              <a:effectLst/>
                            </a:rPr>
                            <a:t>Экспоненциальное сглаживание (SES)</a:t>
                          </a:r>
                          <a:endParaRPr lang="ru-RU" sz="32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Cordia New" panose="020B0304020202020204" pitchFamily="34" charset="-34"/>
                          </a:endParaRPr>
                        </a:p>
                      </a:txBody>
                      <a:tcPr marL="9525" marR="9525" marT="9525" marB="9525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ru-RU" sz="3200" kern="100">
                              <a:effectLst/>
                            </a:rPr>
                            <a:t>Прогноз доходов и расходов</a:t>
                          </a:r>
                          <a:endParaRPr lang="ru-RU" sz="32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Cordia New" panose="020B0304020202020204" pitchFamily="34" charset="-34"/>
                          </a:endParaRPr>
                        </a:p>
                      </a:txBody>
                      <a:tcPr marL="9525" marR="9525" marT="9525" marB="9525" anchor="ctr"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9525" marR="9525" marT="9525" marB="9525" anchor="ctr">
                        <a:blipFill>
                          <a:blip r:embed="rId3"/>
                          <a:stretch>
                            <a:fillRect l="-345419" t="-185714" r="-516" b="-3127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85994925"/>
                      </a:ext>
                    </a:extLst>
                  </a:tr>
                  <a:tr h="812111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ru-RU" sz="3200" kern="100">
                              <a:effectLst/>
                            </a:rPr>
                            <a:t>Метод Монте-Карло</a:t>
                          </a:r>
                          <a:endParaRPr lang="ru-RU" sz="32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Cordia New" panose="020B0304020202020204" pitchFamily="34" charset="-34"/>
                          </a:endParaRPr>
                        </a:p>
                      </a:txBody>
                      <a:tcPr marL="9525" marR="9525" marT="9525" marB="9525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ru-RU" sz="3200" kern="100">
                              <a:effectLst/>
                            </a:rPr>
                            <a:t>Интервальный прогноз</a:t>
                          </a:r>
                          <a:endParaRPr lang="ru-RU" sz="32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Cordia New" panose="020B0304020202020204" pitchFamily="34" charset="-34"/>
                          </a:endParaRPr>
                        </a:p>
                      </a:txBody>
                      <a:tcPr marL="9525" marR="9525" marT="9525" marB="9525" anchor="ctr"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9525" marR="9525" marT="9525" marB="9525" anchor="ctr">
                        <a:blipFill>
                          <a:blip r:embed="rId3"/>
                          <a:stretch>
                            <a:fillRect l="-345419" t="-283582" r="-516" b="-2104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62740483"/>
                      </a:ext>
                    </a:extLst>
                  </a:tr>
                  <a:tr h="82724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ru-RU" sz="3200" kern="100">
                              <a:effectLst/>
                            </a:rPr>
                            <a:t>Генерация альтернатив (stars and bars)</a:t>
                          </a:r>
                          <a:endParaRPr lang="ru-RU" sz="32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Cordia New" panose="020B0304020202020204" pitchFamily="34" charset="-34"/>
                          </a:endParaRPr>
                        </a:p>
                      </a:txBody>
                      <a:tcPr marL="9525" marR="9525" marT="9525" marB="9525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ru-RU" sz="3200" kern="100">
                              <a:effectLst/>
                            </a:rPr>
                            <a:t>Формирование вариантов решений</a:t>
                          </a:r>
                          <a:endParaRPr lang="ru-RU" sz="32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Cordia New" panose="020B0304020202020204" pitchFamily="34" charset="-34"/>
                          </a:endParaRPr>
                        </a:p>
                      </a:txBody>
                      <a:tcPr marL="9525" marR="9525" marT="9525" marB="9525" anchor="ctr"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9525" marR="9525" marT="9525" marB="9525" anchor="ctr">
                        <a:blipFill>
                          <a:blip r:embed="rId3"/>
                          <a:stretch>
                            <a:fillRect l="-345419" t="-377941" r="-516" b="-10735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30998541"/>
                      </a:ext>
                    </a:extLst>
                  </a:tr>
                  <a:tr h="812111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ru-RU" sz="3200" kern="100">
                              <a:effectLst/>
                            </a:rPr>
                            <a:t>SAW (взвешенная сумма)</a:t>
                          </a:r>
                          <a:endParaRPr lang="ru-RU" sz="32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Cordia New" panose="020B0304020202020204" pitchFamily="34" charset="-34"/>
                          </a:endParaRPr>
                        </a:p>
                      </a:txBody>
                      <a:tcPr marL="9525" marR="9525" marT="9525" marB="9525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ru-RU" sz="3200" kern="100">
                              <a:effectLst/>
                            </a:rPr>
                            <a:t>Ранжирование альтернатив</a:t>
                          </a:r>
                          <a:endParaRPr lang="ru-RU" sz="32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Cordia New" panose="020B0304020202020204" pitchFamily="34" charset="-34"/>
                          </a:endParaRPr>
                        </a:p>
                      </a:txBody>
                      <a:tcPr marL="9525" marR="9525" marT="9525" marB="9525" anchor="ctr"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9525" marR="9525" marT="9525" marB="9525" anchor="ctr">
                        <a:blipFill>
                          <a:blip r:embed="rId3"/>
                          <a:stretch>
                            <a:fillRect l="-345419" t="-488722" r="-516" b="-977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8724859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FE1D034D-3BEA-F035-463A-AC34B97BDFA7}"/>
              </a:ext>
            </a:extLst>
          </p:cNvPr>
          <p:cNvSpPr txBox="1"/>
          <p:nvPr/>
        </p:nvSpPr>
        <p:spPr>
          <a:xfrm>
            <a:off x="1298516" y="9902326"/>
            <a:ext cx="1643703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Все этапы алгоритма имеют полиномиальную сложность и могут эффективно применяться в пользовательских системах</a:t>
            </a:r>
          </a:p>
        </p:txBody>
      </p:sp>
    </p:spTree>
    <p:extLst>
      <p:ext uri="{BB962C8B-B14F-4D97-AF65-F5344CB8AC3E}">
        <p14:creationId xmlns:p14="http://schemas.microsoft.com/office/powerpoint/2010/main" val="28694897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118C71-CB0F-626D-7B20-A8DDDC2519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Заголовок 22">
            <a:extLst>
              <a:ext uri="{FF2B5EF4-FFF2-40B4-BE49-F238E27FC236}">
                <a16:creationId xmlns:a16="http://schemas.microsoft.com/office/drawing/2014/main" id="{04241659-C9E8-C7CE-EC6E-A7145E908A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8517" y="2115691"/>
            <a:ext cx="13389034" cy="1878793"/>
          </a:xfrm>
        </p:spPr>
        <p:txBody>
          <a:bodyPr/>
          <a:lstStyle/>
          <a:p>
            <a:r>
              <a:rPr lang="ru-RU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Генерация альтернатив решений</a:t>
            </a:r>
          </a:p>
        </p:txBody>
      </p:sp>
      <p:sp>
        <p:nvSpPr>
          <p:cNvPr id="32" name="Текст 31">
            <a:extLst>
              <a:ext uri="{FF2B5EF4-FFF2-40B4-BE49-F238E27FC236}">
                <a16:creationId xmlns:a16="http://schemas.microsoft.com/office/drawing/2014/main" id="{E783BF50-AA11-1DE8-817D-47E168EEA29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ru-RU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Евдокимов В.М.</a:t>
            </a:r>
          </a:p>
          <a:p>
            <a:endParaRPr lang="ru-RU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3" name="Нижний колонтитул 32">
            <a:extLst>
              <a:ext uri="{FF2B5EF4-FFF2-40B4-BE49-F238E27FC236}">
                <a16:creationId xmlns:a16="http://schemas.microsoft.com/office/drawing/2014/main" id="{620A9BD4-4473-0AA1-EA5A-668994F108DA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ru-RU">
                <a:latin typeface="Tahoma"/>
                <a:ea typeface="Tahoma"/>
                <a:cs typeface="Tahoma"/>
              </a:rPr>
              <a:t>Разработка алгоритмического обеспечения системы поддержки принятия решений в сфере персональных финансов</a:t>
            </a:r>
          </a:p>
        </p:txBody>
      </p:sp>
      <p:sp>
        <p:nvSpPr>
          <p:cNvPr id="34" name="Номер слайда 33">
            <a:extLst>
              <a:ext uri="{FF2B5EF4-FFF2-40B4-BE49-F238E27FC236}">
                <a16:creationId xmlns:a16="http://schemas.microsoft.com/office/drawing/2014/main" id="{0C2DDA33-CC13-DDE9-6E79-9ED2FB6637F9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66B5E2A4-72D4-4DC4-9470-54C0EE06E412}" type="slidenum">
              <a:rPr lang="ru-RU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/>
              <a:t>10</a:t>
            </a:fld>
            <a:endParaRPr lang="ru-RU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37BBE76-8F85-18D7-42D0-372FBF028ACA}"/>
                  </a:ext>
                </a:extLst>
              </p:cNvPr>
              <p:cNvSpPr txBox="1"/>
              <p:nvPr/>
            </p:nvSpPr>
            <p:spPr>
              <a:xfrm>
                <a:off x="1298516" y="4477919"/>
                <a:ext cx="16113184" cy="623657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ru-RU" sz="3600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Cordia New" panose="020B0304020202020204" pitchFamily="34" charset="-34"/>
                  </a:rPr>
                  <a:t>Подход:</a:t>
                </a:r>
                <a:endParaRPr lang="ru-RU" sz="3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Cordia New" panose="020B0304020202020204" pitchFamily="34" charset="-34"/>
                </a:endParaRPr>
              </a:p>
              <a:p>
                <a:pPr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ru-RU" sz="3600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Cordia New" panose="020B0304020202020204" pitchFamily="34" charset="-34"/>
                  </a:rPr>
                  <a:t>– доступный ресурс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36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Cordia New" panose="020B0304020202020204" pitchFamily="34" charset="-34"/>
                          </a:rPr>
                        </m:ctrlPr>
                      </m:sSubPr>
                      <m:e>
                        <m:r>
                          <a:rPr lang="ru-RU" sz="36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Cordia New" panose="020B0304020202020204" pitchFamily="34" charset="-34"/>
                          </a:rPr>
                          <m:t>𝑅</m:t>
                        </m:r>
                      </m:e>
                      <m:sub>
                        <m:r>
                          <a:rPr lang="ru-RU" sz="36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Cordia New" panose="020B0304020202020204" pitchFamily="34" charset="-34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ru-RU" sz="3600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Cordia New" panose="020B0304020202020204" pitchFamily="34" charset="-34"/>
                  </a:rPr>
                  <a:t> </a:t>
                </a:r>
                <a:r>
                  <a:rPr lang="ru-RU" sz="3600" kern="100" dirty="0" err="1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Cordia New" panose="020B0304020202020204" pitchFamily="34" charset="-34"/>
                  </a:rPr>
                  <a:t>дискретизируется</a:t>
                </a:r>
                <a:r>
                  <a:rPr lang="ru-RU" sz="3600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Cordia New" panose="020B0304020202020204" pitchFamily="34" charset="-34"/>
                  </a:rPr>
                  <a:t> на </a:t>
                </a:r>
              </a:p>
              <a:p>
                <a:pPr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ru-RU" sz="3600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Cordia New" panose="020B0304020202020204" pitchFamily="34" charset="-34"/>
                  </a:rPr>
                  <a:t>фиксированное число долей;</a:t>
                </a:r>
                <a:br>
                  <a:rPr lang="ru-RU" sz="3600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Cordia New" panose="020B0304020202020204" pitchFamily="34" charset="-34"/>
                  </a:rPr>
                </a:br>
                <a:r>
                  <a:rPr lang="ru-RU" sz="3600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Cordia New" panose="020B0304020202020204" pitchFamily="34" charset="-34"/>
                  </a:rPr>
                  <a:t>– ресурс распределяется между направлениями:</a:t>
                </a:r>
                <a:br>
                  <a:rPr lang="ru-RU" sz="3600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Cordia New" panose="020B0304020202020204" pitchFamily="34" charset="-34"/>
                  </a:rPr>
                </a:br>
                <a:r>
                  <a:rPr lang="ru-RU" sz="3600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Cordia New" panose="020B0304020202020204" pitchFamily="34" charset="-34"/>
                  </a:rPr>
                  <a:t>– погашение обязательств (d);</a:t>
                </a:r>
                <a:br>
                  <a:rPr lang="ru-RU" sz="3600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Cordia New" panose="020B0304020202020204" pitchFamily="34" charset="-34"/>
                  </a:rPr>
                </a:br>
                <a:r>
                  <a:rPr lang="ru-RU" sz="3600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Cordia New" panose="020B0304020202020204" pitchFamily="34" charset="-34"/>
                  </a:rPr>
                  <a:t>– резерв (r);</a:t>
                </a:r>
                <a:br>
                  <a:rPr lang="ru-RU" sz="3600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Cordia New" panose="020B0304020202020204" pitchFamily="34" charset="-34"/>
                  </a:rPr>
                </a:br>
                <a:r>
                  <a:rPr lang="ru-RU" sz="3600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Cordia New" panose="020B0304020202020204" pitchFamily="34" charset="-34"/>
                  </a:rPr>
                  <a:t>– цели (g);</a:t>
                </a:r>
              </a:p>
              <a:p>
                <a:pPr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ru-RU" sz="3600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Cordia New" panose="020B0304020202020204" pitchFamily="34" charset="-34"/>
                  </a:rPr>
                  <a:t>Условие распределения:</a:t>
                </a:r>
                <a:endParaRPr lang="ru-RU" sz="3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Cordia New" panose="020B0304020202020204" pitchFamily="34" charset="-34"/>
                </a:endParaRPr>
              </a:p>
              <a:p>
                <a:pPr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36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Cordia New" panose="020B0304020202020204" pitchFamily="34" charset="-34"/>
                        </a:rPr>
                        <m:t>𝑑</m:t>
                      </m:r>
                      <m:r>
                        <a:rPr lang="ru-RU" sz="36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Cordia New" panose="020B0304020202020204" pitchFamily="34" charset="-34"/>
                        </a:rPr>
                        <m:t>+</m:t>
                      </m:r>
                      <m:r>
                        <a:rPr lang="ru-RU" sz="36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Cordia New" panose="020B0304020202020204" pitchFamily="34" charset="-34"/>
                        </a:rPr>
                        <m:t>𝑟</m:t>
                      </m:r>
                      <m:r>
                        <a:rPr lang="ru-RU" sz="36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Cordia New" panose="020B0304020202020204" pitchFamily="34" charset="-34"/>
                        </a:rPr>
                        <m:t>+</m:t>
                      </m:r>
                      <m:r>
                        <a:rPr lang="ru-RU" sz="36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Cordia New" panose="020B0304020202020204" pitchFamily="34" charset="-34"/>
                        </a:rPr>
                        <m:t>𝑔</m:t>
                      </m:r>
                      <m:r>
                        <a:rPr lang="ru-RU" sz="36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Cordia New" panose="020B0304020202020204" pitchFamily="34" charset="-34"/>
                        </a:rPr>
                        <m:t>=</m:t>
                      </m:r>
                      <m:r>
                        <a:rPr lang="ru-RU" sz="36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Cordia New" panose="020B0304020202020204" pitchFamily="34" charset="-34"/>
                        </a:rPr>
                        <m:t>𝑁</m:t>
                      </m:r>
                      <m:r>
                        <a:rPr lang="ru-RU" sz="36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Cordia New" panose="020B0304020202020204" pitchFamily="34" charset="-34"/>
                        </a:rPr>
                        <m:t>,</m:t>
                      </m:r>
                      <m:r>
                        <a:rPr lang="ru-RU" sz="36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Cordia New" panose="020B0304020202020204" pitchFamily="34" charset="-34"/>
                        </a:rPr>
                        <m:t>𝑑</m:t>
                      </m:r>
                      <m:r>
                        <a:rPr lang="ru-RU" sz="36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Cordia New" panose="020B0304020202020204" pitchFamily="34" charset="-34"/>
                        </a:rPr>
                        <m:t>,</m:t>
                      </m:r>
                      <m:r>
                        <a:rPr lang="ru-RU" sz="36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Cordia New" panose="020B0304020202020204" pitchFamily="34" charset="-34"/>
                        </a:rPr>
                        <m:t>𝑟</m:t>
                      </m:r>
                      <m:r>
                        <a:rPr lang="ru-RU" sz="36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Cordia New" panose="020B0304020202020204" pitchFamily="34" charset="-34"/>
                        </a:rPr>
                        <m:t>,</m:t>
                      </m:r>
                      <m:r>
                        <a:rPr lang="ru-RU" sz="36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Cordia New" panose="020B0304020202020204" pitchFamily="34" charset="-34"/>
                        </a:rPr>
                        <m:t>𝑔</m:t>
                      </m:r>
                      <m:r>
                        <a:rPr lang="ru-RU" sz="36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Cordia New" panose="020B0304020202020204" pitchFamily="34" charset="-34"/>
                        </a:rPr>
                        <m:t>≥0</m:t>
                      </m:r>
                    </m:oMath>
                  </m:oMathPara>
                </a14:m>
                <a:br>
                  <a:rPr lang="ru-RU" sz="3600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Cordia New" panose="020B0304020202020204" pitchFamily="34" charset="-34"/>
                  </a:rPr>
                </a:br>
                <a:endParaRPr lang="ru-RU" sz="3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Cordia New" panose="020B0304020202020204" pitchFamily="34" charset="-34"/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37BBE76-8F85-18D7-42D0-372FBF028A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8516" y="4477919"/>
                <a:ext cx="16113184" cy="6236579"/>
              </a:xfrm>
              <a:prstGeom prst="rect">
                <a:avLst/>
              </a:prstGeom>
              <a:blipFill>
                <a:blip r:embed="rId3"/>
                <a:stretch>
                  <a:fillRect l="-1135" t="-68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54FF879-8BAF-1F0F-0ED5-33BFDC01BCB7}"/>
                  </a:ext>
                </a:extLst>
              </p:cNvPr>
              <p:cNvSpPr txBox="1"/>
              <p:nvPr/>
            </p:nvSpPr>
            <p:spPr>
              <a:xfrm>
                <a:off x="13563599" y="3994484"/>
                <a:ext cx="10049559" cy="6624378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ru-RU" sz="3600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Cordia New" panose="020B0304020202020204" pitchFamily="34" charset="-34"/>
                  </a:rPr>
                  <a:t>Метод:</a:t>
                </a:r>
                <a:endParaRPr lang="ru-RU" sz="3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Cordia New" panose="020B0304020202020204" pitchFamily="34" charset="-34"/>
                </a:endParaRPr>
              </a:p>
              <a:p>
                <a:pPr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ru-RU" sz="3600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Cordia New" panose="020B0304020202020204" pitchFamily="34" charset="-34"/>
                  </a:rPr>
                  <a:t>– используется комбинаторный подход (</a:t>
                </a:r>
                <a:r>
                  <a:rPr lang="ru-RU" sz="3600" kern="100" dirty="0" err="1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Cordia New" panose="020B0304020202020204" pitchFamily="34" charset="-34"/>
                  </a:rPr>
                  <a:t>stars</a:t>
                </a:r>
                <a:r>
                  <a:rPr lang="ru-RU" sz="3600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Cordia New" panose="020B0304020202020204" pitchFamily="34" charset="-34"/>
                  </a:rPr>
                  <a:t> </a:t>
                </a:r>
                <a:r>
                  <a:rPr lang="ru-RU" sz="3600" kern="100" dirty="0" err="1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Cordia New" panose="020B0304020202020204" pitchFamily="34" charset="-34"/>
                  </a:rPr>
                  <a:t>and</a:t>
                </a:r>
                <a:r>
                  <a:rPr lang="ru-RU" sz="3600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Cordia New" panose="020B0304020202020204" pitchFamily="34" charset="-34"/>
                  </a:rPr>
                  <a:t> </a:t>
                </a:r>
                <a:r>
                  <a:rPr lang="ru-RU" sz="3600" kern="100" dirty="0" err="1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Cordia New" panose="020B0304020202020204" pitchFamily="34" charset="-34"/>
                  </a:rPr>
                  <a:t>bars</a:t>
                </a:r>
                <a:r>
                  <a:rPr lang="ru-RU" sz="3600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Cordia New" panose="020B0304020202020204" pitchFamily="34" charset="-34"/>
                  </a:rPr>
                  <a:t>);</a:t>
                </a:r>
                <a:br>
                  <a:rPr lang="ru-RU" sz="3600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Cordia New" panose="020B0304020202020204" pitchFamily="34" charset="-34"/>
                  </a:rPr>
                </a:br>
                <a:r>
                  <a:rPr lang="ru-RU" sz="3600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Cordia New" panose="020B0304020202020204" pitchFamily="34" charset="-34"/>
                  </a:rPr>
                  <a:t>– перебираются все допустимые комбинации распределения ресурса;</a:t>
                </a:r>
              </a:p>
              <a:p>
                <a:pPr algn="ctr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endParaRPr lang="ru-RU" sz="3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Cordia New" panose="020B0304020202020204" pitchFamily="34" charset="-34"/>
                </a:endParaRPr>
              </a:p>
              <a:p>
                <a:pPr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ru-RU" sz="3600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Cordia New" panose="020B0304020202020204" pitchFamily="34" charset="-34"/>
                  </a:rPr>
                  <a:t>Результат:</a:t>
                </a:r>
                <a:endParaRPr lang="ru-RU" sz="3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Cordia New" panose="020B0304020202020204" pitchFamily="34" charset="-34"/>
                </a:endParaRPr>
              </a:p>
              <a:p>
                <a:pPr>
                  <a:buNone/>
                </a:pPr>
                <a:r>
                  <a:rPr lang="ru-RU" sz="36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Cordia New" panose="020B0304020202020204" pitchFamily="34" charset="-34"/>
                  </a:rPr>
                  <a:t>– при </a:t>
                </a:r>
                <a14:m>
                  <m:oMath xmlns:m="http://schemas.openxmlformats.org/officeDocument/2006/math">
                    <m:r>
                      <a:rPr lang="ru-RU" sz="3600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Cordia New" panose="020B0304020202020204" pitchFamily="34" charset="-34"/>
                      </a:rPr>
                      <m:t>𝑁</m:t>
                    </m:r>
                    <m:r>
                      <a:rPr lang="ru-RU" sz="3600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Cordia New" panose="020B0304020202020204" pitchFamily="34" charset="-34"/>
                      </a:rPr>
                      <m:t>=5</m:t>
                    </m:r>
                  </m:oMath>
                </a14:m>
                <a:r>
                  <a:rPr lang="ru-RU" sz="36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Cordia New" panose="020B0304020202020204" pitchFamily="34" charset="-34"/>
                  </a:rPr>
                  <a:t>получаем 21 альтернативу;</a:t>
                </a:r>
                <a:br>
                  <a:rPr lang="ru-RU" sz="36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Cordia New" panose="020B0304020202020204" pitchFamily="34" charset="-34"/>
                  </a:rPr>
                </a:br>
                <a:r>
                  <a:rPr lang="ru-RU" sz="36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Cordia New" panose="020B0304020202020204" pitchFamily="34" charset="-34"/>
                  </a:rPr>
                  <a:t>– каждая альтернатива — отдельная стратегия распределения средств;</a:t>
                </a:r>
                <a:endParaRPr lang="ru-RU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54FF879-8BAF-1F0F-0ED5-33BFDC01BC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63599" y="3994484"/>
                <a:ext cx="10049559" cy="6624378"/>
              </a:xfrm>
              <a:prstGeom prst="rect">
                <a:avLst/>
              </a:prstGeom>
              <a:blipFill>
                <a:blip r:embed="rId4"/>
                <a:stretch>
                  <a:fillRect l="-1819" t="-552" b="-266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A776D4FD-49A8-752C-F7F5-ADE229906D95}"/>
              </a:ext>
            </a:extLst>
          </p:cNvPr>
          <p:cNvSpPr txBox="1"/>
          <p:nvPr/>
        </p:nvSpPr>
        <p:spPr>
          <a:xfrm>
            <a:off x="1385544" y="10957369"/>
            <a:ext cx="22227614" cy="133510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ru-RU" sz="36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Cordia New" panose="020B0304020202020204" pitchFamily="34" charset="-34"/>
              </a:rPr>
              <a:t>Ключевая идея:</a:t>
            </a:r>
            <a:r>
              <a:rPr lang="ru-RU" sz="3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Cordia New" panose="020B0304020202020204" pitchFamily="34" charset="-34"/>
              </a:rPr>
              <a:t> вместо одного решения формируется множество допустимых альтернатив для последующего выбора</a:t>
            </a:r>
          </a:p>
        </p:txBody>
      </p:sp>
    </p:spTree>
    <p:extLst>
      <p:ext uri="{BB962C8B-B14F-4D97-AF65-F5344CB8AC3E}">
        <p14:creationId xmlns:p14="http://schemas.microsoft.com/office/powerpoint/2010/main" val="40659109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F0248F-5D92-2342-1F32-C52DEE8E33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Заголовок 22">
            <a:extLst>
              <a:ext uri="{FF2B5EF4-FFF2-40B4-BE49-F238E27FC236}">
                <a16:creationId xmlns:a16="http://schemas.microsoft.com/office/drawing/2014/main" id="{541A53E1-7147-6A64-8841-534AB6F59C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8517" y="2115691"/>
            <a:ext cx="13389034" cy="1878793"/>
          </a:xfrm>
        </p:spPr>
        <p:txBody>
          <a:bodyPr/>
          <a:lstStyle/>
          <a:p>
            <a:r>
              <a:rPr lang="ru-RU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Фильтрация по ограничениям</a:t>
            </a:r>
          </a:p>
        </p:txBody>
      </p:sp>
      <p:sp>
        <p:nvSpPr>
          <p:cNvPr id="32" name="Текст 31">
            <a:extLst>
              <a:ext uri="{FF2B5EF4-FFF2-40B4-BE49-F238E27FC236}">
                <a16:creationId xmlns:a16="http://schemas.microsoft.com/office/drawing/2014/main" id="{E1F230CB-6A4D-0FE6-1550-DE53A313857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ru-RU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Евдокимов В.М.</a:t>
            </a:r>
          </a:p>
          <a:p>
            <a:endParaRPr lang="ru-RU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3" name="Нижний колонтитул 32">
            <a:extLst>
              <a:ext uri="{FF2B5EF4-FFF2-40B4-BE49-F238E27FC236}">
                <a16:creationId xmlns:a16="http://schemas.microsoft.com/office/drawing/2014/main" id="{BD493389-D456-66F1-9AC3-0669845C87CB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ru-RU">
                <a:latin typeface="Tahoma"/>
                <a:ea typeface="Tahoma"/>
                <a:cs typeface="Tahoma"/>
              </a:rPr>
              <a:t>Разработка алгоритмического обеспечения системы поддержки принятия решений в сфере персональных финансов</a:t>
            </a:r>
          </a:p>
        </p:txBody>
      </p:sp>
      <p:sp>
        <p:nvSpPr>
          <p:cNvPr id="34" name="Номер слайда 33">
            <a:extLst>
              <a:ext uri="{FF2B5EF4-FFF2-40B4-BE49-F238E27FC236}">
                <a16:creationId xmlns:a16="http://schemas.microsoft.com/office/drawing/2014/main" id="{AE2A185E-7681-1D85-C5F9-585656386E6F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66B5E2A4-72D4-4DC4-9470-54C0EE06E412}" type="slidenum">
              <a:rPr lang="ru-RU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/>
              <a:t>11</a:t>
            </a:fld>
            <a:endParaRPr lang="ru-RU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3FD7F22-030D-0472-2C42-66C23958E467}"/>
                  </a:ext>
                </a:extLst>
              </p:cNvPr>
              <p:cNvSpPr txBox="1"/>
              <p:nvPr/>
            </p:nvSpPr>
            <p:spPr>
              <a:xfrm>
                <a:off x="1298516" y="4357239"/>
                <a:ext cx="13103283" cy="75819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ru-RU" sz="3600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Cordia New" panose="020B0304020202020204" pitchFamily="34" charset="-34"/>
                  </a:rPr>
                  <a:t>Проверка допустимости решений:</a:t>
                </a:r>
                <a:endParaRPr lang="ru-RU" sz="3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Cordia New" panose="020B0304020202020204" pitchFamily="34" charset="-34"/>
                </a:endParaRPr>
              </a:p>
              <a:p>
                <a:pPr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ru-RU" sz="3600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Cordia New" panose="020B0304020202020204" pitchFamily="34" charset="-34"/>
                  </a:rPr>
                  <a:t>– для каждой альтернативы рассчитываются показатели:</a:t>
                </a:r>
                <a:br>
                  <a:rPr lang="ru-RU" sz="3600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Cordia New" panose="020B0304020202020204" pitchFamily="34" charset="-34"/>
                  </a:rPr>
                </a:br>
                <a:r>
                  <a:rPr lang="ru-RU" sz="3600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Cordia New" panose="020B0304020202020204" pitchFamily="34" charset="-34"/>
                  </a:rPr>
                  <a:t>– ликвидность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36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Cordia New" panose="020B0304020202020204" pitchFamily="34" charset="-34"/>
                          </a:rPr>
                        </m:ctrlPr>
                      </m:sSubPr>
                      <m:e>
                        <m:r>
                          <a:rPr lang="ru-RU" sz="36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Cordia New" panose="020B0304020202020204" pitchFamily="34" charset="-34"/>
                          </a:rPr>
                          <m:t>𝐿</m:t>
                        </m:r>
                      </m:e>
                      <m:sub>
                        <m:r>
                          <a:rPr lang="ru-RU" sz="36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Cordia New" panose="020B0304020202020204" pitchFamily="34" charset="-34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sz="3600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Cordia New" panose="020B0304020202020204" pitchFamily="34" charset="-34"/>
                  </a:rPr>
                  <a:t>;</a:t>
                </a:r>
                <a:br>
                  <a:rPr lang="ru-RU" sz="3600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Cordia New" panose="020B0304020202020204" pitchFamily="34" charset="-34"/>
                  </a:rPr>
                </a:br>
                <a:r>
                  <a:rPr lang="ru-RU" sz="3600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Cordia New" panose="020B0304020202020204" pitchFamily="34" charset="-34"/>
                  </a:rPr>
                  <a:t>– долговая нагрузка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36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Cordia New" panose="020B0304020202020204" pitchFamily="34" charset="-34"/>
                          </a:rPr>
                        </m:ctrlPr>
                      </m:sSubPr>
                      <m:e>
                        <m:r>
                          <a:rPr lang="ru-RU" sz="36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Cordia New" panose="020B0304020202020204" pitchFamily="34" charset="-34"/>
                          </a:rPr>
                          <m:t>𝐷</m:t>
                        </m:r>
                      </m:e>
                      <m:sub>
                        <m:r>
                          <a:rPr lang="ru-RU" sz="36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Cordia New" panose="020B0304020202020204" pitchFamily="34" charset="-34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sz="3600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Cordia New" panose="020B0304020202020204" pitchFamily="34" charset="-34"/>
                  </a:rPr>
                  <a:t>;</a:t>
                </a:r>
              </a:p>
              <a:p>
                <a:pPr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ru-RU" sz="3600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Cordia New" panose="020B0304020202020204" pitchFamily="34" charset="-34"/>
                  </a:rPr>
                  <a:t>Ограничения:</a:t>
                </a:r>
                <a:endParaRPr lang="ru-RU" sz="3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Cordia New" panose="020B0304020202020204" pitchFamily="34" charset="-34"/>
                </a:endParaRPr>
              </a:p>
              <a:p>
                <a:pPr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ru-RU" sz="3600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Cordia New" panose="020B0304020202020204" pitchFamily="34" charset="-34"/>
                  </a:rPr>
                  <a:t>–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36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Cordia New" panose="020B0304020202020204" pitchFamily="34" charset="-34"/>
                          </a:rPr>
                        </m:ctrlPr>
                      </m:sSubPr>
                      <m:e>
                        <m:r>
                          <a:rPr lang="ru-RU" sz="36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Cordia New" panose="020B0304020202020204" pitchFamily="34" charset="-34"/>
                          </a:rPr>
                          <m:t>𝐿</m:t>
                        </m:r>
                      </m:e>
                      <m:sub>
                        <m:r>
                          <a:rPr lang="ru-RU" sz="36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Cordia New" panose="020B0304020202020204" pitchFamily="34" charset="-34"/>
                          </a:rPr>
                          <m:t>𝑖</m:t>
                        </m:r>
                      </m:sub>
                    </m:sSub>
                    <m:r>
                      <a:rPr lang="ru-RU" sz="36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Cordia New" panose="020B0304020202020204" pitchFamily="34" charset="-34"/>
                      </a:rPr>
                      <m:t>≥</m:t>
                    </m:r>
                    <m:sSub>
                      <m:sSubPr>
                        <m:ctrlPr>
                          <a:rPr lang="ru-RU" sz="36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Cordia New" panose="020B0304020202020204" pitchFamily="34" charset="-34"/>
                          </a:rPr>
                        </m:ctrlPr>
                      </m:sSubPr>
                      <m:e>
                        <m:r>
                          <a:rPr lang="ru-RU" sz="36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Cordia New" panose="020B0304020202020204" pitchFamily="34" charset="-34"/>
                          </a:rPr>
                          <m:t>𝐿</m:t>
                        </m:r>
                      </m:e>
                      <m:sub>
                        <m:r>
                          <a:rPr lang="ru-RU" sz="36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Cordia New" panose="020B0304020202020204" pitchFamily="34" charset="-34"/>
                          </a:rPr>
                          <m:t>𝑚𝑖𝑛</m:t>
                        </m:r>
                      </m:sub>
                    </m:sSub>
                  </m:oMath>
                </a14:m>
                <a:r>
                  <a:rPr lang="ru-RU" sz="3600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Cordia New" panose="020B0304020202020204" pitchFamily="34" charset="-34"/>
                  </a:rPr>
                  <a:t>— минимальный уровень ликвидности;</a:t>
                </a:r>
                <a:br>
                  <a:rPr lang="ru-RU" sz="3600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Cordia New" panose="020B0304020202020204" pitchFamily="34" charset="-34"/>
                  </a:rPr>
                </a:br>
                <a:r>
                  <a:rPr lang="ru-RU" sz="3600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Cordia New" panose="020B0304020202020204" pitchFamily="34" charset="-34"/>
                  </a:rPr>
                  <a:t>–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36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Cordia New" panose="020B0304020202020204" pitchFamily="34" charset="-34"/>
                          </a:rPr>
                        </m:ctrlPr>
                      </m:sSubPr>
                      <m:e>
                        <m:r>
                          <a:rPr lang="ru-RU" sz="36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Cordia New" panose="020B0304020202020204" pitchFamily="34" charset="-34"/>
                          </a:rPr>
                          <m:t>𝐷</m:t>
                        </m:r>
                      </m:e>
                      <m:sub>
                        <m:r>
                          <a:rPr lang="ru-RU" sz="36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Cordia New" panose="020B0304020202020204" pitchFamily="34" charset="-34"/>
                          </a:rPr>
                          <m:t>𝑖</m:t>
                        </m:r>
                      </m:sub>
                    </m:sSub>
                    <m:r>
                      <a:rPr lang="ru-RU" sz="36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Cordia New" panose="020B0304020202020204" pitchFamily="34" charset="-34"/>
                      </a:rPr>
                      <m:t>≤</m:t>
                    </m:r>
                    <m:sSub>
                      <m:sSubPr>
                        <m:ctrlPr>
                          <a:rPr lang="ru-RU" sz="36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Cordia New" panose="020B0304020202020204" pitchFamily="34" charset="-34"/>
                          </a:rPr>
                        </m:ctrlPr>
                      </m:sSubPr>
                      <m:e>
                        <m:r>
                          <a:rPr lang="ru-RU" sz="36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Cordia New" panose="020B0304020202020204" pitchFamily="34" charset="-34"/>
                          </a:rPr>
                          <m:t>𝐷</m:t>
                        </m:r>
                      </m:e>
                      <m:sub>
                        <m:r>
                          <a:rPr lang="ru-RU" sz="36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Cordia New" panose="020B0304020202020204" pitchFamily="34" charset="-34"/>
                          </a:rPr>
                          <m:t>𝑚𝑎𝑥</m:t>
                        </m:r>
                      </m:sub>
                    </m:sSub>
                  </m:oMath>
                </a14:m>
                <a:r>
                  <a:rPr lang="ru-RU" sz="3600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Cordia New" panose="020B0304020202020204" pitchFamily="34" charset="-34"/>
                  </a:rPr>
                  <a:t>— допустимая долговая нагрузка;</a:t>
                </a:r>
              </a:p>
              <a:p>
                <a:pPr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ru-RU" sz="3600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Cordia New" panose="020B0304020202020204" pitchFamily="34" charset="-34"/>
                  </a:rPr>
                  <a:t>Процедура фильтрации:</a:t>
                </a:r>
                <a:endParaRPr lang="ru-RU" sz="3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Cordia New" panose="020B0304020202020204" pitchFamily="34" charset="-34"/>
                </a:endParaRPr>
              </a:p>
              <a:p>
                <a:pPr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ru-RU" sz="3600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Cordia New" panose="020B0304020202020204" pitchFamily="34" charset="-34"/>
                  </a:rPr>
                  <a:t>– альтернативы, не удовлетворяющие ограничениям, исключаются;</a:t>
                </a:r>
                <a:br>
                  <a:rPr lang="ru-RU" sz="3600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Cordia New" panose="020B0304020202020204" pitchFamily="34" charset="-34"/>
                  </a:rPr>
                </a:br>
                <a:r>
                  <a:rPr lang="ru-RU" sz="3600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Cordia New" panose="020B0304020202020204" pitchFamily="34" charset="-34"/>
                  </a:rPr>
                  <a:t>– формируется множество допустимых решений;</a:t>
                </a: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3FD7F22-030D-0472-2C42-66C23958E4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8516" y="4357239"/>
                <a:ext cx="13103283" cy="7581947"/>
              </a:xfrm>
              <a:prstGeom prst="rect">
                <a:avLst/>
              </a:prstGeom>
              <a:blipFill>
                <a:blip r:embed="rId3"/>
                <a:stretch>
                  <a:fillRect l="-1396" t="-563" b="-209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D8AABDAF-0DE2-C339-0C96-8BCA39B08AD8}"/>
              </a:ext>
            </a:extLst>
          </p:cNvPr>
          <p:cNvSpPr txBox="1"/>
          <p:nvPr/>
        </p:nvSpPr>
        <p:spPr>
          <a:xfrm>
            <a:off x="16399057" y="9145541"/>
            <a:ext cx="7564255" cy="30049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ru-RU" sz="4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Cordia New" panose="020B0304020202020204" pitchFamily="34" charset="-34"/>
              </a:rPr>
              <a:t>Результат :</a:t>
            </a:r>
            <a:endParaRPr lang="ru-RU" sz="4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Cordia New" panose="020B0304020202020204" pitchFamily="34" charset="-34"/>
            </a:endParaRPr>
          </a:p>
          <a:p>
            <a:pPr>
              <a:buNone/>
            </a:pPr>
            <a:r>
              <a:rPr lang="ru-RU" sz="4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Cordia New" panose="020B0304020202020204" pitchFamily="34" charset="-34"/>
              </a:rPr>
              <a:t>исключаются финансово неустойчивые и рискованные стратегии</a:t>
            </a:r>
            <a:endParaRPr lang="ru-RU" sz="4400" dirty="0"/>
          </a:p>
        </p:txBody>
      </p:sp>
      <p:sp>
        <p:nvSpPr>
          <p:cNvPr id="8" name="Стрелка: вправо 7">
            <a:extLst>
              <a:ext uri="{FF2B5EF4-FFF2-40B4-BE49-F238E27FC236}">
                <a16:creationId xmlns:a16="http://schemas.microsoft.com/office/drawing/2014/main" id="{A584D6C7-0542-A67B-3AB7-77FD553F20C0}"/>
              </a:ext>
            </a:extLst>
          </p:cNvPr>
          <p:cNvSpPr/>
          <p:nvPr/>
        </p:nvSpPr>
        <p:spPr>
          <a:xfrm>
            <a:off x="13285879" y="8840783"/>
            <a:ext cx="2438400" cy="14859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27265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7FD32C-F748-E208-4564-9CD6D7789F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Заголовок 22">
            <a:extLst>
              <a:ext uri="{FF2B5EF4-FFF2-40B4-BE49-F238E27FC236}">
                <a16:creationId xmlns:a16="http://schemas.microsoft.com/office/drawing/2014/main" id="{F3221FC3-32FD-419A-F542-5ACA2F224B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8517" y="2115691"/>
            <a:ext cx="13389034" cy="1878793"/>
          </a:xfrm>
        </p:spPr>
        <p:txBody>
          <a:bodyPr/>
          <a:lstStyle/>
          <a:p>
            <a:r>
              <a:rPr lang="ru-RU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Ранжирование альтернатив</a:t>
            </a:r>
          </a:p>
        </p:txBody>
      </p:sp>
      <p:sp>
        <p:nvSpPr>
          <p:cNvPr id="32" name="Текст 31">
            <a:extLst>
              <a:ext uri="{FF2B5EF4-FFF2-40B4-BE49-F238E27FC236}">
                <a16:creationId xmlns:a16="http://schemas.microsoft.com/office/drawing/2014/main" id="{EE710770-797F-1678-1C0B-7AA9C7460AA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ru-RU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Евдокимов В.М.</a:t>
            </a:r>
          </a:p>
          <a:p>
            <a:endParaRPr lang="ru-RU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3" name="Нижний колонтитул 32">
            <a:extLst>
              <a:ext uri="{FF2B5EF4-FFF2-40B4-BE49-F238E27FC236}">
                <a16:creationId xmlns:a16="http://schemas.microsoft.com/office/drawing/2014/main" id="{5700B5D4-CC0D-AC8E-65DF-4E92551FE460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ru-RU">
                <a:latin typeface="Tahoma"/>
                <a:ea typeface="Tahoma"/>
                <a:cs typeface="Tahoma"/>
              </a:rPr>
              <a:t>Разработка алгоритмического обеспечения системы поддержки принятия решений в сфере персональных финансов</a:t>
            </a:r>
          </a:p>
        </p:txBody>
      </p:sp>
      <p:sp>
        <p:nvSpPr>
          <p:cNvPr id="34" name="Номер слайда 33">
            <a:extLst>
              <a:ext uri="{FF2B5EF4-FFF2-40B4-BE49-F238E27FC236}">
                <a16:creationId xmlns:a16="http://schemas.microsoft.com/office/drawing/2014/main" id="{6C7C61B7-0B0F-3880-481C-3B99CB544422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66B5E2A4-72D4-4DC4-9470-54C0EE06E412}" type="slidenum">
              <a:rPr lang="ru-RU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/>
              <a:t>12</a:t>
            </a:fld>
            <a:endParaRPr lang="ru-RU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1DFE719-6DA4-A55B-6E7B-72225F3BB2AD}"/>
              </a:ext>
            </a:extLst>
          </p:cNvPr>
          <p:cNvSpPr txBox="1"/>
          <p:nvPr/>
        </p:nvSpPr>
        <p:spPr>
          <a:xfrm>
            <a:off x="16030577" y="9145541"/>
            <a:ext cx="7932736" cy="36820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ru-RU" sz="4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Cordia New" panose="020B0304020202020204" pitchFamily="34" charset="-34"/>
              </a:rPr>
              <a:t>Результат :</a:t>
            </a:r>
            <a:endParaRPr lang="ru-RU" sz="4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Cordia New" panose="020B0304020202020204" pitchFamily="34" charset="-34"/>
            </a:endParaRPr>
          </a:p>
          <a:p>
            <a:pPr>
              <a:buNone/>
            </a:pPr>
            <a:r>
              <a:rPr lang="ru-RU" sz="4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Cordia New" panose="020B0304020202020204" pitchFamily="34" charset="-34"/>
              </a:rPr>
              <a:t>выбирается альтернатива, обеспечивающая наилучший баланс между доходностью, ликвидностью и риском</a:t>
            </a:r>
            <a:endParaRPr lang="ru-RU" sz="4400" dirty="0"/>
          </a:p>
        </p:txBody>
      </p:sp>
      <p:sp>
        <p:nvSpPr>
          <p:cNvPr id="8" name="Стрелка: вправо 7">
            <a:extLst>
              <a:ext uri="{FF2B5EF4-FFF2-40B4-BE49-F238E27FC236}">
                <a16:creationId xmlns:a16="http://schemas.microsoft.com/office/drawing/2014/main" id="{9647954E-54DE-6638-AE1B-E939D096065E}"/>
              </a:ext>
            </a:extLst>
          </p:cNvPr>
          <p:cNvSpPr/>
          <p:nvPr/>
        </p:nvSpPr>
        <p:spPr>
          <a:xfrm>
            <a:off x="13211175" y="8829732"/>
            <a:ext cx="2438400" cy="14859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87DFAB-B3F4-BAF8-2ABD-F27418D91CCD}"/>
              </a:ext>
            </a:extLst>
          </p:cNvPr>
          <p:cNvSpPr txBox="1"/>
          <p:nvPr/>
        </p:nvSpPr>
        <p:spPr>
          <a:xfrm>
            <a:off x="1298517" y="4342834"/>
            <a:ext cx="12192000" cy="2074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ru-RU" sz="36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Cordia New" panose="020B0304020202020204" pitchFamily="34" charset="-34"/>
              </a:rPr>
              <a:t>Подход:</a:t>
            </a:r>
            <a:endParaRPr lang="ru-RU" sz="3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Cordia New" panose="020B0304020202020204" pitchFamily="34" charset="-34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ru-RU" sz="3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Cordia New" panose="020B0304020202020204" pitchFamily="34" charset="-34"/>
              </a:rPr>
              <a:t>– используется метод взвешенной суммы (SAW);</a:t>
            </a:r>
            <a:br>
              <a:rPr lang="ru-RU" sz="3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Cordia New" panose="020B0304020202020204" pitchFamily="34" charset="-34"/>
              </a:rPr>
            </a:br>
            <a:r>
              <a:rPr lang="ru-RU" sz="3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Cordia New" panose="020B0304020202020204" pitchFamily="34" charset="-34"/>
              </a:rPr>
              <a:t>– альтернативы оцениваются по нескольким критериям;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E68BB51-7E11-ED5F-EC64-030AEB5F4637}"/>
                  </a:ext>
                </a:extLst>
              </p:cNvPr>
              <p:cNvSpPr txBox="1"/>
              <p:nvPr/>
            </p:nvSpPr>
            <p:spPr>
              <a:xfrm>
                <a:off x="15125700" y="4342834"/>
                <a:ext cx="8991600" cy="33461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ru-RU" sz="3600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Cordia New" panose="020B0304020202020204" pitchFamily="34" charset="-34"/>
                  </a:rPr>
                  <a:t>Критерии оценки:</a:t>
                </a:r>
                <a:endParaRPr lang="ru-RU" sz="3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Cordia New" panose="020B0304020202020204" pitchFamily="34" charset="-34"/>
                </a:endParaRPr>
              </a:p>
              <a:p>
                <a:pPr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ru-RU" sz="3600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Cordia New" panose="020B0304020202020204" pitchFamily="34" charset="-34"/>
                  </a:rPr>
                  <a:t>– доступный ресурс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36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Cordia New" panose="020B0304020202020204" pitchFamily="34" charset="-34"/>
                          </a:rPr>
                        </m:ctrlPr>
                      </m:sSubPr>
                      <m:e>
                        <m:r>
                          <a:rPr lang="ru-RU" sz="36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Cordia New" panose="020B0304020202020204" pitchFamily="34" charset="-34"/>
                          </a:rPr>
                          <m:t>𝑅</m:t>
                        </m:r>
                      </m:e>
                      <m:sub>
                        <m:r>
                          <a:rPr lang="ru-RU" sz="36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Cordia New" panose="020B0304020202020204" pitchFamily="34" charset="-34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sz="3600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Cordia New" panose="020B0304020202020204" pitchFamily="34" charset="-34"/>
                  </a:rPr>
                  <a:t>;</a:t>
                </a:r>
                <a:br>
                  <a:rPr lang="ru-RU" sz="3600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Cordia New" panose="020B0304020202020204" pitchFamily="34" charset="-34"/>
                  </a:rPr>
                </a:br>
                <a:r>
                  <a:rPr lang="ru-RU" sz="3600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Cordia New" panose="020B0304020202020204" pitchFamily="34" charset="-34"/>
                  </a:rPr>
                  <a:t>– ликвидность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36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Cordia New" panose="020B0304020202020204" pitchFamily="34" charset="-34"/>
                          </a:rPr>
                        </m:ctrlPr>
                      </m:sSubPr>
                      <m:e>
                        <m:r>
                          <a:rPr lang="ru-RU" sz="36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Cordia New" panose="020B0304020202020204" pitchFamily="34" charset="-34"/>
                          </a:rPr>
                          <m:t>𝐿</m:t>
                        </m:r>
                      </m:e>
                      <m:sub>
                        <m:r>
                          <a:rPr lang="ru-RU" sz="36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Cordia New" panose="020B0304020202020204" pitchFamily="34" charset="-34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sz="3600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Cordia New" panose="020B0304020202020204" pitchFamily="34" charset="-34"/>
                  </a:rPr>
                  <a:t>;</a:t>
                </a:r>
                <a:br>
                  <a:rPr lang="ru-RU" sz="3600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Cordia New" panose="020B0304020202020204" pitchFamily="34" charset="-34"/>
                  </a:rPr>
                </a:br>
                <a:r>
                  <a:rPr lang="ru-RU" sz="3600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Cordia New" panose="020B0304020202020204" pitchFamily="34" charset="-34"/>
                  </a:rPr>
                  <a:t>– долговая нагрузка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36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Cordia New" panose="020B0304020202020204" pitchFamily="34" charset="-34"/>
                          </a:rPr>
                        </m:ctrlPr>
                      </m:sSubPr>
                      <m:e>
                        <m:r>
                          <a:rPr lang="ru-RU" sz="36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Cordia New" panose="020B0304020202020204" pitchFamily="34" charset="-34"/>
                          </a:rPr>
                          <m:t>𝐷</m:t>
                        </m:r>
                      </m:e>
                      <m:sub>
                        <m:r>
                          <a:rPr lang="ru-RU" sz="36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Cordia New" panose="020B0304020202020204" pitchFamily="34" charset="-34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sz="3600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Cordia New" panose="020B0304020202020204" pitchFamily="34" charset="-34"/>
                  </a:rPr>
                  <a:t>;</a:t>
                </a:r>
                <a:br>
                  <a:rPr lang="ru-RU" sz="3600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Cordia New" panose="020B0304020202020204" pitchFamily="34" charset="-34"/>
                  </a:rPr>
                </a:br>
                <a:r>
                  <a:rPr lang="ru-RU" sz="3600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Cordia New" panose="020B0304020202020204" pitchFamily="34" charset="-34"/>
                  </a:rPr>
                  <a:t>– достижение финансовых целей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36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Cordia New" panose="020B0304020202020204" pitchFamily="34" charset="-34"/>
                          </a:rPr>
                        </m:ctrlPr>
                      </m:sSubPr>
                      <m:e>
                        <m:r>
                          <a:rPr lang="ru-RU" sz="36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Cordia New" panose="020B0304020202020204" pitchFamily="34" charset="-34"/>
                          </a:rPr>
                          <m:t>𝑆</m:t>
                        </m:r>
                      </m:e>
                      <m:sub>
                        <m:r>
                          <a:rPr lang="ru-RU" sz="36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Cordia New" panose="020B0304020202020204" pitchFamily="34" charset="-34"/>
                          </a:rPr>
                          <m:t>𝑖</m:t>
                        </m:r>
                      </m:sub>
                    </m:sSub>
                  </m:oMath>
                </a14:m>
                <a:endParaRPr lang="ru-RU" sz="3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Cordia New" panose="020B0304020202020204" pitchFamily="34" charset="-34"/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E68BB51-7E11-ED5F-EC64-030AEB5F46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25700" y="4342834"/>
                <a:ext cx="8991600" cy="3346172"/>
              </a:xfrm>
              <a:prstGeom prst="rect">
                <a:avLst/>
              </a:prstGeom>
              <a:blipFill>
                <a:blip r:embed="rId3"/>
                <a:stretch>
                  <a:fillRect l="-2034" t="-1093" b="-601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F87EF45-D548-8E7D-1C83-409E91C75BA6}"/>
                  </a:ext>
                </a:extLst>
              </p:cNvPr>
              <p:cNvSpPr txBox="1"/>
              <p:nvPr/>
            </p:nvSpPr>
            <p:spPr>
              <a:xfrm>
                <a:off x="1298517" y="6967345"/>
                <a:ext cx="12192000" cy="16106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ru-RU" sz="3600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Cordia New" panose="020B0304020202020204" pitchFamily="34" charset="-34"/>
                  </a:rPr>
                  <a:t>Интегральная оценка:</a:t>
                </a:r>
                <a:endParaRPr lang="ru-RU" sz="3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Cordia New" panose="020B0304020202020204" pitchFamily="34" charset="-34"/>
                </a:endParaRPr>
              </a:p>
              <a:p>
                <a:pPr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44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Cordia New" panose="020B0304020202020204" pitchFamily="34" charset="-34"/>
                        </a:rPr>
                        <m:t>𝑈</m:t>
                      </m:r>
                      <m:r>
                        <a:rPr lang="ru-RU" sz="44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Cordia New" panose="020B0304020202020204" pitchFamily="34" charset="-34"/>
                        </a:rPr>
                        <m:t>(</m:t>
                      </m:r>
                      <m:sSub>
                        <m:sSubPr>
                          <m:ctrlPr>
                            <a:rPr lang="ru-RU" sz="4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Cordia New" panose="020B0304020202020204" pitchFamily="34" charset="-34"/>
                            </a:rPr>
                          </m:ctrlPr>
                        </m:sSubPr>
                        <m:e>
                          <m:r>
                            <a:rPr lang="ru-RU" sz="4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Cordia New" panose="020B0304020202020204" pitchFamily="34" charset="-34"/>
                            </a:rPr>
                            <m:t>𝑎</m:t>
                          </m:r>
                        </m:e>
                        <m:sub>
                          <m:r>
                            <a:rPr lang="ru-RU" sz="4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Cordia New" panose="020B0304020202020204" pitchFamily="34" charset="-34"/>
                            </a:rPr>
                            <m:t>𝑖</m:t>
                          </m:r>
                        </m:sub>
                      </m:sSub>
                      <m:r>
                        <a:rPr lang="ru-RU" sz="44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Cordia New" panose="020B0304020202020204" pitchFamily="34" charset="-34"/>
                        </a:rPr>
                        <m:t>)=</m:t>
                      </m:r>
                      <m:sSub>
                        <m:sSubPr>
                          <m:ctrlPr>
                            <a:rPr lang="ru-RU" sz="4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Cordia New" panose="020B0304020202020204" pitchFamily="34" charset="-34"/>
                            </a:rPr>
                          </m:ctrlPr>
                        </m:sSubPr>
                        <m:e>
                          <m:r>
                            <a:rPr lang="ru-RU" sz="4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Cordia New" panose="020B0304020202020204" pitchFamily="34" charset="-34"/>
                            </a:rPr>
                            <m:t>𝑤</m:t>
                          </m:r>
                        </m:e>
                        <m:sub>
                          <m:r>
                            <a:rPr lang="ru-RU" sz="4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Cordia New" panose="020B0304020202020204" pitchFamily="34" charset="-34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ru-RU" sz="4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Cordia New" panose="020B0304020202020204" pitchFamily="34" charset="-34"/>
                            </a:rPr>
                          </m:ctrlPr>
                        </m:sSubPr>
                        <m:e>
                          <m:r>
                            <a:rPr lang="ru-RU" sz="4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Cordia New" panose="020B0304020202020204" pitchFamily="34" charset="-34"/>
                            </a:rPr>
                            <m:t>𝑅</m:t>
                          </m:r>
                        </m:e>
                        <m:sub>
                          <m:r>
                            <a:rPr lang="ru-RU" sz="4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Cordia New" panose="020B0304020202020204" pitchFamily="34" charset="-34"/>
                            </a:rPr>
                            <m:t>𝑖</m:t>
                          </m:r>
                        </m:sub>
                      </m:sSub>
                      <m:r>
                        <a:rPr lang="ru-RU" sz="44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Cordia New" panose="020B0304020202020204" pitchFamily="34" charset="-34"/>
                        </a:rPr>
                        <m:t>+</m:t>
                      </m:r>
                      <m:sSub>
                        <m:sSubPr>
                          <m:ctrlPr>
                            <a:rPr lang="ru-RU" sz="4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Cordia New" panose="020B0304020202020204" pitchFamily="34" charset="-34"/>
                            </a:rPr>
                          </m:ctrlPr>
                        </m:sSubPr>
                        <m:e>
                          <m:r>
                            <a:rPr lang="ru-RU" sz="4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Cordia New" panose="020B0304020202020204" pitchFamily="34" charset="-34"/>
                            </a:rPr>
                            <m:t>𝑤</m:t>
                          </m:r>
                        </m:e>
                        <m:sub>
                          <m:r>
                            <a:rPr lang="ru-RU" sz="4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Cordia New" panose="020B0304020202020204" pitchFamily="34" charset="-34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ru-RU" sz="4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Cordia New" panose="020B0304020202020204" pitchFamily="34" charset="-34"/>
                            </a:rPr>
                          </m:ctrlPr>
                        </m:sSubPr>
                        <m:e>
                          <m:r>
                            <a:rPr lang="ru-RU" sz="4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Cordia New" panose="020B0304020202020204" pitchFamily="34" charset="-34"/>
                            </a:rPr>
                            <m:t>𝐿</m:t>
                          </m:r>
                        </m:e>
                        <m:sub>
                          <m:r>
                            <a:rPr lang="ru-RU" sz="4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Cordia New" panose="020B0304020202020204" pitchFamily="34" charset="-34"/>
                            </a:rPr>
                            <m:t>𝑖</m:t>
                          </m:r>
                        </m:sub>
                      </m:sSub>
                      <m:r>
                        <a:rPr lang="ru-RU" sz="44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Cordia New" panose="020B0304020202020204" pitchFamily="34" charset="-34"/>
                        </a:rPr>
                        <m:t>+</m:t>
                      </m:r>
                      <m:sSub>
                        <m:sSubPr>
                          <m:ctrlPr>
                            <a:rPr lang="ru-RU" sz="4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Cordia New" panose="020B0304020202020204" pitchFamily="34" charset="-34"/>
                            </a:rPr>
                          </m:ctrlPr>
                        </m:sSubPr>
                        <m:e>
                          <m:r>
                            <a:rPr lang="ru-RU" sz="4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Cordia New" panose="020B0304020202020204" pitchFamily="34" charset="-34"/>
                            </a:rPr>
                            <m:t>𝑤</m:t>
                          </m:r>
                        </m:e>
                        <m:sub>
                          <m:r>
                            <a:rPr lang="ru-RU" sz="4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Cordia New" panose="020B0304020202020204" pitchFamily="34" charset="-34"/>
                            </a:rPr>
                            <m:t>3</m:t>
                          </m:r>
                        </m:sub>
                      </m:sSub>
                      <m:r>
                        <a:rPr lang="ru-RU" sz="44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Cordia New" panose="020B0304020202020204" pitchFamily="34" charset="-34"/>
                        </a:rPr>
                        <m:t>(1−</m:t>
                      </m:r>
                      <m:sSub>
                        <m:sSubPr>
                          <m:ctrlPr>
                            <a:rPr lang="ru-RU" sz="4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Cordia New" panose="020B0304020202020204" pitchFamily="34" charset="-34"/>
                            </a:rPr>
                          </m:ctrlPr>
                        </m:sSubPr>
                        <m:e>
                          <m:r>
                            <a:rPr lang="ru-RU" sz="4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Cordia New" panose="020B0304020202020204" pitchFamily="34" charset="-34"/>
                            </a:rPr>
                            <m:t>𝐷</m:t>
                          </m:r>
                        </m:e>
                        <m:sub>
                          <m:r>
                            <a:rPr lang="ru-RU" sz="4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Cordia New" panose="020B0304020202020204" pitchFamily="34" charset="-34"/>
                            </a:rPr>
                            <m:t>𝑖</m:t>
                          </m:r>
                        </m:sub>
                      </m:sSub>
                      <m:r>
                        <a:rPr lang="ru-RU" sz="44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Cordia New" panose="020B0304020202020204" pitchFamily="34" charset="-34"/>
                        </a:rPr>
                        <m:t>)+</m:t>
                      </m:r>
                      <m:sSub>
                        <m:sSubPr>
                          <m:ctrlPr>
                            <a:rPr lang="ru-RU" sz="4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Cordia New" panose="020B0304020202020204" pitchFamily="34" charset="-34"/>
                            </a:rPr>
                          </m:ctrlPr>
                        </m:sSubPr>
                        <m:e>
                          <m:r>
                            <a:rPr lang="ru-RU" sz="4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Cordia New" panose="020B0304020202020204" pitchFamily="34" charset="-34"/>
                            </a:rPr>
                            <m:t>𝑤</m:t>
                          </m:r>
                        </m:e>
                        <m:sub>
                          <m:r>
                            <a:rPr lang="ru-RU" sz="4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Cordia New" panose="020B0304020202020204" pitchFamily="34" charset="-34"/>
                            </a:rPr>
                            <m:t>4</m:t>
                          </m:r>
                        </m:sub>
                      </m:sSub>
                      <m:sSub>
                        <m:sSubPr>
                          <m:ctrlPr>
                            <a:rPr lang="ru-RU" sz="4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Cordia New" panose="020B0304020202020204" pitchFamily="34" charset="-34"/>
                            </a:rPr>
                          </m:ctrlPr>
                        </m:sSubPr>
                        <m:e>
                          <m:r>
                            <a:rPr lang="ru-RU" sz="4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Cordia New" panose="020B0304020202020204" pitchFamily="34" charset="-34"/>
                            </a:rPr>
                            <m:t>𝑆</m:t>
                          </m:r>
                        </m:e>
                        <m:sub>
                          <m:r>
                            <a:rPr lang="ru-RU" sz="4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Cordia New" panose="020B0304020202020204" pitchFamily="34" charset="-34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br>
                  <a:rPr lang="ru-RU" sz="3600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Cordia New" panose="020B0304020202020204" pitchFamily="34" charset="-34"/>
                  </a:rPr>
                </a:br>
                <a:endParaRPr lang="ru-RU" sz="3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Cordia New" panose="020B0304020202020204" pitchFamily="34" charset="-34"/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F87EF45-D548-8E7D-1C83-409E91C75B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8517" y="6967345"/>
                <a:ext cx="12192000" cy="1610697"/>
              </a:xfrm>
              <a:prstGeom prst="rect">
                <a:avLst/>
              </a:prstGeom>
              <a:blipFill>
                <a:blip r:embed="rId4"/>
                <a:stretch>
                  <a:fillRect l="-1500" t="-265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DA37D4F-53FB-68F5-8411-EFE6AADE308D}"/>
                  </a:ext>
                </a:extLst>
              </p:cNvPr>
              <p:cNvSpPr txBox="1"/>
              <p:nvPr/>
            </p:nvSpPr>
            <p:spPr>
              <a:xfrm>
                <a:off x="1298517" y="9296229"/>
                <a:ext cx="12192000" cy="16106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ru-RU" sz="3600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Cordia New" panose="020B0304020202020204" pitchFamily="34" charset="-34"/>
                  </a:rPr>
                  <a:t>Выбор решения:</a:t>
                </a:r>
                <a:endParaRPr lang="ru-RU" sz="3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Cordia New" panose="020B0304020202020204" pitchFamily="34" charset="-34"/>
                </a:endParaRPr>
              </a:p>
              <a:p>
                <a:pPr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ru-RU" sz="4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Cordia New" panose="020B0304020202020204" pitchFamily="34" charset="-34"/>
                            </a:rPr>
                          </m:ctrlPr>
                        </m:sSupPr>
                        <m:e>
                          <m:r>
                            <a:rPr lang="ru-RU" sz="4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Cordia New" panose="020B0304020202020204" pitchFamily="34" charset="-34"/>
                            </a:rPr>
                            <m:t>𝑎</m:t>
                          </m:r>
                        </m:e>
                        <m:sup>
                          <m:r>
                            <a:rPr lang="ru-RU" sz="4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Cordia New" panose="020B0304020202020204" pitchFamily="34" charset="-34"/>
                            </a:rPr>
                            <m:t>∗</m:t>
                          </m:r>
                        </m:sup>
                      </m:sSup>
                      <m:r>
                        <a:rPr lang="ru-RU" sz="44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Cordia New" panose="020B0304020202020204" pitchFamily="34" charset="-34"/>
                        </a:rPr>
                        <m:t>=</m:t>
                      </m:r>
                      <m:r>
                        <m:rPr>
                          <m:sty m:val="p"/>
                        </m:rPr>
                        <a:rPr lang="ru-RU" sz="4400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Cordia New" panose="020B0304020202020204" pitchFamily="34" charset="-34"/>
                        </a:rPr>
                        <m:t>arg</m:t>
                      </m:r>
                      <m:r>
                        <a:rPr lang="ru-RU" sz="44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Cordia New" panose="020B0304020202020204" pitchFamily="34" charset="-34"/>
                        </a:rPr>
                        <m:t>⁡</m:t>
                      </m:r>
                      <m:r>
                        <m:rPr>
                          <m:sty m:val="p"/>
                        </m:rPr>
                        <a:rPr lang="ru-RU" sz="4400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Cordia New" panose="020B0304020202020204" pitchFamily="34" charset="-34"/>
                        </a:rPr>
                        <m:t>max</m:t>
                      </m:r>
                      <m:r>
                        <a:rPr lang="ru-RU" sz="44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Cordia New" panose="020B0304020202020204" pitchFamily="34" charset="-34"/>
                        </a:rPr>
                        <m:t>⁡</m:t>
                      </m:r>
                      <m:r>
                        <a:rPr lang="ru-RU" sz="44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Cordia New" panose="020B0304020202020204" pitchFamily="34" charset="-34"/>
                        </a:rPr>
                        <m:t>𝑈</m:t>
                      </m:r>
                      <m:r>
                        <a:rPr lang="ru-RU" sz="44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Cordia New" panose="020B0304020202020204" pitchFamily="34" charset="-34"/>
                        </a:rPr>
                        <m:t>(</m:t>
                      </m:r>
                      <m:sSub>
                        <m:sSubPr>
                          <m:ctrlPr>
                            <a:rPr lang="ru-RU" sz="4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Cordia New" panose="020B0304020202020204" pitchFamily="34" charset="-34"/>
                            </a:rPr>
                          </m:ctrlPr>
                        </m:sSubPr>
                        <m:e>
                          <m:r>
                            <a:rPr lang="ru-RU" sz="4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Cordia New" panose="020B0304020202020204" pitchFamily="34" charset="-34"/>
                            </a:rPr>
                            <m:t>𝑎</m:t>
                          </m:r>
                        </m:e>
                        <m:sub>
                          <m:r>
                            <a:rPr lang="ru-RU" sz="4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Cordia New" panose="020B0304020202020204" pitchFamily="34" charset="-34"/>
                            </a:rPr>
                            <m:t>𝑖</m:t>
                          </m:r>
                        </m:sub>
                      </m:sSub>
                      <m:r>
                        <a:rPr lang="ru-RU" sz="44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Cordia New" panose="020B0304020202020204" pitchFamily="34" charset="-34"/>
                        </a:rPr>
                        <m:t>)</m:t>
                      </m:r>
                    </m:oMath>
                  </m:oMathPara>
                </a14:m>
                <a:br>
                  <a:rPr lang="ru-RU" sz="3600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Cordia New" panose="020B0304020202020204" pitchFamily="34" charset="-34"/>
                  </a:rPr>
                </a:br>
                <a:endParaRPr lang="ru-RU" sz="3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Cordia New" panose="020B0304020202020204" pitchFamily="34" charset="-34"/>
                </a:endParaRP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DA37D4F-53FB-68F5-8411-EFE6AADE30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8517" y="9296229"/>
                <a:ext cx="12192000" cy="1610697"/>
              </a:xfrm>
              <a:prstGeom prst="rect">
                <a:avLst/>
              </a:prstGeom>
              <a:blipFill>
                <a:blip r:embed="rId5"/>
                <a:stretch>
                  <a:fillRect l="-1500" t="-265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611349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53C828-BD28-95A5-C219-0D1D881140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Заголовок 22">
            <a:extLst>
              <a:ext uri="{FF2B5EF4-FFF2-40B4-BE49-F238E27FC236}">
                <a16:creationId xmlns:a16="http://schemas.microsoft.com/office/drawing/2014/main" id="{95064E8A-187D-0F55-E92F-12612D697E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8517" y="2115691"/>
            <a:ext cx="13389034" cy="1878793"/>
          </a:xfrm>
        </p:spPr>
        <p:txBody>
          <a:bodyPr/>
          <a:lstStyle/>
          <a:p>
            <a:r>
              <a:rPr lang="ru-RU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Архитектура системы</a:t>
            </a:r>
          </a:p>
        </p:txBody>
      </p:sp>
      <p:sp>
        <p:nvSpPr>
          <p:cNvPr id="32" name="Текст 31">
            <a:extLst>
              <a:ext uri="{FF2B5EF4-FFF2-40B4-BE49-F238E27FC236}">
                <a16:creationId xmlns:a16="http://schemas.microsoft.com/office/drawing/2014/main" id="{243540C3-8411-BE7E-F055-0484715943F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ru-RU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Евдокимов В.М.</a:t>
            </a:r>
          </a:p>
          <a:p>
            <a:endParaRPr lang="ru-RU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3" name="Нижний колонтитул 32">
            <a:extLst>
              <a:ext uri="{FF2B5EF4-FFF2-40B4-BE49-F238E27FC236}">
                <a16:creationId xmlns:a16="http://schemas.microsoft.com/office/drawing/2014/main" id="{D99E07A7-C76F-7E4B-F359-0E8DCDD4720B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ru-RU">
                <a:latin typeface="Tahoma"/>
                <a:ea typeface="Tahoma"/>
                <a:cs typeface="Tahoma"/>
              </a:rPr>
              <a:t>Разработка алгоритмического обеспечения системы поддержки принятия решений в сфере персональных финансов</a:t>
            </a:r>
          </a:p>
        </p:txBody>
      </p:sp>
      <p:sp>
        <p:nvSpPr>
          <p:cNvPr id="34" name="Номер слайда 33">
            <a:extLst>
              <a:ext uri="{FF2B5EF4-FFF2-40B4-BE49-F238E27FC236}">
                <a16:creationId xmlns:a16="http://schemas.microsoft.com/office/drawing/2014/main" id="{A92A8707-A4F9-C49D-DF90-706D2A139638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66B5E2A4-72D4-4DC4-9470-54C0EE06E412}" type="slidenum">
              <a:rPr lang="ru-RU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/>
              <a:t>13</a:t>
            </a:fld>
            <a:endParaRPr lang="ru-RU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C44C2964-A261-F92A-9481-BB00510014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4747935"/>
              </p:ext>
            </p:extLst>
          </p:nvPr>
        </p:nvGraphicFramePr>
        <p:xfrm>
          <a:off x="1298517" y="3788218"/>
          <a:ext cx="21803151" cy="554628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121333">
                  <a:extLst>
                    <a:ext uri="{9D8B030D-6E8A-4147-A177-3AD203B41FA5}">
                      <a16:colId xmlns:a16="http://schemas.microsoft.com/office/drawing/2014/main" val="3424949184"/>
                    </a:ext>
                  </a:extLst>
                </a:gridCol>
                <a:gridCol w="4533900">
                  <a:extLst>
                    <a:ext uri="{9D8B030D-6E8A-4147-A177-3AD203B41FA5}">
                      <a16:colId xmlns:a16="http://schemas.microsoft.com/office/drawing/2014/main" val="2588158293"/>
                    </a:ext>
                  </a:extLst>
                </a:gridCol>
                <a:gridCol w="12147918">
                  <a:extLst>
                    <a:ext uri="{9D8B030D-6E8A-4147-A177-3AD203B41FA5}">
                      <a16:colId xmlns:a16="http://schemas.microsoft.com/office/drawing/2014/main" val="2042426095"/>
                    </a:ext>
                  </a:extLst>
                </a:gridCol>
              </a:tblGrid>
              <a:tr h="79232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3200" kern="100" dirty="0">
                          <a:effectLst/>
                        </a:rPr>
                        <a:t>Компонент</a:t>
                      </a:r>
                      <a:endParaRPr lang="ru-RU" sz="3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3200" kern="100" dirty="0">
                          <a:effectLst/>
                        </a:rPr>
                        <a:t>Технология</a:t>
                      </a:r>
                      <a:endParaRPr lang="ru-RU" sz="3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3200" kern="100" dirty="0">
                          <a:effectLst/>
                        </a:rPr>
                        <a:t>Назначение</a:t>
                      </a:r>
                      <a:endParaRPr lang="ru-RU" sz="3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509068519"/>
                  </a:ext>
                </a:extLst>
              </a:tr>
              <a:tr h="79232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3200" kern="100">
                          <a:effectLst/>
                        </a:rPr>
                        <a:t>Backend</a:t>
                      </a:r>
                      <a:endParaRPr lang="ru-RU" sz="3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3200" kern="100">
                          <a:effectLst/>
                        </a:rPr>
                        <a:t>Python, FastAPI</a:t>
                      </a:r>
                      <a:endParaRPr lang="ru-RU" sz="3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3200" kern="100" dirty="0">
                          <a:effectLst/>
                        </a:rPr>
                        <a:t>Реализация алгоритмов и бизнес-логики</a:t>
                      </a:r>
                      <a:endParaRPr lang="ru-RU" sz="3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261384771"/>
                  </a:ext>
                </a:extLst>
              </a:tr>
              <a:tr h="79232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3200" kern="100">
                          <a:effectLst/>
                        </a:rPr>
                        <a:t>API</a:t>
                      </a:r>
                      <a:endParaRPr lang="ru-RU" sz="3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3200" kern="100">
                          <a:effectLst/>
                        </a:rPr>
                        <a:t>FastAPI</a:t>
                      </a:r>
                      <a:endParaRPr lang="ru-RU" sz="3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3200" kern="100">
                          <a:effectLst/>
                        </a:rPr>
                        <a:t>Обработка запросов и взаимодействие с клиентом</a:t>
                      </a:r>
                      <a:endParaRPr lang="ru-RU" sz="3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905142041"/>
                  </a:ext>
                </a:extLst>
              </a:tr>
              <a:tr h="79232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3200" kern="100">
                          <a:effectLst/>
                        </a:rPr>
                        <a:t>База данных</a:t>
                      </a:r>
                      <a:endParaRPr lang="ru-RU" sz="3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3200" kern="100">
                          <a:effectLst/>
                        </a:rPr>
                        <a:t>SQLAlchemy</a:t>
                      </a:r>
                      <a:endParaRPr lang="ru-RU" sz="3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3200" kern="100">
                          <a:effectLst/>
                        </a:rPr>
                        <a:t>Хранение финансовых данных пользователя</a:t>
                      </a:r>
                      <a:endParaRPr lang="ru-RU" sz="3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916975262"/>
                  </a:ext>
                </a:extLst>
              </a:tr>
              <a:tr h="79232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3200" kern="100">
                          <a:effectLst/>
                        </a:rPr>
                        <a:t>Frontend</a:t>
                      </a:r>
                      <a:endParaRPr lang="ru-RU" sz="3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3200" kern="100">
                          <a:effectLst/>
                        </a:rPr>
                        <a:t>Jinja2 (HTML)</a:t>
                      </a:r>
                      <a:endParaRPr lang="ru-RU" sz="3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3200" kern="100">
                          <a:effectLst/>
                        </a:rPr>
                        <a:t>Пользовательский интерфейс</a:t>
                      </a:r>
                      <a:endParaRPr lang="ru-RU" sz="3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538442632"/>
                  </a:ext>
                </a:extLst>
              </a:tr>
              <a:tr h="79232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3200" kern="100">
                          <a:effectLst/>
                        </a:rPr>
                        <a:t>Валидация данных</a:t>
                      </a:r>
                      <a:endParaRPr lang="ru-RU" sz="3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3200" kern="100">
                          <a:effectLst/>
                        </a:rPr>
                        <a:t>Pydantic</a:t>
                      </a:r>
                      <a:endParaRPr lang="ru-RU" sz="3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3200" kern="100">
                          <a:effectLst/>
                        </a:rPr>
                        <a:t>Проверка корректности входных данных</a:t>
                      </a:r>
                      <a:endParaRPr lang="ru-RU" sz="3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26432681"/>
                  </a:ext>
                </a:extLst>
              </a:tr>
              <a:tr h="79232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3200" kern="100" dirty="0">
                          <a:effectLst/>
                        </a:rPr>
                        <a:t>Конфигурация</a:t>
                      </a:r>
                      <a:endParaRPr lang="ru-RU" sz="3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3200" kern="100">
                          <a:effectLst/>
                        </a:rPr>
                        <a:t>dotenv</a:t>
                      </a:r>
                      <a:endParaRPr lang="ru-RU" sz="3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3200" kern="100" dirty="0">
                          <a:effectLst/>
                        </a:rPr>
                        <a:t>Управление параметрами системы</a:t>
                      </a:r>
                      <a:endParaRPr lang="ru-RU" sz="3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744942363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A5A125C2-4801-39FB-D716-CBC2E11A4186}"/>
              </a:ext>
            </a:extLst>
          </p:cNvPr>
          <p:cNvSpPr txBox="1"/>
          <p:nvPr/>
        </p:nvSpPr>
        <p:spPr>
          <a:xfrm>
            <a:off x="1298517" y="10206927"/>
            <a:ext cx="12192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Система реализована в виде веб-приложения с разделением на уровни данных, логики и интерфейса</a:t>
            </a:r>
          </a:p>
        </p:txBody>
      </p:sp>
    </p:spTree>
    <p:extLst>
      <p:ext uri="{BB962C8B-B14F-4D97-AF65-F5344CB8AC3E}">
        <p14:creationId xmlns:p14="http://schemas.microsoft.com/office/powerpoint/2010/main" val="33858721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BEDB2-7CEC-E4B2-8178-8B88568584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Заголовок 22">
            <a:extLst>
              <a:ext uri="{FF2B5EF4-FFF2-40B4-BE49-F238E27FC236}">
                <a16:creationId xmlns:a16="http://schemas.microsoft.com/office/drawing/2014/main" id="{693DA8B4-EC97-FC28-FE79-05633B5688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8516" y="2115691"/>
            <a:ext cx="17484783" cy="1878793"/>
          </a:xfrm>
        </p:spPr>
        <p:txBody>
          <a:bodyPr/>
          <a:lstStyle/>
          <a:p>
            <a:r>
              <a:rPr lang="ru-RU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Оценка эффективности системы</a:t>
            </a:r>
          </a:p>
        </p:txBody>
      </p:sp>
      <p:sp>
        <p:nvSpPr>
          <p:cNvPr id="32" name="Текст 31">
            <a:extLst>
              <a:ext uri="{FF2B5EF4-FFF2-40B4-BE49-F238E27FC236}">
                <a16:creationId xmlns:a16="http://schemas.microsoft.com/office/drawing/2014/main" id="{C32F5FF2-113F-E627-9997-F79DF3C7E8F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ru-RU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Евдокимов В.М.</a:t>
            </a:r>
          </a:p>
          <a:p>
            <a:endParaRPr lang="ru-RU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3" name="Нижний колонтитул 32">
            <a:extLst>
              <a:ext uri="{FF2B5EF4-FFF2-40B4-BE49-F238E27FC236}">
                <a16:creationId xmlns:a16="http://schemas.microsoft.com/office/drawing/2014/main" id="{D6A2A8C5-233C-DEAC-6310-B81D2A0B2257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ru-RU">
                <a:latin typeface="Tahoma"/>
                <a:ea typeface="Tahoma"/>
                <a:cs typeface="Tahoma"/>
              </a:rPr>
              <a:t>Разработка алгоритмического обеспечения системы поддержки принятия решений в сфере персональных финансов</a:t>
            </a:r>
          </a:p>
        </p:txBody>
      </p:sp>
      <p:sp>
        <p:nvSpPr>
          <p:cNvPr id="34" name="Номер слайда 33">
            <a:extLst>
              <a:ext uri="{FF2B5EF4-FFF2-40B4-BE49-F238E27FC236}">
                <a16:creationId xmlns:a16="http://schemas.microsoft.com/office/drawing/2014/main" id="{2458EED8-49EB-5F26-E8CC-09512D2391AE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66B5E2A4-72D4-4DC4-9470-54C0EE06E412}" type="slidenum">
              <a:rPr lang="ru-RU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/>
              <a:t>14</a:t>
            </a:fld>
            <a:endParaRPr lang="ru-RU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4D9A8F16-5DF3-9214-C8BC-6DB811E36C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988786"/>
              </p:ext>
            </p:extLst>
          </p:nvPr>
        </p:nvGraphicFramePr>
        <p:xfrm>
          <a:off x="1298516" y="3509073"/>
          <a:ext cx="21029613" cy="571112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009871">
                  <a:extLst>
                    <a:ext uri="{9D8B030D-6E8A-4147-A177-3AD203B41FA5}">
                      <a16:colId xmlns:a16="http://schemas.microsoft.com/office/drawing/2014/main" val="3924224189"/>
                    </a:ext>
                  </a:extLst>
                </a:gridCol>
                <a:gridCol w="7009871">
                  <a:extLst>
                    <a:ext uri="{9D8B030D-6E8A-4147-A177-3AD203B41FA5}">
                      <a16:colId xmlns:a16="http://schemas.microsoft.com/office/drawing/2014/main" val="429246983"/>
                    </a:ext>
                  </a:extLst>
                </a:gridCol>
                <a:gridCol w="7009871">
                  <a:extLst>
                    <a:ext uri="{9D8B030D-6E8A-4147-A177-3AD203B41FA5}">
                      <a16:colId xmlns:a16="http://schemas.microsoft.com/office/drawing/2014/main" val="2564662638"/>
                    </a:ext>
                  </a:extLst>
                </a:gridCol>
              </a:tblGrid>
              <a:tr h="62838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3400" kern="100" dirty="0">
                          <a:effectLst/>
                        </a:rPr>
                        <a:t>Критерий</a:t>
                      </a:r>
                      <a:endParaRPr lang="ru-RU" sz="3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3400" kern="100" dirty="0">
                          <a:effectLst/>
                        </a:rPr>
                        <a:t>Без СППР</a:t>
                      </a:r>
                      <a:endParaRPr lang="ru-RU" sz="3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3400" kern="100" dirty="0">
                          <a:effectLst/>
                        </a:rPr>
                        <a:t>С использованием СППР</a:t>
                      </a:r>
                      <a:endParaRPr lang="ru-RU" sz="3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946862418"/>
                  </a:ext>
                </a:extLst>
              </a:tr>
              <a:tr h="62838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3400" kern="100">
                          <a:effectLst/>
                        </a:rPr>
                        <a:t>Время принятия решения</a:t>
                      </a:r>
                      <a:endParaRPr lang="ru-RU" sz="3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3400" kern="100">
                          <a:effectLst/>
                        </a:rPr>
                        <a:t>30–60 минут (ручной анализ)</a:t>
                      </a:r>
                      <a:endParaRPr lang="ru-RU" sz="3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3400" kern="100">
                          <a:effectLst/>
                        </a:rPr>
                        <a:t>&lt; 5 секунд</a:t>
                      </a:r>
                      <a:endParaRPr lang="ru-RU" sz="3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372534759"/>
                  </a:ext>
                </a:extLst>
              </a:tr>
              <a:tr h="127532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3400" kern="100">
                          <a:effectLst/>
                        </a:rPr>
                        <a:t>Обоснованность решений</a:t>
                      </a:r>
                      <a:endParaRPr lang="ru-RU" sz="3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3400" kern="100">
                          <a:effectLst/>
                        </a:rPr>
                        <a:t>Интуитивная</a:t>
                      </a:r>
                      <a:endParaRPr lang="ru-RU" sz="3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3400" kern="100">
                          <a:effectLst/>
                        </a:rPr>
                        <a:t>Формализованная (на основе модели)</a:t>
                      </a:r>
                      <a:endParaRPr lang="ru-RU" sz="3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034361371"/>
                  </a:ext>
                </a:extLst>
              </a:tr>
              <a:tr h="62838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3400" kern="100">
                          <a:effectLst/>
                        </a:rPr>
                        <a:t>Учёт ограничений</a:t>
                      </a:r>
                      <a:endParaRPr lang="ru-RU" sz="3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3400" kern="100">
                          <a:effectLst/>
                        </a:rPr>
                        <a:t>Частичный</a:t>
                      </a:r>
                      <a:endParaRPr lang="ru-RU" sz="3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3400" kern="100">
                          <a:effectLst/>
                        </a:rPr>
                        <a:t>Полный (ликвидность, риск, цели)</a:t>
                      </a:r>
                      <a:endParaRPr lang="ru-RU" sz="3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505766455"/>
                  </a:ext>
                </a:extLst>
              </a:tr>
              <a:tr h="127532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3400" kern="100">
                          <a:effectLst/>
                        </a:rPr>
                        <a:t>Качество решений</a:t>
                      </a:r>
                      <a:endParaRPr lang="ru-RU" sz="3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3400" kern="100">
                          <a:effectLst/>
                        </a:rPr>
                        <a:t>Возможны ошибки</a:t>
                      </a:r>
                      <a:endParaRPr lang="ru-RU" sz="3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3400" kern="100">
                          <a:effectLst/>
                        </a:rPr>
                        <a:t>Исключаются недопустимые альтернативы</a:t>
                      </a:r>
                      <a:endParaRPr lang="ru-RU" sz="3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089894281"/>
                  </a:ext>
                </a:extLst>
              </a:tr>
              <a:tr h="127532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3400" kern="100" dirty="0">
                          <a:effectLst/>
                        </a:rPr>
                        <a:t>Стабильность финансового состояния</a:t>
                      </a:r>
                      <a:endParaRPr lang="ru-RU" sz="3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3400" kern="100">
                          <a:effectLst/>
                        </a:rPr>
                        <a:t>Низкая</a:t>
                      </a:r>
                      <a:endParaRPr lang="ru-RU" sz="3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3400" kern="100" dirty="0">
                          <a:effectLst/>
                        </a:rPr>
                        <a:t>Повышенная</a:t>
                      </a:r>
                      <a:endParaRPr lang="ru-RU" sz="3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08769969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190F9EC7-9D65-5B05-5465-DCDE06FCDC41}"/>
              </a:ext>
            </a:extLst>
          </p:cNvPr>
          <p:cNvSpPr txBox="1"/>
          <p:nvPr/>
        </p:nvSpPr>
        <p:spPr>
          <a:xfrm>
            <a:off x="1469966" y="9845983"/>
            <a:ext cx="12192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Система позволяет автоматически отбирать только допустимые решения и выбирать оптимальное по заданным критериям</a:t>
            </a:r>
          </a:p>
        </p:txBody>
      </p:sp>
    </p:spTree>
    <p:extLst>
      <p:ext uri="{BB962C8B-B14F-4D97-AF65-F5344CB8AC3E}">
        <p14:creationId xmlns:p14="http://schemas.microsoft.com/office/powerpoint/2010/main" val="1808934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991051-7DC9-445A-984E-331FC553AA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Заголовок 22">
            <a:extLst>
              <a:ext uri="{FF2B5EF4-FFF2-40B4-BE49-F238E27FC236}">
                <a16:creationId xmlns:a16="http://schemas.microsoft.com/office/drawing/2014/main" id="{F1B6D93E-8A70-DA02-97FB-3933CA012A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8516" y="2115691"/>
            <a:ext cx="14826855" cy="1878793"/>
          </a:xfrm>
        </p:spPr>
        <p:txBody>
          <a:bodyPr/>
          <a:lstStyle/>
          <a:p>
            <a:r>
              <a:rPr lang="ru-RU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Выводы</a:t>
            </a:r>
          </a:p>
        </p:txBody>
      </p:sp>
      <p:sp>
        <p:nvSpPr>
          <p:cNvPr id="32" name="Текст 31">
            <a:extLst>
              <a:ext uri="{FF2B5EF4-FFF2-40B4-BE49-F238E27FC236}">
                <a16:creationId xmlns:a16="http://schemas.microsoft.com/office/drawing/2014/main" id="{3012721E-B1F8-5560-FCDE-253A395EF09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ru-RU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Евдокимов В.М.</a:t>
            </a:r>
          </a:p>
          <a:p>
            <a:endParaRPr lang="ru-RU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3" name="Нижний колонтитул 32">
            <a:extLst>
              <a:ext uri="{FF2B5EF4-FFF2-40B4-BE49-F238E27FC236}">
                <a16:creationId xmlns:a16="http://schemas.microsoft.com/office/drawing/2014/main" id="{AD6CA95E-DAE2-887E-70F7-0F883EB402E9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ru-RU">
                <a:latin typeface="Tahoma"/>
                <a:ea typeface="Tahoma"/>
                <a:cs typeface="Tahoma"/>
              </a:rPr>
              <a:t>Разработка алгоритмического обеспечения системы поддержки принятия решений в сфере персональных финансов</a:t>
            </a:r>
          </a:p>
        </p:txBody>
      </p:sp>
      <p:sp>
        <p:nvSpPr>
          <p:cNvPr id="34" name="Номер слайда 33">
            <a:extLst>
              <a:ext uri="{FF2B5EF4-FFF2-40B4-BE49-F238E27FC236}">
                <a16:creationId xmlns:a16="http://schemas.microsoft.com/office/drawing/2014/main" id="{AA5D1D62-0D36-AC9D-FAD9-B61E18ABECDF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66B5E2A4-72D4-4DC4-9470-54C0EE06E412}" type="slidenum">
              <a:rPr lang="ru-RU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/>
              <a:t>15</a:t>
            </a:fld>
            <a:endParaRPr lang="ru-RU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AA75E5-1AD0-7CAB-6AE3-A811573A5176}"/>
              </a:ext>
            </a:extLst>
          </p:cNvPr>
          <p:cNvSpPr txBox="1"/>
          <p:nvPr/>
        </p:nvSpPr>
        <p:spPr>
          <a:xfrm>
            <a:off x="1447800" y="3719874"/>
            <a:ext cx="20688300" cy="51625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u-RU" sz="3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– сформулирована и формализована задача выбора финансовой стратегии пользователя с учётом ограничений;</a:t>
            </a:r>
            <a:br>
              <a:rPr lang="ru-RU" sz="3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ru-RU" sz="3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– разработана математическая модель оценки финансового состояния (</a:t>
            </a:r>
            <a:r>
              <a:rPr lang="ru-RU" sz="32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Rt</a:t>
            </a:r>
            <a:r>
              <a:rPr lang="ru-RU" sz="3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ru-RU" sz="32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Lt</a:t>
            </a:r>
            <a:r>
              <a:rPr lang="ru-RU" sz="3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ru-RU" sz="32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Dt</a:t>
            </a:r>
            <a:r>
              <a:rPr lang="ru-RU" sz="3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);</a:t>
            </a:r>
            <a:br>
              <a:rPr lang="ru-RU" sz="3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ru-RU" sz="3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– реализован алгоритм формирования, фильтрации и ранжирования альтернатив решений;</a:t>
            </a:r>
            <a:br>
              <a:rPr lang="ru-RU" sz="3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ru-RU" sz="3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– создан программный прототип СППР в виде веб-приложения;</a:t>
            </a:r>
            <a:br>
              <a:rPr lang="ru-RU" sz="3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ru-RU" sz="3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– проведена оценка эффективности, показавшая повышение обоснованности и скорости принятия решений;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1D164A-BABE-4C15-2168-673F14861B8F}"/>
              </a:ext>
            </a:extLst>
          </p:cNvPr>
          <p:cNvSpPr txBox="1"/>
          <p:nvPr/>
        </p:nvSpPr>
        <p:spPr>
          <a:xfrm>
            <a:off x="1447800" y="9609461"/>
            <a:ext cx="21221700" cy="144655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sz="4400" dirty="0"/>
              <a:t>Разработанная система обеспечивает формализованный, </a:t>
            </a:r>
          </a:p>
          <a:p>
            <a:pPr>
              <a:buNone/>
            </a:pPr>
            <a:r>
              <a:rPr lang="ru-RU" sz="4400" dirty="0"/>
              <a:t>объяснимый и устойчивый выбор финансовых решений</a:t>
            </a:r>
          </a:p>
        </p:txBody>
      </p:sp>
    </p:spTree>
    <p:extLst>
      <p:ext uri="{BB962C8B-B14F-4D97-AF65-F5344CB8AC3E}">
        <p14:creationId xmlns:p14="http://schemas.microsoft.com/office/powerpoint/2010/main" val="82397923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7b046ea12b569ac8bf86d82b576cb1034ccd2f"/>
</p:tagLst>
</file>

<file path=ppt/theme/theme1.xml><?xml version="1.0" encoding="utf-8"?>
<a:theme xmlns:a="http://schemas.openxmlformats.org/drawingml/2006/main" name="Misis">
  <a:themeElements>
    <a:clrScheme name="MISIS">
      <a:dk1>
        <a:sysClr val="windowText" lastClr="000000"/>
      </a:dk1>
      <a:lt1>
        <a:srgbClr val="FFFFFF"/>
      </a:lt1>
      <a:dk2>
        <a:srgbClr val="505569"/>
      </a:dk2>
      <a:lt2>
        <a:srgbClr val="FFFFFF"/>
      </a:lt2>
      <a:accent1>
        <a:srgbClr val="0541F0"/>
      </a:accent1>
      <a:accent2>
        <a:srgbClr val="37EBFF"/>
      </a:accent2>
      <a:accent3>
        <a:srgbClr val="505569"/>
      </a:accent3>
      <a:accent4>
        <a:srgbClr val="0541F0"/>
      </a:accent4>
      <a:accent5>
        <a:srgbClr val="0A1E64"/>
      </a:accent5>
      <a:accent6>
        <a:srgbClr val="0A1E64"/>
      </a:accent6>
      <a:hlink>
        <a:srgbClr val="00B5E2"/>
      </a:hlink>
      <a:folHlink>
        <a:srgbClr val="E4002B"/>
      </a:folHlink>
    </a:clrScheme>
    <a:fontScheme name="Другая 9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49</TotalTime>
  <Words>1904</Words>
  <Application>Microsoft Office PowerPoint</Application>
  <PresentationFormat>Произвольный</PresentationFormat>
  <Paragraphs>342</Paragraphs>
  <Slides>15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4" baseType="lpstr">
      <vt:lpstr>Times New Roman</vt:lpstr>
      <vt:lpstr>Calibri</vt:lpstr>
      <vt:lpstr>TT Norms Pro</vt:lpstr>
      <vt:lpstr>Cambria Math</vt:lpstr>
      <vt:lpstr>Tahoma</vt:lpstr>
      <vt:lpstr>Arial</vt:lpstr>
      <vt:lpstr>Aptos</vt:lpstr>
      <vt:lpstr>TT Norms Pro Medium</vt:lpstr>
      <vt:lpstr>Misis</vt:lpstr>
      <vt:lpstr>Разработка алгоритмического обеспечения системы поддержки принятия решений в сфере персональных финансов</vt:lpstr>
      <vt:lpstr>Презентация PowerPoint</vt:lpstr>
      <vt:lpstr>Цель ВКР Объект и предмет исследования</vt:lpstr>
      <vt:lpstr>Анализ существующих решений</vt:lpstr>
      <vt:lpstr>Формальная постановка задачи</vt:lpstr>
      <vt:lpstr>Целевая функция и критерий выбора</vt:lpstr>
      <vt:lpstr>Математическая модель</vt:lpstr>
      <vt:lpstr>Общая  схема  алгоритма   «TO BE»</vt:lpstr>
      <vt:lpstr>Используемые алгоритмы и их сложность</vt:lpstr>
      <vt:lpstr>Генерация альтернатив решений</vt:lpstr>
      <vt:lpstr>Фильтрация по ограничениям</vt:lpstr>
      <vt:lpstr>Ранжирование альтернатив</vt:lpstr>
      <vt:lpstr>Архитектура системы</vt:lpstr>
      <vt:lpstr>Оценка эффективности системы</vt:lpstr>
      <vt:lpstr>Выводы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ДД</dc:creator>
  <cp:lastModifiedBy>A T</cp:lastModifiedBy>
  <cp:revision>48</cp:revision>
  <dcterms:created xsi:type="dcterms:W3CDTF">2022-07-26T11:52:44Z</dcterms:created>
  <dcterms:modified xsi:type="dcterms:W3CDTF">2026-04-30T09:32:14Z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2026-02-14T18:52:21Z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cf9eee5f-0de2-42c5-8f66-ffb185aa2cad</vt:lpwstr>
  </property>
  <property fmtid="{D5CDD505-2E9C-101B-9397-08002B2CF9AE}" pid="7" name="MSIP_Label_defa4170-0d19-0005-0004-bc88714345d2_ActionId">
    <vt:lpwstr>2092aea2-0836-4eda-9e1a-614292534f0b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10, 3, 0, 1</vt:lpwstr>
  </property>
</Properties>
</file>