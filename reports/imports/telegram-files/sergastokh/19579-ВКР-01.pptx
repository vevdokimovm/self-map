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0"/>
  </p:notesMasterIdLst>
  <p:sldIdLst>
    <p:sldId id="256" r:id="rId2"/>
    <p:sldId id="281" r:id="rId3"/>
    <p:sldId id="263" r:id="rId4"/>
    <p:sldId id="264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9" r:id="rId22"/>
    <p:sldId id="300" r:id="rId23"/>
    <p:sldId id="301" r:id="rId24"/>
    <p:sldId id="302" r:id="rId25"/>
    <p:sldId id="303" r:id="rId26"/>
    <p:sldId id="304" r:id="rId27"/>
    <p:sldId id="298" r:id="rId28"/>
    <p:sldId id="272" r:id="rId29"/>
  </p:sldIdLst>
  <p:sldSz cx="24382413" cy="13716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Tahoma" panose="020B0604030504040204" pitchFamily="34" charset="0"/>
      <p:regular r:id="rId32"/>
      <p:bold r:id="rId33"/>
      <p:italic r:id="rId34"/>
    </p:embeddedFont>
    <p:embeddedFont>
      <p:font typeface="TT Norms Pro" panose="02000503030000090003" charset="0"/>
      <p:regular r:id="rId35"/>
      <p:bold r:id="rId36"/>
      <p:italic r:id="rId37"/>
      <p:boldItalic r:id="rId38"/>
    </p:embeddedFont>
    <p:embeddedFont>
      <p:font typeface="TT Norms Pro Medium" panose="02000803020000090003" charset="0"/>
      <p:regular r:id="rId39"/>
      <p:italic r:id="rId40"/>
    </p:embeddedFont>
  </p:embeddedFontLst>
  <p:custDataLst>
    <p:tags r:id="rId41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77" autoAdjust="0"/>
    <p:restoredTop sz="84284" autoAdjust="0"/>
  </p:normalViewPr>
  <p:slideViewPr>
    <p:cSldViewPr snapToGrid="0" showGuides="1">
      <p:cViewPr>
        <p:scale>
          <a:sx n="50" d="100"/>
          <a:sy n="50" d="100"/>
        </p:scale>
        <p:origin x="1554" y="1122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7033-2652-2630-1D0B-3814ABF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9A632F-585A-280F-BCB8-261AD5A5E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698374-A389-4918-2DB1-E58D3ADE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A96792-5570-E824-D1EE-2E128099E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A3EE-1694-7D52-2F30-3B73BBC5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08114D-04D9-C70D-DCC3-F77FE4CB5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6FEA6E-6BA5-D0B5-A855-92F1296D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147025-F189-DB98-BB3F-3C2A30815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62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873F-4BAB-95F6-583E-B330B79B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B1694D-0F77-1CE9-636E-16654B111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5C99F8-0BD5-A333-B193-42AAFEE8B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7C9EDA-8990-8E5A-8FDD-F027DCF9D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143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1C30-9069-6BF9-7D84-9DC12D1B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F677AA-DF60-725E-BDBF-6B0372D4C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7BACF0-0075-D82C-FC6E-77B38867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CDF3F8-667F-8109-3FFE-205B1369D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561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4ACE-137F-62B1-29F7-E41D5651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FFA243-F63A-ED39-E749-840AE9B9C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14F0F0-12DC-2FD9-AEEA-4E2F10999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CCE798-4F52-1DFA-13DD-6C17867E3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704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4B7D9-4D0E-E2DE-D889-C7BA6858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AC22CE-3877-4E17-88DA-EAA7703B2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59EA1C-A438-BE25-E34D-62EE08C0A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40ED32-5D86-2DC7-BA48-D054C91D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882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3B5B-9C3F-71B0-5BE8-2CCDE64C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8E2711-0244-D92B-286B-72D1DD108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749FD94-CA8B-DA17-AD1F-8497EFD0E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8FC9E8-D1D4-A2C6-FFDB-32B5E0735B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912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6047-F300-9FA2-D38A-D6161F6A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38A95D-9691-37A6-9807-A0E91DEC1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FA023C-9C6E-1027-BD9D-25DD7965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28E0A0-F704-DC60-24BA-D43ACF622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87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693E-E9F0-46B5-7435-8266A156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9B3B69-BB63-3CAF-171F-5FD3E7869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E0B94E-380E-3900-76D1-5BBC4CD11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27B48E-C1B0-FF5E-8750-89E2B2A34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89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D9BC-7D72-2E06-14BE-4A2C08AD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55E437-6CA7-B960-6A2F-631BCCBCE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FCA039-06A2-9010-6D9E-9B69A5EB5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5DBCB0-701B-CB91-65DE-D46DA66F5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767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5406-722F-00AA-3C1F-833C5189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A695AF-A6EB-6229-3951-08E8FF88C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543DE0-1714-9F2E-4BC1-97994E5BB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0CFAD4-64FA-EDCD-1502-D618FFA58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29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8857-9FCD-82A6-D15E-BDB8E61C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8BFC97-B8B7-15DE-4FF2-82063DFEA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AEDF1A-1856-38DA-BE04-881B2F2F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D70BEB-955B-A76A-FBE0-652EB64F5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11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61C-9543-57F3-9C2E-D4BFEF6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CD46EB-9D63-ABD8-EDDA-C9DEE31A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183C7-2753-476F-C4F0-0B0B3D837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7FC851-D523-03AB-C0E1-CE82475F3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03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4241-A454-95AE-4F1B-5BE2AD59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EA578-901D-B0FA-1FB4-1B4F36F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DDD21A-1E8B-1AD5-BFCD-09D5CFBD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E1536-CC36-01D2-B302-416B8AE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4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F242-1A68-18FE-1DB4-BC9872E8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2E8E7-8165-673E-81B1-C3A0FB39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FAC0F-3A68-CB10-B0CA-17A7461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391BC-FB0E-0CE5-9A56-1D222FFEE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3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622-6B2C-8C81-215D-37D7C36B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06F4FE-9AA8-E060-E126-B2E8F91AE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FEC90A-5729-755A-2CFB-8A75245F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2116E1-35C8-715B-69D6-B818E4EE2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45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5250-8582-D143-CB0C-F5F8E854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2FE532-A125-C50A-E1DE-33BF2A33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A84C69-F8AB-E0AD-4BD1-7D353323D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5ACFE-E9CC-B6F8-771E-4F92F5EEA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67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B43F-4CD1-C44B-8585-3B33447D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F3E406-657C-0231-B507-E3868E902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EB4AC5-0AD3-E7CD-33FE-4F42D8692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AFD084-9DE1-A16B-EF99-B0DC02EFC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640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FE99-0BF8-39B4-C7F0-AA08F2FC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FF3A16-0C94-D8BE-F695-6FAD41D45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F314BF-A004-727A-3262-F122B203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8814CF-C150-7C43-BE68-F756B6D88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225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D11-08A8-B0BB-89E2-0AF9DE6A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E2CBB5-2F0C-747A-5923-7AE64A881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D34E44-D264-DFB9-EEE8-78F040ECB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E9F69A-90C2-8670-2272-A4363F67B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778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F76D-BC56-922C-4777-73F0AF13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03E4FF-B3F9-774D-7AAF-FD721F655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054272-D1E3-F6FD-FB8D-8552BD5B0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AFC5F1-DF11-E4BE-9738-4B79FABBD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849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14AA-C306-21B5-D615-A22FE238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EBECED-F7A0-E88E-FA1D-217A9132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575318-07FA-5225-660B-B2830D0E3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88445-BCD7-B021-B54D-0A14F5D8A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060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AE2F-004E-E1BE-88B5-59E8F71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7AD11DA-2D6D-8775-41E7-5906A620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5996A9-6A9E-004C-B954-E56BD3CE3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45A5D4-7EA1-D471-2EFF-B82021FEA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638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13789084" cy="3838664"/>
          </a:xfrm>
        </p:spPr>
        <p:txBody>
          <a:bodyPr/>
          <a:lstStyle/>
          <a:p>
            <a:r>
              <a:rPr lang="ru-RU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9952581" cy="19995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Фамилия Имя Отчество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Должность (не более двух строк)</a:t>
            </a: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 проведения (пример: 12.04.2023)</a:t>
            </a:r>
          </a:p>
        </p:txBody>
      </p:sp>
      <p:sp>
        <p:nvSpPr>
          <p:cNvPr id="2" name="Дата 11">
            <a:extLst>
              <a:ext uri="{FF2B5EF4-FFF2-40B4-BE49-F238E27FC236}">
                <a16:creationId xmlns:a16="http://schemas.microsoft.com/office/drawing/2014/main" id="{EC80368E-2407-E700-0EAC-FFDA58FBA3C2}"/>
              </a:ext>
            </a:extLst>
          </p:cNvPr>
          <p:cNvSpPr txBox="1">
            <a:spLocks/>
          </p:cNvSpPr>
          <p:nvPr/>
        </p:nvSpPr>
        <p:spPr>
          <a:xfrm>
            <a:off x="1300459" y="11322004"/>
            <a:ext cx="593692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1828709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Место проведения (пример: Ректорат)</a:t>
            </a: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B1EB-00D2-E98D-5B2C-BB0D022B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2EE2417-6D0A-E866-5DBD-A46B0C788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Актуальность темы исследования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57F986B-566A-AC3B-E867-5FBF121A97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Активное развитие цифровых технологий и методов анализа данных позволяет переходить от простого учёта финансов к интеллектуальной поддержке принятия решений. 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4237544-FE3B-A2EA-40B8-E2C209DE5D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Достижения науки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B02A5-CB0E-D265-23EC-CE2893B4122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59BAC3B-9D0D-4EF7-8CE2-9F2E0CC1F2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41825A3-2C8D-96BE-50EB-6F386C1EFE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A2A1681-2CC0-C657-F300-6C80592CA6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046B5ACF-E17A-6E67-D1EE-BF2AEF1E14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научных исследованиях всё большее внимание уделяется разработке систем поддержки принятия решений (СППР), обеспечивающих формализованный выбор альтернатив.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BF1D29A-3DD5-54E5-2F36-D0355E18DD0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Рост числа финансовых сервисов и доступных инструментов усложняет выбор для пользователя. При этом существующие решения чаще ориентированы на учёт и визуализацию, а не на формирование обоснованных рекомендаций</a:t>
            </a:r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947A9635-3760-E79C-6ABE-EE457A16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64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6585038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 предмет исследования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1297765" y="5162691"/>
            <a:ext cx="10627535" cy="6636019"/>
          </a:xfrm>
        </p:spPr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в сфере персональных финансов, обеспечивающего формализованный выбор и ранжирование альтернатив с учётом ограничений по ресурсам, риску и финансовым целям пользователя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23"/>
          </p:nvPr>
        </p:nvSpPr>
        <p:spPr>
          <a:xfrm>
            <a:off x="15749589" y="5373052"/>
            <a:ext cx="8347074" cy="1180148"/>
          </a:xfrm>
        </p:spPr>
        <p:txBody>
          <a:bodyPr/>
          <a:lstStyle/>
          <a:p>
            <a:r>
              <a:rPr lang="ru-RU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Объект исследования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25"/>
          </p:nvPr>
        </p:nvSpPr>
        <p:spPr>
          <a:xfrm>
            <a:off x="15750196" y="6497778"/>
            <a:ext cx="6936767" cy="1180148"/>
          </a:xfrm>
        </p:spPr>
        <p:txBody>
          <a:bodyPr/>
          <a:lstStyle/>
          <a:p>
            <a:r>
              <a:rPr lang="ru-RU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 принятия решений в сфере персональных финансов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5C67F7-4BE9-D164-D985-B201311E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13" y="10155316"/>
            <a:ext cx="11925299" cy="2117645"/>
          </a:xfrm>
          <a:prstGeom prst="rect">
            <a:avLst/>
          </a:prstGeom>
        </p:spPr>
      </p:pic>
      <p:sp>
        <p:nvSpPr>
          <p:cNvPr id="7" name="Текст 13">
            <a:extLst>
              <a:ext uri="{FF2B5EF4-FFF2-40B4-BE49-F238E27FC236}">
                <a16:creationId xmlns:a16="http://schemas.microsoft.com/office/drawing/2014/main" id="{FD321E9B-48EA-C7F3-71E2-E49C606E541D}"/>
              </a:ext>
            </a:extLst>
          </p:cNvPr>
          <p:cNvSpPr txBox="1">
            <a:spLocks/>
          </p:cNvSpPr>
          <p:nvPr/>
        </p:nvSpPr>
        <p:spPr>
          <a:xfrm>
            <a:off x="15749588" y="8132784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Предмет исследования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45157E0E-4153-BB6E-585F-9907AEE9D051}"/>
              </a:ext>
            </a:extLst>
          </p:cNvPr>
          <p:cNvSpPr txBox="1">
            <a:spLocks/>
          </p:cNvSpPr>
          <p:nvPr/>
        </p:nvSpPr>
        <p:spPr>
          <a:xfrm>
            <a:off x="15879151" y="9240690"/>
            <a:ext cx="7914299" cy="310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 kern="1200">
                <a:solidFill>
                  <a:schemeClr val="bg2"/>
                </a:solidFill>
                <a:latin typeface="TT Norms Pro" panose="020B0103030101020204" pitchFamily="34" charset="0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алгоритмическое обеспечение СППР, предназначенной для обработки финансовых данных пользователя и генерации рекомендаций</a:t>
            </a:r>
          </a:p>
        </p:txBody>
      </p:sp>
      <p:sp>
        <p:nvSpPr>
          <p:cNvPr id="9" name="Текст 13">
            <a:extLst>
              <a:ext uri="{FF2B5EF4-FFF2-40B4-BE49-F238E27FC236}">
                <a16:creationId xmlns:a16="http://schemas.microsoft.com/office/drawing/2014/main" id="{64C27232-40FF-F5B5-B727-850B1FD5DBD4}"/>
              </a:ext>
            </a:extLst>
          </p:cNvPr>
          <p:cNvSpPr txBox="1">
            <a:spLocks/>
          </p:cNvSpPr>
          <p:nvPr/>
        </p:nvSpPr>
        <p:spPr>
          <a:xfrm>
            <a:off x="1297765" y="5473422"/>
            <a:ext cx="8347074" cy="1180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3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ВКР:</a:t>
            </a:r>
          </a:p>
        </p:txBody>
      </p:sp>
    </p:spTree>
    <p:extLst>
      <p:ext uri="{BB962C8B-B14F-4D97-AF65-F5344CB8AC3E}">
        <p14:creationId xmlns:p14="http://schemas.microsoft.com/office/powerpoint/2010/main" val="393341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2461027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Проблема исследования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0"/>
          </p:nvPr>
        </p:nvSpPr>
        <p:spPr>
          <a:xfrm>
            <a:off x="12364228" y="5312856"/>
            <a:ext cx="11845601" cy="1039869"/>
          </a:xfrm>
        </p:spPr>
        <p:txBody>
          <a:bodyPr/>
          <a:lstStyle/>
          <a:p>
            <a:r>
              <a:rPr lang="ru-RU" sz="4800" dirty="0"/>
              <a:t>Перечисленные обстоятельства формируют </a:t>
            </a:r>
            <a:r>
              <a:rPr lang="ru-RU" sz="4800" dirty="0">
                <a:solidFill>
                  <a:schemeClr val="bg1"/>
                </a:solidFill>
              </a:rPr>
              <a:t>противоречие между потребностью пользователя в обоснованных финансовых решениях и отсутствием алгоритмически строгого инструментария, адаптированного к индивидуальным параметрам и ограничениям</a:t>
            </a:r>
            <a:r>
              <a:rPr lang="ru-RU" sz="4800" dirty="0"/>
              <a:t>.</a:t>
            </a:r>
            <a:endParaRPr lang="ru-RU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C7C66-46C4-A4FB-71C7-127E03380089}"/>
              </a:ext>
            </a:extLst>
          </p:cNvPr>
          <p:cNvSpPr txBox="1"/>
          <p:nvPr/>
        </p:nvSpPr>
        <p:spPr>
          <a:xfrm>
            <a:off x="1298516" y="6989901"/>
            <a:ext cx="981942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buBlip>
                <a:blip r:embed="rId2"/>
              </a:buBlip>
            </a:pPr>
            <a:r>
              <a:rPr lang="ru-RU" sz="3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фрагментацией исходных данных о доходах, расходах и обязательствах;</a:t>
            </a:r>
          </a:p>
          <a:p>
            <a:pPr marL="723900" indent="-723900">
              <a:buBlip>
                <a:blip r:embed="rId2"/>
              </a:buBlip>
            </a:pPr>
            <a:r>
              <a:rPr lang="ru-RU" sz="3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отсутствием единой формальной модели оценки альтернатив в рамках личного финансового планирования;</a:t>
            </a:r>
          </a:p>
          <a:p>
            <a:pPr marL="723900" indent="-723900">
              <a:buBlip>
                <a:blip r:embed="rId2"/>
              </a:buBlip>
            </a:pPr>
            <a:r>
              <a:rPr lang="ru-RU" sz="3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сложностью учёта ограничений по ликвидности и риску при выборе финансовой стратегии;</a:t>
            </a:r>
          </a:p>
          <a:p>
            <a:pPr marL="723900" indent="-723900">
              <a:buBlip>
                <a:blip r:embed="rId2"/>
              </a:buBlip>
            </a:pPr>
            <a:r>
              <a:rPr lang="ru-RU" sz="3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недостаточной прозрачностью логики рекомендаций в существующих цифровых сервисах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C67A9-2DCF-B57A-3E3D-6E3959590362}"/>
              </a:ext>
            </a:extLst>
          </p:cNvPr>
          <p:cNvSpPr txBox="1"/>
          <p:nvPr/>
        </p:nvSpPr>
        <p:spPr>
          <a:xfrm>
            <a:off x="1298516" y="5152354"/>
            <a:ext cx="773067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Проблема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исследования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обусловлена:</a:t>
            </a:r>
          </a:p>
        </p:txBody>
      </p:sp>
    </p:spTree>
    <p:extLst>
      <p:ext uri="{BB962C8B-B14F-4D97-AF65-F5344CB8AC3E}">
        <p14:creationId xmlns:p14="http://schemas.microsoft.com/office/powerpoint/2010/main" val="408985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1051-7DC9-445A-984E-331FC553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1B6D93E-8A70-DA02-97FB-3933CA0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Классы подходов к СППР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12721E-B1F8-5560-FCDE-253A395EF0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D6CA95E-DAE2-887E-70F7-0F883EB402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A5D1D62-0D36-AC9D-FAD9-B61E18ABEC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BFC2C1-04FE-2E47-6C5F-73B11CCF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65683"/>
              </p:ext>
            </p:extLst>
          </p:nvPr>
        </p:nvGraphicFramePr>
        <p:xfrm>
          <a:off x="1415142" y="4465692"/>
          <a:ext cx="21686526" cy="7944024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0843263">
                  <a:extLst>
                    <a:ext uri="{9D8B030D-6E8A-4147-A177-3AD203B41FA5}">
                      <a16:colId xmlns:a16="http://schemas.microsoft.com/office/drawing/2014/main" val="2350489032"/>
                    </a:ext>
                  </a:extLst>
                </a:gridCol>
                <a:gridCol w="10843263">
                  <a:extLst>
                    <a:ext uri="{9D8B030D-6E8A-4147-A177-3AD203B41FA5}">
                      <a16:colId xmlns:a16="http://schemas.microsoft.com/office/drawing/2014/main" val="3673458030"/>
                    </a:ext>
                  </a:extLst>
                </a:gridCol>
              </a:tblGrid>
              <a:tr h="1002042"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Класс подхода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Типовые задачи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2644756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Правила и эвристики (rule-based)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бюджетирование, лимиты по категориям, простые рекомендации (резерв, контроль долгов)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0324570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Скоринговые модели и индексы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оценка финансового состояния, риск-профиль, устойчивость бюджета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269468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Прогнозирование денежных потоков (временные ряды, ML-модели)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прогноз доходов/ расходов, оценка вероятности кассового разрыва, сценарное планирование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852556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Многокритериальный выбор и ранжирование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выбор стратегии распределения свободных средств, ранжирование альтернатив по полезности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79830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Оптимизационные модели (линейные/ целочисленные/ стохастические)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оптимальный план платежей по долгам; формирование резерва; план накоплений под цели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6339844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Гибридные подходы (правила + прогноз + оптимизация/ ранжирование)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комплексное планирование: бюджет + долги + цели + риск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873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79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8C33-C9C9-06BC-F1B9-249EB691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7C62AE8A-4D00-7F31-0E25-B07EB4DBA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Типовые зоны решений 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4B0D442-10D2-CB50-2021-FE7A2D85B7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97163C9E-7A82-49AC-FDDA-F9B250820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80A6562-83D6-F027-9466-CF00C2C604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9B78DF-4DA6-AA19-45C6-0BBE000C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506" y="4337384"/>
            <a:ext cx="22108250" cy="76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9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5562-20F5-AD1C-81B5-42386868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CE90BB5-974D-3569-B3EB-152D18DEC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Структурные компоненты объекта исследования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DB8C13E2-E176-957B-DD7A-3EDEAA1441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84244146-4120-7CA5-0089-EAF58B1360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7A89D257-B8D7-7019-198C-3DC757827E7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10BFC19-07AC-F135-5129-DF0892266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804781"/>
              </p:ext>
            </p:extLst>
          </p:nvPr>
        </p:nvGraphicFramePr>
        <p:xfrm>
          <a:off x="1298516" y="4359846"/>
          <a:ext cx="21803152" cy="7794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628">
                  <a:extLst>
                    <a:ext uri="{9D8B030D-6E8A-4147-A177-3AD203B41FA5}">
                      <a16:colId xmlns:a16="http://schemas.microsoft.com/office/drawing/2014/main" val="4165404215"/>
                    </a:ext>
                  </a:extLst>
                </a:gridCol>
                <a:gridCol w="6770352">
                  <a:extLst>
                    <a:ext uri="{9D8B030D-6E8A-4147-A177-3AD203B41FA5}">
                      <a16:colId xmlns:a16="http://schemas.microsoft.com/office/drawing/2014/main" val="4062163071"/>
                    </a:ext>
                  </a:extLst>
                </a:gridCol>
                <a:gridCol w="4591586">
                  <a:extLst>
                    <a:ext uri="{9D8B030D-6E8A-4147-A177-3AD203B41FA5}">
                      <a16:colId xmlns:a16="http://schemas.microsoft.com/office/drawing/2014/main" val="3202593221"/>
                    </a:ext>
                  </a:extLst>
                </a:gridCol>
                <a:gridCol w="4591586">
                  <a:extLst>
                    <a:ext uri="{9D8B030D-6E8A-4147-A177-3AD203B41FA5}">
                      <a16:colId xmlns:a16="http://schemas.microsoft.com/office/drawing/2014/main" val="864630341"/>
                    </a:ext>
                  </a:extLst>
                </a:gridCol>
              </a:tblGrid>
              <a:tr h="10392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Проблемная зона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Проявления в практике пользователя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Последствия для качества решений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Требование к СППР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0120161"/>
                  </a:ext>
                </a:extLst>
              </a:tr>
              <a:tr h="155881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Фрагментация данных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часть операций вне банковских каналов; разрозненные счета; ручной ввод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неполная картина бюджета; ошибки в оценке свободного потока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единая модель данных и процедуры валидации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5179461"/>
                  </a:ext>
                </a:extLst>
              </a:tr>
              <a:tr h="155881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Недостаток формализации выбора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решения принимаются «по ощущению»; критерии не фиксируются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несогласованные действия; трудности сравнения альтернатив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формализованные критерии и ограничители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9654451"/>
                  </a:ext>
                </a:extLst>
              </a:tr>
              <a:tr h="103920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Неопределённость доходов и расходов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сезонность; нерегулярные доходы; неожиданные траты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риск кассовых разрывов; срыв целей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прогнозирование и сценарный анализ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4669947"/>
                  </a:ext>
                </a:extLst>
              </a:tr>
              <a:tr h="155881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Конфликт целей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резерв против погашения долга; цели разного горизонта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ухудшение устойчивости; потеря приоритетов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многокритериальное ранжирование, приоритизация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9710399"/>
                  </a:ext>
                </a:extLst>
              </a:tr>
              <a:tr h="103920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Поведенческие искажения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откладывание решений; импульсивные траты; «оптимизм» в оценках</a:t>
                      </a:r>
                      <a:endParaRPr lang="ru-RU" sz="32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систематические ошибки; недостижение целей</a:t>
                      </a:r>
                      <a:endParaRPr lang="ru-RU" sz="3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механизмы объяснимости и контроля правил</a:t>
                      </a:r>
                      <a:endParaRPr lang="ru-RU" sz="3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5142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99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8CEC-3DDA-3AAC-F991-EE8DECA8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EAAF9D9B-F79F-296E-5511-1F2932A9A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проблемные зоны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59AB204-A08B-C4F9-084B-5D4603A179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103865D7-BCB0-5A83-AC82-F728C626D63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55B39423-685B-E733-C0CF-3A2FD62A80C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E3C2BCF-05E5-1E2F-2941-D14611626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367"/>
              </p:ext>
            </p:extLst>
          </p:nvPr>
        </p:nvGraphicFramePr>
        <p:xfrm>
          <a:off x="1298516" y="3483545"/>
          <a:ext cx="21803152" cy="8116764"/>
        </p:xfrm>
        <a:graphic>
          <a:graphicData uri="http://schemas.openxmlformats.org/drawingml/2006/table">
            <a:tbl>
              <a:tblPr firstRow="1" firstCol="1" bandRow="1">
                <a:tableStyleId>{D27102A9-8310-4765-A935-A1911B00CA55}</a:tableStyleId>
              </a:tblPr>
              <a:tblGrid>
                <a:gridCol w="5849629">
                  <a:extLst>
                    <a:ext uri="{9D8B030D-6E8A-4147-A177-3AD203B41FA5}">
                      <a16:colId xmlns:a16="http://schemas.microsoft.com/office/drawing/2014/main" val="118725549"/>
                    </a:ext>
                  </a:extLst>
                </a:gridCol>
                <a:gridCol w="6770353">
                  <a:extLst>
                    <a:ext uri="{9D8B030D-6E8A-4147-A177-3AD203B41FA5}">
                      <a16:colId xmlns:a16="http://schemas.microsoft.com/office/drawing/2014/main" val="2983606578"/>
                    </a:ext>
                  </a:extLst>
                </a:gridCol>
                <a:gridCol w="4591585">
                  <a:extLst>
                    <a:ext uri="{9D8B030D-6E8A-4147-A177-3AD203B41FA5}">
                      <a16:colId xmlns:a16="http://schemas.microsoft.com/office/drawing/2014/main" val="2952330121"/>
                    </a:ext>
                  </a:extLst>
                </a:gridCol>
                <a:gridCol w="4591585">
                  <a:extLst>
                    <a:ext uri="{9D8B030D-6E8A-4147-A177-3AD203B41FA5}">
                      <a16:colId xmlns:a16="http://schemas.microsoft.com/office/drawing/2014/main" val="4161562579"/>
                    </a:ext>
                  </a:extLst>
                </a:gridCol>
              </a:tblGrid>
              <a:tr h="108223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Проблемная зона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</a:rPr>
                        <a:t>Проявления в практике пользователя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Последствия для качества решений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Требование к СППР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9269936"/>
                  </a:ext>
                </a:extLst>
              </a:tr>
              <a:tr h="16233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Фрагментация данных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часть операций вне банковских каналов; разрозненные счета; ручной ввод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неполная картина бюджета; ошибки в оценке свободного потока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единая модель данных и процедуры валидации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0029716"/>
                  </a:ext>
                </a:extLst>
              </a:tr>
              <a:tr h="16233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Недостаток формализации выбора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решения принимаются «по ощущению»; критерии не фиксируются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несогласованные действия; трудности сравнения альтернатив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формализованные критерии и ограничители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2862517"/>
                  </a:ext>
                </a:extLst>
              </a:tr>
              <a:tr h="108223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Неопределённость доходов и расходов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сезонность; нерегулярные доходы; неожиданные траты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риск кассовых разрывов; срыв целей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прогнозирование и сценарный анализ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6667370"/>
                  </a:ext>
                </a:extLst>
              </a:tr>
              <a:tr h="16233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Конфликт целей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резерв против погашения долга; цели разного горизонта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ухудшение устойчивости; потеря приоритетов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многокритериальное ранжирование, приоритизация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9815359"/>
                  </a:ext>
                </a:extLst>
              </a:tr>
              <a:tr h="108223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Поведенческие искажения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откладывание решений; импульсивные траты; «оптимизм» в оценках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систематические ошибки; недостижение целей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</a:rPr>
                        <a:t>механизмы объяснимости и контроля правил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3521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32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E82D-85AE-45D0-597E-418317CD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0F71FB2-59E3-F3AE-777C-FC3126F03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IS»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C1C56B-B3BC-8FCF-CDF4-C6E23C4CC5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587E6CC-DB6B-1344-6767-566E1B34DB8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3F32A6D-A76A-59BB-CCE1-CA28524FC45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664584-95FC-B99C-749A-EDC83BDAF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515" y="2913023"/>
            <a:ext cx="19360356" cy="100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6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494BA-D6B7-EEA0-8935-BF3B31FA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61A79E01-5E6B-37EA-E149-1C68C99B4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«AS IS»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А0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IDEF0)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BA40790-61FC-3AA0-1C39-C3B6152FBB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1AD030B0-CD5D-4200-5D10-5A9863EEAA6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58EE8D8-92B9-6399-5C1C-6D86BEDCE56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B098F823-76C0-393B-C368-5C6E136400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281081"/>
              </p:ext>
            </p:extLst>
          </p:nvPr>
        </p:nvGraphicFramePr>
        <p:xfrm>
          <a:off x="2514600" y="3706879"/>
          <a:ext cx="18230850" cy="789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257800" imgH="2276448" progId="Visio.Drawing.15">
                  <p:embed/>
                </p:oleObj>
              </mc:Choice>
              <mc:Fallback>
                <p:oleObj name="Visio" r:id="rId3" imgW="5257800" imgH="227644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06879"/>
                        <a:ext cx="18230850" cy="7893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17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B10F4-D198-18B2-518B-775986D0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ED978B81-577A-A03F-6A7E-0387CA16D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5792341"/>
            <a:ext cx="193516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«AS IS»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А1–А5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(IDEF0)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1C4BE9DD-86C1-A8D0-B1E1-3BD7ABF16F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49DDEFCB-06F0-A170-E862-B4F036A4497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5F58713-78F3-38AC-1189-2E7E690AEB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CE9B3B-B41D-EE5F-3598-0B424580C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014" y="1476590"/>
            <a:ext cx="20700883" cy="1051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56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E108-7E1D-BBF4-4E5F-9109BFD7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7A6D8C4-1FE4-4851-4E62-28781041E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3083897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Модель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BE»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4220D1-EA42-DAFF-5D92-1C053E7ED5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2BE87594-487B-74F4-6688-8D7519A38B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6A9FF37-C0EB-DB22-7205-A56B60C4984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E23A0F-9A2F-70BF-BAA3-468EDA44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170" y="321310"/>
            <a:ext cx="13819598" cy="1200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345F-754C-4A97-170B-47AA9E58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6F84AB94-4041-F169-FF67-432D6642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«TO BE»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А0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IDEF0)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7FBA2C68-48B2-511A-C406-ECC8E6802A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3540DFB-6887-590D-497E-207AB7F02EF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C390C14-F5EC-5685-2A8E-167987A82A1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3AD749CD-30BA-4C94-7744-5CE0884DF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290474"/>
              </p:ext>
            </p:extLst>
          </p:nvPr>
        </p:nvGraphicFramePr>
        <p:xfrm>
          <a:off x="2647950" y="3524250"/>
          <a:ext cx="18743187" cy="8076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305680" imgH="2276448" progId="Visio.Drawing.15">
                  <p:embed/>
                </p:oleObj>
              </mc:Choice>
              <mc:Fallback>
                <p:oleObj name="Visio" r:id="rId3" imgW="5305680" imgH="227644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3524250"/>
                        <a:ext cx="18743187" cy="8076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877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8F44-C8ED-F0BA-DEF4-8C4239EC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1EE10BE6-A8DA-78FF-0B3D-AB700AA3E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654" y="5918603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«TO BE»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А1–А6 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(IDEF0)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B60D135A-14DD-A3A3-18A1-9E4067319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B1D3B73-7D49-D506-645A-1C3523892D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2A93300B-0255-4B72-4B97-9602B0B3BB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1D2776E1-6B8C-98D0-8474-E17C65233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195388"/>
              </p:ext>
            </p:extLst>
          </p:nvPr>
        </p:nvGraphicFramePr>
        <p:xfrm>
          <a:off x="4264477" y="321310"/>
          <a:ext cx="16538123" cy="11954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648480" imgH="6200975" progId="Visio.Drawing.15">
                  <p:embed/>
                </p:oleObj>
              </mc:Choice>
              <mc:Fallback>
                <p:oleObj name="Visio" r:id="rId3" imgW="6648480" imgH="620097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477" y="321310"/>
                        <a:ext cx="16538123" cy="119545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71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AB00-A2B9-B38C-4407-E1AA0648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6AF8D26-9E84-27D6-E0A3-92FC816DA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0565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Сравнение моделей «AS IS» и «TO BE»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C558DDBC-DD84-45A2-F0F2-EE12DDD484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513E5206-5A5F-BC3E-10CF-9C6CDF78A39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5A6EC58C-6C3F-5CA8-2499-A0ED7A62E67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FC978DD-2415-A5BD-4C4F-D3197565B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066862"/>
              </p:ext>
            </p:extLst>
          </p:nvPr>
        </p:nvGraphicFramePr>
        <p:xfrm>
          <a:off x="1457166" y="3654593"/>
          <a:ext cx="21917184" cy="7945716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5797992">
                  <a:extLst>
                    <a:ext uri="{9D8B030D-6E8A-4147-A177-3AD203B41FA5}">
                      <a16:colId xmlns:a16="http://schemas.microsoft.com/office/drawing/2014/main" val="3455235474"/>
                    </a:ext>
                  </a:extLst>
                </a:gridCol>
                <a:gridCol w="8442042">
                  <a:extLst>
                    <a:ext uri="{9D8B030D-6E8A-4147-A177-3AD203B41FA5}">
                      <a16:colId xmlns:a16="http://schemas.microsoft.com/office/drawing/2014/main" val="2314626659"/>
                    </a:ext>
                  </a:extLst>
                </a:gridCol>
                <a:gridCol w="7677150">
                  <a:extLst>
                    <a:ext uri="{9D8B030D-6E8A-4147-A177-3AD203B41FA5}">
                      <a16:colId xmlns:a16="http://schemas.microsoft.com/office/drawing/2014/main" val="3152452460"/>
                    </a:ext>
                  </a:extLst>
                </a:gridCol>
              </a:tblGrid>
              <a:tr h="80572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Критерий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Модель «AS IS»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Модель «TO BE»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5139546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Источники данных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 dirty="0">
                          <a:effectLst/>
                        </a:rPr>
                        <a:t>Разрозненные, неструктурированные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Интегрированные и нормализованные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7100990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Обработка данных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Ручная или частично автоматизированная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Полностью автоматизированная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1592879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Расчёт показателей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Приближённый, без формализации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Формализованный и воспроизводимый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47096110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Прогнозирование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Отсутствует или эпизодическое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Регулярное и встроенное в процесс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6694589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Выбор решений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Интуитивный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Алгоритмически обоснованный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8458907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Учёт ограничений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Частичный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Полный (ликвидность, цели, риск)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88412"/>
                  </a:ext>
                </a:extLst>
              </a:tr>
              <a:tr h="158666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Объяснимость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Неявная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Формализованная и доступная пользователю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9247299"/>
                  </a:ext>
                </a:extLst>
              </a:tr>
              <a:tr h="79333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Контроль результатов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>
                          <a:effectLst/>
                        </a:rPr>
                        <a:t>Эпизодический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200" dirty="0">
                          <a:effectLst/>
                        </a:rPr>
                        <a:t>Системный и основанный на данных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646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977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D200-C4E6-8B56-CF9C-2167A782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96C888A-BE6E-8C33-FB3B-78E6A1EBC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34652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Дерево функций СППР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1B81EFBD-A2CA-3927-C0C9-1CC55A0FB3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EAF34F53-114B-0C65-4DB5-E3E8406B112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EC6A747-1FC3-6CC1-9082-9D19F60A7CC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2E1C1A-66FD-4200-58EC-6FA2B84AA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009" y="3353978"/>
            <a:ext cx="18030825" cy="931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9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65C-4D45-88BA-CEB3-56C036FD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0903800-AEFD-FA58-BBCF-5C6B75AE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 решения задачи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35DE8AE-D6AC-5BF1-79F1-9C8A71B0C7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3A4E852D-2200-DF0B-D36E-4BA98056C49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74AA80-14F2-262B-1726-F788B000F9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6DF17-1261-F16F-8C2B-C79A79D6FBEA}"/>
              </a:ext>
            </a:extLst>
          </p:cNvPr>
          <p:cNvSpPr txBox="1"/>
          <p:nvPr/>
        </p:nvSpPr>
        <p:spPr>
          <a:xfrm>
            <a:off x="1949331" y="4184473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/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8E1A0F-D043-DF5A-D74C-C2E98C9CBA2D}"/>
              </a:ext>
            </a:extLst>
          </p:cNvPr>
          <p:cNvSpPr txBox="1"/>
          <p:nvPr/>
        </p:nvSpPr>
        <p:spPr>
          <a:xfrm>
            <a:off x="1949331" y="5199455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/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74511A-5D6F-C7C2-A868-D99F3D7B8017}"/>
              </a:ext>
            </a:extLst>
          </p:cNvPr>
          <p:cNvSpPr txBox="1"/>
          <p:nvPr/>
        </p:nvSpPr>
        <p:spPr>
          <a:xfrm>
            <a:off x="10635117" y="3427759"/>
            <a:ext cx="4378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Чистый денежный поток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/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41B9F-E766-C592-BF12-98E0768D9F76}"/>
              </a:ext>
            </a:extLst>
          </p:cNvPr>
          <p:cNvSpPr txBox="1"/>
          <p:nvPr/>
        </p:nvSpPr>
        <p:spPr>
          <a:xfrm>
            <a:off x="1916023" y="7187080"/>
            <a:ext cx="4378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Обязательства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/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/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B22DC7-3E67-C4C2-98CD-3408A418AFF5}"/>
              </a:ext>
            </a:extLst>
          </p:cNvPr>
          <p:cNvSpPr txBox="1"/>
          <p:nvPr/>
        </p:nvSpPr>
        <p:spPr>
          <a:xfrm>
            <a:off x="10611069" y="7147872"/>
            <a:ext cx="4896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Плановый платёж по обязательству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/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96A736-A62E-37B6-E96A-4D4CA2853E82}"/>
              </a:ext>
            </a:extLst>
          </p:cNvPr>
          <p:cNvSpPr txBox="1"/>
          <p:nvPr/>
        </p:nvSpPr>
        <p:spPr>
          <a:xfrm>
            <a:off x="1298516" y="3286598"/>
            <a:ext cx="6626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Денежные потоки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2F69E-6ECA-3E02-9306-6D1CFFD71F44}"/>
              </a:ext>
            </a:extLst>
          </p:cNvPr>
          <p:cNvSpPr txBox="1"/>
          <p:nvPr/>
        </p:nvSpPr>
        <p:spPr>
          <a:xfrm>
            <a:off x="1298516" y="6220391"/>
            <a:ext cx="9636184" cy="64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Обязательства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0BD08-C64B-480E-9257-842C52101B10}"/>
              </a:ext>
            </a:extLst>
          </p:cNvPr>
          <p:cNvSpPr txBox="1"/>
          <p:nvPr/>
        </p:nvSpPr>
        <p:spPr>
          <a:xfrm>
            <a:off x="1298516" y="8813688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Параметры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/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CE6CC6F-59CA-6321-55A6-B12FFAA596B5}"/>
              </a:ext>
            </a:extLst>
          </p:cNvPr>
          <p:cNvSpPr txBox="1"/>
          <p:nvPr/>
        </p:nvSpPr>
        <p:spPr>
          <a:xfrm>
            <a:off x="1298516" y="10354122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Финансовые цели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/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Доходы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+mn-lt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Расходы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+mn-lt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𝑙</m:t>
                                    </m:r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+mn-lt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>
                                        <a:effectLst/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+mn-lt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01000" r="-48348" b="-12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1000" b="-12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99010" r="-48348" b="-1114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99010" b="-1114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302000" b="-10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402000" b="-9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02000" b="-8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73333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707000" b="-6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807000" b="-5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907000" b="-4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07000" b="-3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96040" b="-217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208000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308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0097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9653-0129-D04C-2E30-EF574B25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CF5F58F-12CF-3039-0764-38DDC484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3422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пользователя модель должна быть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простой	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б)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доступной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понятной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D1D0026-EAD7-15CA-FE28-F1BD5AA3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1996A98-AB3C-542B-B266-7C0D8E6D60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66A0F9-7C34-5406-3BBA-9CA8BE8E9A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611BE-C814-D802-CBF0-D9E7A04ED626}"/>
              </a:ext>
            </a:extLst>
          </p:cNvPr>
          <p:cNvSpPr txBox="1"/>
          <p:nvPr/>
        </p:nvSpPr>
        <p:spPr>
          <a:xfrm>
            <a:off x="1298516" y="4520312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Поэтому в модели используются </a:t>
            </a:r>
            <a:r>
              <a:rPr lang="ru-RU" sz="40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три</a:t>
            </a:r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базовых показателя: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8EAD-CCF7-0965-CE82-36E74E9C3AFD}"/>
              </a:ext>
            </a:extLst>
          </p:cNvPr>
          <p:cNvSpPr txBox="1"/>
          <p:nvPr/>
        </p:nvSpPr>
        <p:spPr>
          <a:xfrm>
            <a:off x="1298516" y="6427535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Финансовый ресурс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ADCFB-F584-9B60-93FB-228AB70DFF9B}"/>
              </a:ext>
            </a:extLst>
          </p:cNvPr>
          <p:cNvSpPr txBox="1"/>
          <p:nvPr/>
        </p:nvSpPr>
        <p:spPr>
          <a:xfrm>
            <a:off x="1298516" y="8334758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Коэффициент ликвидности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361FE-3AEE-183C-174D-C81D4ECDE0DD}"/>
              </a:ext>
            </a:extLst>
          </p:cNvPr>
          <p:cNvSpPr txBox="1"/>
          <p:nvPr/>
        </p:nvSpPr>
        <p:spPr>
          <a:xfrm>
            <a:off x="1468804" y="10892423"/>
            <a:ext cx="6611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Долговая нагрузка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/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4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/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sz="4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/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4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/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доступный ресурс в момент </a:t>
                </a:r>
                <a14:m>
                  <m:oMath xmlns:m="http://schemas.openxmlformats.org/officeDocument/2006/math">
                    <m:r>
                      <a:rPr lang="ru-RU" sz="32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текущий баланс;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ru-RU" sz="32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sSub>
                      <m:sSubPr>
                        <m:ctrlP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чистый денежный поток;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32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</a:rPr>
                  <a:t> – платежи по обязательствам;</a:t>
                </a:r>
              </a:p>
              <a:p>
                <a:pPr>
                  <a:buNone/>
                </a:pPr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𝐿</m:t>
                        </m:r>
                      </m:e>
                      <m:sub>
                        <m:r>
                          <a:rPr lang="ru-RU" sz="3200" i="1"/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ликвидности;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𝐵</m:t>
                        </m:r>
                      </m:e>
                      <m:sub>
                        <m:r>
                          <a:rPr lang="ru-RU" sz="3200" i="1"/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баланс;</a:t>
                </a:r>
              </a:p>
              <a:p>
                <a14:m>
                  <m:oMath xmlns:m="http://schemas.openxmlformats.org/officeDocument/2006/math">
                    <m:r>
                      <a:rPr lang="ru-RU" sz="3200" i="1"/>
                      <m:t>∑</m:t>
                    </m:r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𝑒</m:t>
                        </m:r>
                      </m:e>
                      <m:sub>
                        <m:r>
                          <a:rPr lang="ru-RU" sz="3200" i="1"/>
                          <m:t>𝑗</m:t>
                        </m:r>
                      </m:sub>
                    </m:sSub>
                  </m:oMath>
                </a14:m>
                <a:r>
                  <a:rPr lang="ru-RU" sz="3200" dirty="0"/>
                  <a:t> – суммарные расходы за период;</a:t>
                </a:r>
              </a:p>
              <a:p>
                <a:endParaRPr lang="ru-RU" sz="3200" dirty="0"/>
              </a:p>
              <a:p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𝐷</m:t>
                        </m:r>
                      </m:e>
                      <m:sub>
                        <m:r>
                          <a:rPr lang="ru-RU" sz="3200" i="1"/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долговой нагрузки;</a:t>
                </a:r>
              </a:p>
              <a:p>
                <a14:m>
                  <m:oMath xmlns:m="http://schemas.openxmlformats.org/officeDocument/2006/math">
                    <m:r>
                      <a:rPr lang="ru-RU" sz="3200" i="1"/>
                      <m:t>∑</m:t>
                    </m:r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𝑃</m:t>
                        </m:r>
                      </m:e>
                      <m:sub>
                        <m:r>
                          <a:rPr lang="ru-RU" sz="3200" i="1"/>
                          <m:t>𝑙</m:t>
                        </m:r>
                        <m:r>
                          <a:rPr lang="ru-RU" sz="3200" i="1"/>
                          <m:t>,</m:t>
                        </m:r>
                        <m:r>
                          <a:rPr lang="ru-RU" sz="3200" i="1"/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сумма платежей по обязательствам;</a:t>
                </a:r>
              </a:p>
              <a:p>
                <a14:m>
                  <m:oMath xmlns:m="http://schemas.openxmlformats.org/officeDocument/2006/math">
                    <m:r>
                      <a:rPr lang="ru-RU" sz="3200" i="1"/>
                      <m:t>∑</m:t>
                    </m:r>
                    <m:sSub>
                      <m:sSubPr>
                        <m:ctrlPr>
                          <a:rPr lang="ru-RU" sz="3200" i="1"/>
                        </m:ctrlPr>
                      </m:sSubPr>
                      <m:e>
                        <m:r>
                          <a:rPr lang="ru-RU" sz="3200" i="1"/>
                          <m:t>𝑖</m:t>
                        </m:r>
                      </m:e>
                      <m:sub>
                        <m:r>
                          <a:rPr lang="ru-RU" sz="3200" i="1"/>
                          <m:t>𝑘</m:t>
                        </m:r>
                      </m:sub>
                    </m:sSub>
                  </m:oMath>
                </a14:m>
                <a:r>
                  <a:rPr lang="ru-RU" sz="3200" dirty="0"/>
                  <a:t> – сумма доходов.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blipFill>
                <a:blip r:embed="rId6"/>
                <a:stretch>
                  <a:fillRect t="-1296" r="-505" b="-2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77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A403-E195-5FB5-B2C7-E374A86F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8BBDC26-A8D1-7B7A-FB7E-7FBEBE15A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среда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инструменты разработки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E41399-3142-8C23-8D6D-533D2BB07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A20C514-B45D-9927-8648-01011D869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AACAFA6-F064-A579-2CF6-38725A5501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42CF7EE-E333-1139-3EC1-F1C31574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3105"/>
              </p:ext>
            </p:extLst>
          </p:nvPr>
        </p:nvGraphicFramePr>
        <p:xfrm>
          <a:off x="1298516" y="4294885"/>
          <a:ext cx="21803151" cy="774471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4397434">
                  <a:extLst>
                    <a:ext uri="{9D8B030D-6E8A-4147-A177-3AD203B41FA5}">
                      <a16:colId xmlns:a16="http://schemas.microsoft.com/office/drawing/2014/main" val="2306128875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1049280081"/>
                    </a:ext>
                  </a:extLst>
                </a:gridCol>
                <a:gridCol w="10604867">
                  <a:extLst>
                    <a:ext uri="{9D8B030D-6E8A-4147-A177-3AD203B41FA5}">
                      <a16:colId xmlns:a16="http://schemas.microsoft.com/office/drawing/2014/main" val="3986087481"/>
                    </a:ext>
                  </a:extLst>
                </a:gridCol>
              </a:tblGrid>
              <a:tr h="87113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Инструмент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Назначение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Роль в системе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8085270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Язык программирования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Реализация всей логики системы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160073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FastAPI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Веб-фреймворк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Обработка HTTP-запросов, построение 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02274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Uvicorn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ASGI-сервер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Запуск и выполнение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6580337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SQLAlchemy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ORM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базой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5676788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Валидация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Проверка входных и выходных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3123396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pydantic-settings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Конфигурация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Управление настройками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3221875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python-dotenv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переменными среды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Загрузка конфигурации из .env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9816682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Jinja2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Шаблонизатор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Формирование HTML-интерфейса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13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92BF-5260-78FC-2996-88F66889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9DE2C7-211B-47C9-B670-1B924386E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D4EF0F6-3416-0F7F-A0CA-9BE15289C0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86677B3-781F-B368-8283-1B11AED3D0F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8ECC9E8-1BA7-4D55-DF29-FEEB91451B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20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1AFD9-07E7-6600-2B20-E559D98D417E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Главная панель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CC7E8C-CB1D-5E9A-DB06-0DEC224E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3994484"/>
            <a:ext cx="22012650" cy="84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4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3BB7E-510D-C185-B0B6-13EC9B17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B6AC85-ECB1-E36A-B8AD-6FE61B497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52A695-EB97-C143-830B-9D5462FFDD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AA00A85-3B2B-BDEF-1063-F56D936F4F8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445D008A-107B-BE44-B3F7-64FAEA630B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21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1C72F-FD4F-5D21-9BEC-7A12B5CDD744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Разделы управления обязательствами и целями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1959D1-CC25-6E3F-9CC2-9C6CE18E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4161472"/>
            <a:ext cx="22285384" cy="77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84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C25F-1ADB-82FE-6D79-A16E7E86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B746627-5613-BDAF-D85E-6EF898946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C78B57B-D1CE-511F-4C93-91A36F8F65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B975FEBF-8E0F-3579-366B-C17B29A78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9D37536-5852-5FA5-86F8-B19DE0B6D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83D87-56A5-88E8-04F6-3918A90C64E0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Журнал доходов и расходов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92320E-F582-BCA9-8108-406FEA5F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048"/>
          <a:stretch>
            <a:fillRect/>
          </a:stretch>
        </p:blipFill>
        <p:spPr>
          <a:xfrm>
            <a:off x="1298516" y="3976322"/>
            <a:ext cx="18932584" cy="845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91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C3EC-1BE3-5CCD-AA6B-15F77714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58DB6063-7853-7D9C-F80B-52828673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A0329B5-C19F-E172-DA4B-E4B2BD3F04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4883210-25C0-937F-69CA-0D15D9B4445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B25A2B4-6907-B355-1951-6B6718A6593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EB17D-EDFD-88E8-F393-69D9C218CBD1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ключевых показателей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9E3B23-F7EB-A03F-D1CF-6237B1E9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883"/>
          <a:stretch>
            <a:fillRect/>
          </a:stretch>
        </p:blipFill>
        <p:spPr>
          <a:xfrm>
            <a:off x="1298516" y="4176830"/>
            <a:ext cx="22314911" cy="67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59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A88E-F825-5336-C5D3-2070B6BC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71B67E8-5BD9-990F-FACA-B4E7C0934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B33224A-7AE5-75D5-CAAA-1BFAD4BAF4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ADB8801-083B-B6D6-C68A-29FBD4CA24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94935F8-23B0-7B33-6F07-777CBCACC4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5C364-B127-A439-86D4-DBA055B63DA9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финансового профиля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FF82F-40BF-1B88-3EFA-70955FBB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69"/>
          <a:stretch>
            <a:fillRect/>
          </a:stretch>
        </p:blipFill>
        <p:spPr>
          <a:xfrm>
            <a:off x="1298516" y="4343400"/>
            <a:ext cx="22508676" cy="631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32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15CA-C709-4869-09A8-220B307D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0316C-22C4-E217-9958-F3228FF1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" y="1496859"/>
            <a:ext cx="22858730" cy="111341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0CEC0C-BFE1-26C2-5291-017C54BE6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" y="1460720"/>
            <a:ext cx="12914630" cy="2302254"/>
          </a:xfrm>
          <a:prstGeom prst="rect">
            <a:avLst/>
          </a:prstGeom>
        </p:spPr>
      </p:pic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887635D2-7BD3-6111-D7F1-0EF03CF83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4C19B348-A311-B947-9176-5127450A17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3A18CCA-9EBC-21CA-284C-801EEADAC29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66E4EDA1-EE76-DF4D-61CF-3B939F9C79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2C8A4-25AB-0AF5-641D-AD75E6F6A8D8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рекомендаций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5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6459-11D6-9282-CBC5-49777676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2FA901C-2DCA-FE31-40C3-13A6A4C78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85134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 расчета показателей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22CC976-D405-AFE2-4ECC-3496042FA3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CCDFC764-7988-A857-AEFB-46D6515C255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C817AE8A-A74A-673F-4EB6-D886F6C0FE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44D72-7AD6-613F-0283-E275A4F19E22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Сценарный анализ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0B300CE-5296-E8F6-ACCC-4107AD24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04838"/>
              </p:ext>
            </p:extLst>
          </p:nvPr>
        </p:nvGraphicFramePr>
        <p:xfrm>
          <a:off x="1298516" y="4297679"/>
          <a:ext cx="21961534" cy="7302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6867">
                  <a:extLst>
                    <a:ext uri="{9D8B030D-6E8A-4147-A177-3AD203B41FA5}">
                      <a16:colId xmlns:a16="http://schemas.microsoft.com/office/drawing/2014/main" val="1255311946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172800185"/>
                    </a:ext>
                  </a:extLst>
                </a:gridCol>
                <a:gridCol w="2792430">
                  <a:extLst>
                    <a:ext uri="{9D8B030D-6E8A-4147-A177-3AD203B41FA5}">
                      <a16:colId xmlns:a16="http://schemas.microsoft.com/office/drawing/2014/main" val="3659574217"/>
                    </a:ext>
                  </a:extLst>
                </a:gridCol>
                <a:gridCol w="4065926">
                  <a:extLst>
                    <a:ext uri="{9D8B030D-6E8A-4147-A177-3AD203B41FA5}">
                      <a16:colId xmlns:a16="http://schemas.microsoft.com/office/drawing/2014/main" val="2716467162"/>
                    </a:ext>
                  </a:extLst>
                </a:gridCol>
                <a:gridCol w="2201991">
                  <a:extLst>
                    <a:ext uri="{9D8B030D-6E8A-4147-A177-3AD203B41FA5}">
                      <a16:colId xmlns:a16="http://schemas.microsoft.com/office/drawing/2014/main" val="3301088240"/>
                    </a:ext>
                  </a:extLst>
                </a:gridCol>
                <a:gridCol w="1639337">
                  <a:extLst>
                    <a:ext uri="{9D8B030D-6E8A-4147-A177-3AD203B41FA5}">
                      <a16:colId xmlns:a16="http://schemas.microsoft.com/office/drawing/2014/main" val="3672411152"/>
                    </a:ext>
                  </a:extLst>
                </a:gridCol>
                <a:gridCol w="1521249">
                  <a:extLst>
                    <a:ext uri="{9D8B030D-6E8A-4147-A177-3AD203B41FA5}">
                      <a16:colId xmlns:a16="http://schemas.microsoft.com/office/drawing/2014/main" val="4161136170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3022255985"/>
                    </a:ext>
                  </a:extLst>
                </a:gridCol>
              </a:tblGrid>
              <a:tr h="74197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Сценарий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Доходы,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Расходы,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Обязательства,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Rt,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Lt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Dt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Результат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491917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167000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36500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23500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107000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1,78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Стабильное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975705316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100000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0,04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Низкая ликвидность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324409855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3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60000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50000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0,50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Высокая долговая нагрузка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07891602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60000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0,43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Умеренное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2000310"/>
                  </a:ext>
                </a:extLst>
              </a:tr>
              <a:tr h="72896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180000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70000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1,25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0,06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</a:rPr>
                        <a:t>Наличие ресурса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83937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578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AF1F-00B4-41AA-8F46-F71CD444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D132FED4-A23C-7DBD-4A47-35A7B7F5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9443D9E3-20AD-B7F3-5A87-219DA43EA9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03F6FDA-5FC8-DC59-714A-437DA8C8EE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81D5722-2A63-402A-716F-32E71D0BC8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95AA6-498D-AC91-B7CE-FB537CBC8165}"/>
              </a:ext>
            </a:extLst>
          </p:cNvPr>
          <p:cNvSpPr txBox="1"/>
          <p:nvPr/>
        </p:nvSpPr>
        <p:spPr>
          <a:xfrm>
            <a:off x="1562100" y="3399800"/>
            <a:ext cx="21717000" cy="855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проведён анализ предметной области и выявлены ключевые проблемы управления персональными финансами;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обоснована необходимость применения СППР для повышения качества принимаемых решений;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разработана архитектура системы и предложена модель «TO BE» с автоматизацией принятия решений;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построена математическая модель, включающая расчёт показателей и механизм выбора альтернатив;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реализован алгоритм формирования рекомендаций с учётом ограничений и предпочтений пользователя;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разработан программный прототип системы;</a:t>
            </a:r>
          </a:p>
          <a:p>
            <a:pPr marL="723900" indent="-723900">
              <a:spcBef>
                <a:spcPts val="6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подтверждена эффективность подхода за счёт повышения обоснованности и устойчивости финансовых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899044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Ленинский проспект, д. 4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Москва, 119049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тел. +7 (495) 955-00-32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kancela@misis.ru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misis.ru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711</TotalTime>
  <Words>2619</Words>
  <Application>Microsoft Office PowerPoint</Application>
  <PresentationFormat>Произвольный</PresentationFormat>
  <Paragraphs>509</Paragraphs>
  <Slides>28</Slides>
  <Notes>24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7" baseType="lpstr">
      <vt:lpstr>TT Norms Pro Medium</vt:lpstr>
      <vt:lpstr>Times New Roman</vt:lpstr>
      <vt:lpstr>Cambria Math</vt:lpstr>
      <vt:lpstr>Tahoma</vt:lpstr>
      <vt:lpstr>TT Norms Pro</vt:lpstr>
      <vt:lpstr>Calibri</vt:lpstr>
      <vt:lpstr>Arial</vt:lpstr>
      <vt:lpstr>Misis</vt:lpstr>
      <vt:lpstr>Microsoft Visio Drawing</vt:lpstr>
      <vt:lpstr>Разработка алгоритмического обеспечения системы поддержки принятия решений (СППР) в сфере персональных финансов</vt:lpstr>
      <vt:lpstr>Актуальность темы исследования</vt:lpstr>
      <vt:lpstr>Цель ВКР Объект и предмет исследования</vt:lpstr>
      <vt:lpstr>Проблема исследования</vt:lpstr>
      <vt:lpstr>Классы подходов к СППР  в персональных финансах</vt:lpstr>
      <vt:lpstr>Типовые зоны решений в персональных финансах</vt:lpstr>
      <vt:lpstr>Структурные компоненты объекта исследования</vt:lpstr>
      <vt:lpstr>Основные проблемные зоны</vt:lpstr>
      <vt:lpstr>Модель «AS IS»</vt:lpstr>
      <vt:lpstr>«AS IS» А0 (IDEF0)</vt:lpstr>
      <vt:lpstr>«AS IS» А1–А5  (IDEF0)</vt:lpstr>
      <vt:lpstr>Модель  «TO BE»</vt:lpstr>
      <vt:lpstr>«TO BE»  А0 (IDEF0)</vt:lpstr>
      <vt:lpstr>«TO BE»  А1–А6  (IDEF0)</vt:lpstr>
      <vt:lpstr>Сравнение моделей «AS IS» и «TO BE»</vt:lpstr>
      <vt:lpstr>Дерево функций СППР</vt:lpstr>
      <vt:lpstr>Математическая модель решения задачи</vt:lpstr>
      <vt:lpstr>Для пользователя модель должна быть а) простой  б) доступной в) понятной</vt:lpstr>
      <vt:lpstr>Программная среда  и инструменты разработки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Результаты расчета показателей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A T</cp:lastModifiedBy>
  <cp:revision>92</cp:revision>
  <dcterms:created xsi:type="dcterms:W3CDTF">2022-07-26T11:52:44Z</dcterms:created>
  <dcterms:modified xsi:type="dcterms:W3CDTF">2026-04-15T04:47:45Z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2026-02-14T18:52:21Z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cf9eee5f-0de2-42c5-8f66-ffb185aa2cad</vt:lpwstr>
  </property>
  <property fmtid="{D5CDD505-2E9C-101B-9397-08002B2CF9AE}" pid="7" name="MSIP_Label_defa4170-0d19-0005-0004-bc88714345d2_ActionId">
    <vt:lpwstr>2092aea2-0836-4eda-9e1a-614292534f0b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