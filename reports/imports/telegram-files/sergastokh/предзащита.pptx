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0"/>
  </p:notesMasterIdLst>
  <p:sldIdLst>
    <p:sldId id="256" r:id="rId2"/>
    <p:sldId id="299" r:id="rId3"/>
    <p:sldId id="278" r:id="rId4"/>
    <p:sldId id="290" r:id="rId5"/>
    <p:sldId id="274" r:id="rId6"/>
    <p:sldId id="295" r:id="rId7"/>
    <p:sldId id="294" r:id="rId8"/>
    <p:sldId id="272" r:id="rId9"/>
  </p:sldIdLst>
  <p:sldSz cx="24382413" cy="13716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Tahoma" panose="020B0604030504040204" pitchFamily="34" charset="0"/>
      <p:regular r:id="rId15"/>
      <p:bold r:id="rId16"/>
      <p:italic r:id="rId17"/>
    </p:embeddedFont>
    <p:embeddedFont>
      <p:font typeface="TT Norms Pro" panose="020B0103030101020204" pitchFamily="34" charset="0"/>
      <p:regular r:id="rId18"/>
      <p:bold r:id="rId19"/>
      <p:italic r:id="rId20"/>
      <p:boldItalic r:id="rId21"/>
    </p:embeddedFont>
    <p:embeddedFont>
      <p:font typeface="TT Norms Pro Medium" panose="020B0103030101020204" pitchFamily="34" charset="0"/>
      <p:regular r:id="rId22"/>
      <p:italic r:id="rId23"/>
    </p:embeddedFont>
  </p:embeddedFontLst>
  <p:custDataLst>
    <p:tags r:id="rId24"/>
  </p:custDataLst>
  <p:defaultTextStyle>
    <a:defPPr>
      <a:defRPr lang="ru-RU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6" userDrawn="1">
          <p15:clr>
            <a:srgbClr val="A4A3A4"/>
          </p15:clr>
        </p15:guide>
        <p15:guide id="2" pos="15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017" autoAdjust="0"/>
    <p:restoredTop sz="96126" autoAdjust="0"/>
  </p:normalViewPr>
  <p:slideViewPr>
    <p:cSldViewPr snapToGrid="0" showGuides="1">
      <p:cViewPr varScale="1">
        <p:scale>
          <a:sx n="53" d="100"/>
          <a:sy n="53" d="100"/>
        </p:scale>
        <p:origin x="248" y="304"/>
      </p:cViewPr>
      <p:guideLst>
        <p:guide orient="horz" pos="7926"/>
        <p:guide pos="1507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01" d="100"/>
          <a:sy n="101" d="100"/>
        </p:scale>
        <p:origin x="2508" y="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E627D-15EB-40F5-AEC0-AD078B3D9203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FAC02-5901-4D7E-90A5-4DB54C8C6E8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4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692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610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99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88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983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изменить картинку</a:t>
            </a:r>
          </a:p>
          <a:p>
            <a:r>
              <a:rPr lang="ru-RU" dirty="0"/>
              <a:t>правый клик по изображению - формат изображения</a:t>
            </a:r>
          </a:p>
          <a:p>
            <a:r>
              <a:rPr lang="ru-RU" dirty="0"/>
              <a:t>вкладка заливка - рисунок или текстура</a:t>
            </a:r>
          </a:p>
          <a:p>
            <a:r>
              <a:rPr lang="ru-RU" dirty="0"/>
              <a:t>выбрать рисунок</a:t>
            </a:r>
          </a:p>
          <a:p>
            <a:r>
              <a:rPr lang="ru-RU" dirty="0"/>
              <a:t>вкладка формат - Обрезка - заливка - двигать за круглые точки в углах</a:t>
            </a:r>
          </a:p>
          <a:p>
            <a:r>
              <a:rPr lang="ru-RU" dirty="0"/>
              <a:t>увеличивать и двигать картинку, чтобы получить нужное изображение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825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FAC02-5901-4D7E-90A5-4DB54C8C6E8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4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5185743"/>
            <a:ext cx="9952581" cy="3850681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 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9036424"/>
            <a:ext cx="9952581" cy="199955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Фамилия Имя Отчество</a:t>
            </a:r>
            <a:br>
              <a:rPr lang="ru-RU" dirty="0"/>
            </a:br>
            <a:r>
              <a:rPr lang="ru-RU" dirty="0"/>
              <a:t>Должность спикера в одну</a:t>
            </a:r>
            <a:br>
              <a:rPr lang="ru-RU" dirty="0"/>
            </a:br>
            <a:r>
              <a:rPr lang="ru-RU" dirty="0"/>
              <a:t>или более строк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560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890843"/>
            <a:ext cx="9952581" cy="2091357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презентации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10362149"/>
            <a:ext cx="9952581" cy="121022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Подзаголовок в одну, две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054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362700" y="5147643"/>
            <a:ext cx="12573000" cy="5539407"/>
          </a:xfrm>
        </p:spPr>
        <p:txBody>
          <a:bodyPr anchor="t">
            <a:noAutofit/>
          </a:bodyPr>
          <a:lstStyle>
            <a:lvl1pPr marL="0" marR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1828709" rtl="0" eaLnBrk="1" fontAlgn="auto" latinLnBrk="0" hangingPunct="1">
              <a:lnSpc>
                <a:spcPts val="13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   </a:t>
            </a:r>
            <a:r>
              <a:rPr lang="ru-RU" dirty="0"/>
              <a:t>Заголовок</a:t>
            </a:r>
            <a:br>
              <a:rPr lang="ru-RU" dirty="0"/>
            </a:br>
            <a:r>
              <a:rPr lang="en-US" dirty="0"/>
              <a:t>       </a:t>
            </a: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81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7620000" y="5147643"/>
            <a:ext cx="12573000" cy="3748707"/>
          </a:xfrm>
        </p:spPr>
        <p:txBody>
          <a:bodyPr anchor="t">
            <a:noAutofit/>
          </a:bodyPr>
          <a:lstStyle>
            <a:lvl1pPr algn="l">
              <a:lnSpc>
                <a:spcPts val="13700"/>
              </a:lnSpc>
              <a:defRPr sz="159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en-US" dirty="0"/>
            </a:br>
            <a:r>
              <a:rPr lang="en-US" dirty="0"/>
              <a:t>     </a:t>
            </a:r>
            <a:r>
              <a:rPr lang="ru-RU" dirty="0"/>
              <a:t>короткий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 или глав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7" y="2163817"/>
            <a:ext cx="7451784" cy="3130078"/>
          </a:xfrm>
        </p:spPr>
        <p:txBody>
          <a:bodyPr anchor="t">
            <a:noAutofit/>
          </a:bodyPr>
          <a:lstStyle>
            <a:lvl1pPr algn="l">
              <a:lnSpc>
                <a:spcPts val="7700"/>
              </a:lnSpc>
              <a:defRPr sz="8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  <a:br>
              <a:rPr lang="ru-RU" dirty="0"/>
            </a:br>
            <a:r>
              <a:rPr lang="ru-RU" dirty="0"/>
              <a:t>или главы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98516" y="7017374"/>
            <a:ext cx="9952581" cy="29929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bg2"/>
                </a:solidFill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ru-RU" dirty="0"/>
              <a:t>При наличии может</a:t>
            </a:r>
            <a:br>
              <a:rPr lang="ru-RU" dirty="0"/>
            </a:br>
            <a:r>
              <a:rPr lang="ru-RU" dirty="0"/>
              <a:t>размещаться общая</a:t>
            </a:r>
            <a:br>
              <a:rPr lang="ru-RU" dirty="0"/>
            </a:br>
            <a:r>
              <a:rPr lang="ru-RU" dirty="0"/>
              <a:t>информация данного</a:t>
            </a:r>
            <a:br>
              <a:rPr lang="ru-RU" dirty="0"/>
            </a:br>
            <a:r>
              <a:rPr lang="ru-RU" dirty="0"/>
              <a:t>раздела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00460" y="11867187"/>
            <a:ext cx="3033416" cy="7302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06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43794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5787113"/>
            <a:ext cx="10626783" cy="654299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</a:t>
            </a:r>
            <a:br>
              <a:rPr lang="en-US" dirty="0"/>
            </a:br>
            <a:r>
              <a:rPr lang="en-US" dirty="0"/>
              <a:t>of the printing and typesetting industry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Lorem Ipsum has been the industry's</a:t>
            </a:r>
            <a:br>
              <a:rPr lang="en-US" dirty="0"/>
            </a:br>
            <a:r>
              <a:rPr lang="en-US" dirty="0"/>
              <a:t>standard dummy text ever since the 1500s, when an unknown printer took a galley</a:t>
            </a:r>
            <a:br>
              <a:rPr lang="en-US" dirty="0"/>
            </a:br>
            <a:r>
              <a:rPr lang="en-US" dirty="0"/>
              <a:t>of type and scrambled it to make a type</a:t>
            </a:r>
            <a:br>
              <a:rPr lang="en-US" dirty="0"/>
            </a:br>
            <a:r>
              <a:rPr lang="en-US" dirty="0"/>
              <a:t>specimen book</a:t>
            </a:r>
            <a:endParaRPr lang="ru-RU" dirty="0"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8060989" y="9152022"/>
            <a:ext cx="4930774" cy="59355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8060989" y="9745579"/>
            <a:ext cx="4930774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is simply dummy text</a:t>
            </a:r>
            <a:br>
              <a:rPr lang="en-US" dirty="0"/>
            </a:br>
            <a:r>
              <a:rPr lang="en-US" dirty="0"/>
              <a:t>Lorem Ipsum is simply 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5878842" y="8839203"/>
            <a:ext cx="2120397" cy="226995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72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6050292" y="4474746"/>
            <a:ext cx="7362158" cy="247850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«Хотел бы отметить особую роль НИТУ «</a:t>
            </a:r>
            <a:r>
              <a:rPr lang="ru-RU" dirty="0" err="1"/>
              <a:t>МИСиС</a:t>
            </a:r>
            <a:r>
              <a:rPr lang="ru-RU" dirty="0"/>
              <a:t>»</a:t>
            </a:r>
            <a:br>
              <a:rPr lang="ru-RU" dirty="0"/>
            </a:br>
            <a:r>
              <a:rPr lang="ru-RU" dirty="0"/>
              <a:t>в подготовке специалистов для предприятий ОМК.</a:t>
            </a:r>
            <a:br>
              <a:rPr lang="ru-RU" dirty="0"/>
            </a:br>
            <a:r>
              <a:rPr lang="ru-RU" dirty="0"/>
              <a:t>Блестящее качество образования и глубина знаний</a:t>
            </a:r>
            <a:br>
              <a:rPr lang="ru-RU" dirty="0"/>
            </a:br>
            <a:r>
              <a:rPr lang="ru-RU" dirty="0"/>
              <a:t>наших сотрудников, уникальные учебные программы</a:t>
            </a:r>
            <a:br>
              <a:rPr lang="ru-RU" dirty="0"/>
            </a:br>
            <a:r>
              <a:rPr lang="ru-RU" dirty="0"/>
              <a:t>университета, в том числе разработанные специально</a:t>
            </a:r>
            <a:br>
              <a:rPr lang="ru-RU" dirty="0"/>
            </a:br>
            <a:r>
              <a:rPr lang="ru-RU" dirty="0"/>
              <a:t>для нас, — один из главных факторов успеха ОМК»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6050292" y="7110162"/>
            <a:ext cx="7362158" cy="30931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Анатолий Седых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6050292" y="7382126"/>
            <a:ext cx="736215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Председатель правления АО «ОМК».</a:t>
            </a:r>
            <a:br>
              <a:rPr lang="ru-RU" dirty="0"/>
            </a:br>
            <a:r>
              <a:rPr lang="ru-RU" dirty="0"/>
              <a:t>Выпускник МИСИС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50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 userDrawn="1">
          <p15:clr>
            <a:srgbClr val="FBAE40"/>
          </p15:clr>
        </p15:guide>
        <p15:guide id="16" orient="horz" pos="55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737165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3760060"/>
            <a:ext cx="8461710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 dummy</a:t>
            </a:r>
            <a:br>
              <a:rPr lang="en-US" dirty="0"/>
            </a:br>
            <a:r>
              <a:rPr lang="en-US" dirty="0"/>
              <a:t>text of the printing and typesetting</a:t>
            </a:r>
            <a:br>
              <a:rPr lang="en-US" dirty="0"/>
            </a:br>
            <a:r>
              <a:rPr lang="en-US" dirty="0"/>
              <a:t>industry. Lorem Ipsum has been</a:t>
            </a:r>
            <a:br>
              <a:rPr lang="en-US" dirty="0"/>
            </a:br>
            <a:r>
              <a:rPr lang="en-US" dirty="0"/>
              <a:t>the industry's standard dummy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63313" y="7655253"/>
            <a:ext cx="10682129" cy="467486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 </a:t>
            </a:r>
          </a:p>
          <a:p>
            <a:pPr lvl="0"/>
            <a:r>
              <a:rPr lang="en-US" dirty="0"/>
              <a:t>Lorem Ipsum has been the industry's </a:t>
            </a:r>
            <a:br>
              <a:rPr lang="en-US" dirty="0"/>
            </a:br>
            <a:r>
              <a:rPr lang="en-US" dirty="0"/>
              <a:t>standard dummy text ever since the 1500s,</a:t>
            </a:r>
            <a:br>
              <a:rPr lang="en-US" dirty="0"/>
            </a:br>
            <a:r>
              <a:rPr lang="en-US" dirty="0"/>
              <a:t>when an unknown printer took a galley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23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672908"/>
            <a:ext cx="7129868" cy="247850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России 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548418"/>
            <a:ext cx="7129868" cy="27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820381"/>
            <a:ext cx="7129868" cy="8284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47487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5990107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115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19722471" y="5364110"/>
            <a:ext cx="3256513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</a:t>
            </a:r>
            <a:br>
              <a:rPr lang="en-US" dirty="0"/>
            </a:br>
            <a:r>
              <a:rPr lang="en-US" dirty="0"/>
              <a:t>dummy text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9665091" y="3326258"/>
            <a:ext cx="3313893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9824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7" y="2030650"/>
            <a:ext cx="6956483" cy="293014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is simply</a:t>
            </a:r>
            <a:br>
              <a:rPr lang="en-US" dirty="0"/>
            </a:br>
            <a:r>
              <a:rPr lang="en-US" dirty="0"/>
              <a:t>dummy text of the printing and typesetting industry</a:t>
            </a:r>
          </a:p>
          <a:p>
            <a:pPr lvl="0"/>
            <a:r>
              <a:rPr lang="en-US" dirty="0"/>
              <a:t>Lorem Ipsum has been</a:t>
            </a:r>
            <a:br>
              <a:rPr lang="en-US" dirty="0"/>
            </a:br>
            <a:r>
              <a:rPr lang="en-US" dirty="0"/>
              <a:t>the industry's standard dummy text ever since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347575" y="8534188"/>
            <a:ext cx="10738355" cy="9566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Lorem Ipsum Lorem</a:t>
            </a:r>
            <a:endParaRPr lang="ru-RU" dirty="0"/>
          </a:p>
        </p:txBody>
      </p:sp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3744860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1707008"/>
            <a:ext cx="3749905" cy="20378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16" hasCustomPrompt="1"/>
          </p:nvPr>
        </p:nvSpPr>
        <p:spPr>
          <a:xfrm>
            <a:off x="1298516" y="7096435"/>
            <a:ext cx="6135954" cy="2875509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«НИТУ «МИСИС» полноправно вошёл в «обойму» тех организаций, которые сотрудничают с CERN. Теперь НИТУ «МИСИС» — не только университет, блистающий в области новых материалов и технологий, но и организация, имеющая отношение к участию  России в самых ярких проектах в области</a:t>
            </a:r>
            <a:r>
              <a:rPr lang="en-US" dirty="0"/>
              <a:t> </a:t>
            </a:r>
            <a:r>
              <a:rPr lang="ru-RU" dirty="0"/>
              <a:t>физики частиц»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17" hasCustomPrompt="1"/>
          </p:nvPr>
        </p:nvSpPr>
        <p:spPr>
          <a:xfrm>
            <a:off x="1298516" y="10309875"/>
            <a:ext cx="6956484" cy="27196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1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Григорий Трубников</a:t>
            </a:r>
          </a:p>
        </p:txBody>
      </p:sp>
      <p:sp>
        <p:nvSpPr>
          <p:cNvPr id="14" name="Текст 6"/>
          <p:cNvSpPr>
            <a:spLocks noGrp="1"/>
          </p:cNvSpPr>
          <p:nvPr>
            <p:ph type="body" sz="quarter" idx="18" hasCustomPrompt="1"/>
          </p:nvPr>
        </p:nvSpPr>
        <p:spPr>
          <a:xfrm>
            <a:off x="1298516" y="10581838"/>
            <a:ext cx="6956484" cy="8291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заместитель министра науки </a:t>
            </a:r>
            <a:br>
              <a:rPr lang="ru-RU" dirty="0"/>
            </a:br>
            <a:r>
              <a:rPr lang="ru-RU" dirty="0"/>
              <a:t>и высшего образования РФ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4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63313" y="9448799"/>
            <a:ext cx="10738355" cy="29003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</a:t>
            </a:r>
            <a:br>
              <a:rPr lang="en-US" dirty="0"/>
            </a:br>
            <a:r>
              <a:rPr lang="en-US" dirty="0"/>
              <a:t>printing and typesetting industry Lorem Ipsum has been the industry's standard dummy text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3563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3655596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5399" y="5123398"/>
            <a:ext cx="6937375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5123397"/>
            <a:ext cx="6937374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2801" y="5123397"/>
            <a:ext cx="6938961" cy="6542999"/>
          </a:xfrm>
        </p:spPr>
        <p:txBody>
          <a:bodyPr>
            <a:noAutofit/>
          </a:bodyPr>
          <a:lstStyle>
            <a:lvl1pPr marL="723900" indent="-723900">
              <a:lnSpc>
                <a:spcPct val="100000"/>
              </a:lnSpc>
              <a:spcBef>
                <a:spcPts val="0"/>
              </a:spcBef>
              <a:buFontTx/>
              <a:buBlip>
                <a:blip r:embed="rId3"/>
              </a:buBlip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Организация и управление научно-образовательным</a:t>
            </a:r>
            <a:br>
              <a:rPr lang="ru-RU" dirty="0"/>
            </a:br>
            <a:r>
              <a:rPr lang="ru-RU" dirty="0"/>
              <a:t>процессом по программам</a:t>
            </a:r>
            <a:br>
              <a:rPr lang="ru-RU" dirty="0"/>
            </a:br>
            <a:r>
              <a:rPr lang="ru-RU" dirty="0"/>
              <a:t>подготовки научно-</a:t>
            </a:r>
            <a:br>
              <a:rPr lang="ru-RU" dirty="0"/>
            </a:br>
            <a:r>
              <a:rPr lang="ru-RU" dirty="0"/>
              <a:t>педагогических кадров</a:t>
            </a:r>
            <a:br>
              <a:rPr lang="ru-RU" dirty="0"/>
            </a:br>
            <a:r>
              <a:rPr lang="ru-RU" dirty="0"/>
              <a:t>в аспирантуре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ru-RU" dirty="0"/>
              <a:t>Разработка нормативной</a:t>
            </a:r>
            <a:br>
              <a:rPr lang="ru-RU" dirty="0"/>
            </a:br>
            <a:r>
              <a:rPr lang="ru-RU" dirty="0"/>
              <a:t>и методической документации</a:t>
            </a:r>
            <a:br>
              <a:rPr lang="ru-RU" dirty="0"/>
            </a:br>
            <a:r>
              <a:rPr lang="ru-RU" dirty="0"/>
              <a:t>по осуществлению </a:t>
            </a:r>
            <a:br>
              <a:rPr lang="ru-RU" dirty="0"/>
            </a:br>
            <a:r>
              <a:rPr lang="ru-RU" dirty="0"/>
              <a:t>научно-образовательной</a:t>
            </a:r>
            <a:br>
              <a:rPr lang="ru-RU" dirty="0"/>
            </a:br>
            <a:r>
              <a:rPr lang="ru-RU" dirty="0"/>
              <a:t>деятельности в аспирантуре</a:t>
            </a:r>
          </a:p>
        </p:txBody>
      </p:sp>
    </p:spTree>
    <p:extLst>
      <p:ext uri="{BB962C8B-B14F-4D97-AF65-F5344CB8AC3E}">
        <p14:creationId xmlns:p14="http://schemas.microsoft.com/office/powerpoint/2010/main" val="3236260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 userDrawn="1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формирует приоритетные направления научно-исследовательской деятельности университета </a:t>
            </a:r>
            <a:br>
              <a:rPr lang="ru-RU" dirty="0"/>
            </a:br>
            <a:r>
              <a:rPr lang="ru-RU" dirty="0"/>
              <a:t>с целью создания и освоения </a:t>
            </a:r>
            <a:br>
              <a:rPr lang="ru-RU" dirty="0"/>
            </a:br>
            <a:r>
              <a:rPr lang="ru-RU" dirty="0"/>
              <a:t>новых технологий, становления </a:t>
            </a:r>
            <a:br>
              <a:rPr lang="ru-RU" dirty="0"/>
            </a:br>
            <a:r>
              <a:rPr lang="ru-RU" dirty="0"/>
              <a:t>и развития научных школ</a:t>
            </a:r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1338232" y="7037794"/>
            <a:ext cx="6897051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Достижения науки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8674101" y="7037794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Научное сообщество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54389" y="7037793"/>
            <a:ext cx="6937374" cy="59355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События отрасли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4" hasCustomPrompt="1"/>
          </p:nvPr>
        </p:nvSpPr>
        <p:spPr>
          <a:xfrm>
            <a:off x="8674101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Управление науки занимается развитием научно-технического потенциала подразделений университета, отдельных сотрудников и университета</a:t>
            </a:r>
            <a:br>
              <a:rPr lang="ru-RU" dirty="0"/>
            </a:br>
            <a:r>
              <a:rPr lang="ru-RU" dirty="0"/>
              <a:t>в целом, способствует правовой охране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54996" y="7924800"/>
            <a:ext cx="6936767" cy="379571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Информация о реализуемых образовательных программах,</a:t>
            </a:r>
            <a:br>
              <a:rPr lang="ru-RU" dirty="0"/>
            </a:br>
            <a:r>
              <a:rPr lang="ru-RU" dirty="0"/>
              <a:t>в том числе о реализуемых адаптированных образователь-</a:t>
            </a:r>
            <a:br>
              <a:rPr lang="ru-RU" dirty="0"/>
            </a:br>
            <a:r>
              <a:rPr lang="ru-RU" dirty="0" err="1"/>
              <a:t>ных</a:t>
            </a:r>
            <a:r>
              <a:rPr lang="ru-RU" dirty="0"/>
              <a:t> программах, с указанием </a:t>
            </a:r>
            <a:br>
              <a:rPr lang="ru-RU" dirty="0"/>
            </a:br>
            <a:r>
              <a:rPr lang="ru-RU" dirty="0"/>
              <a:t>в отношении каждой </a:t>
            </a:r>
            <a:r>
              <a:rPr lang="ru-RU" dirty="0" err="1"/>
              <a:t>образо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 err="1"/>
              <a:t>вательной</a:t>
            </a:r>
            <a:r>
              <a:rPr lang="ru-RU" dirty="0"/>
              <a:t> программы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4776190"/>
            <a:ext cx="2217600" cy="18396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351" y="4599790"/>
            <a:ext cx="1764000" cy="2016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6300" y="4401790"/>
            <a:ext cx="1924670" cy="22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35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4572755"/>
            <a:ext cx="10627535" cy="77002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tx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has been the industry's standard dummy text ever since the 1500s, when an unknown printer took a galley </a:t>
            </a:r>
            <a:br>
              <a:rPr lang="en-US" dirty="0"/>
            </a:br>
            <a:r>
              <a:rPr lang="en-US" dirty="0"/>
              <a:t>of type and scrambled it to make a type </a:t>
            </a:r>
            <a:br>
              <a:rPr lang="en-US" dirty="0"/>
            </a:br>
            <a:r>
              <a:rPr lang="en-US" dirty="0"/>
              <a:t>specimen book. It has survived not only </a:t>
            </a:r>
            <a:br>
              <a:rPr lang="en-US" dirty="0"/>
            </a:br>
            <a:r>
              <a:rPr lang="en-US" dirty="0"/>
              <a:t>five centuries, but also the leap into electronic typesetting, remaining essentially unchanged. It was </a:t>
            </a:r>
            <a:r>
              <a:rPr lang="en-US" dirty="0" err="1"/>
              <a:t>popularised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1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16035339" y="5373052"/>
            <a:ext cx="6937374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1-е место</a:t>
            </a:r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16035946" y="6648450"/>
            <a:ext cx="6936767" cy="33147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 err="1"/>
              <a:t>cреди</a:t>
            </a:r>
            <a:r>
              <a:rPr lang="ru-RU" dirty="0"/>
              <a:t> вузов Проекта 5–100 </a:t>
            </a:r>
            <a:br>
              <a:rPr lang="ru-RU" dirty="0"/>
            </a:br>
            <a:r>
              <a:rPr lang="ru-RU" dirty="0"/>
              <a:t>по количеству публикаций </a:t>
            </a:r>
            <a:br>
              <a:rPr lang="ru-RU" dirty="0"/>
            </a:br>
            <a:r>
              <a:rPr lang="ru-RU" dirty="0"/>
              <a:t>в материаловедении </a:t>
            </a:r>
            <a:br>
              <a:rPr lang="ru-RU" dirty="0"/>
            </a:br>
            <a:r>
              <a:rPr lang="ru-RU" dirty="0"/>
              <a:t>в журналах первого квартиля по SNIP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3279" y="5430202"/>
            <a:ext cx="2167200" cy="18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15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7765" y="655320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  <a:p>
            <a:pPr lvl="0"/>
            <a:r>
              <a:rPr lang="en-US" dirty="0"/>
              <a:t>Lorem Ipsum is simply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4" name="Текст 6"/>
          <p:cNvSpPr>
            <a:spLocks noGrp="1"/>
          </p:cNvSpPr>
          <p:nvPr>
            <p:ph type="body" sz="quarter" idx="26" hasCustomPrompt="1"/>
          </p:nvPr>
        </p:nvSpPr>
        <p:spPr>
          <a:xfrm>
            <a:off x="1297765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5" y="9692640"/>
            <a:ext cx="10627535" cy="20574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</a:t>
            </a:r>
            <a:br>
              <a:rPr lang="en-US" dirty="0"/>
            </a:br>
            <a:r>
              <a:rPr lang="en-US" dirty="0"/>
              <a:t>of the printing and typesetting industry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878612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29" hasCustomPrompt="1"/>
          </p:nvPr>
        </p:nvSpPr>
        <p:spPr>
          <a:xfrm>
            <a:off x="12364228" y="6553200"/>
            <a:ext cx="10627535" cy="519684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  <a:br>
              <a:rPr lang="en-US" dirty="0"/>
            </a:br>
            <a:r>
              <a:rPr lang="en-US" dirty="0"/>
              <a:t>It has survived not only five centuries</a:t>
            </a:r>
          </a:p>
        </p:txBody>
      </p:sp>
      <p:sp>
        <p:nvSpPr>
          <p:cNvPr id="25" name="Текст 6"/>
          <p:cNvSpPr>
            <a:spLocks noGrp="1"/>
          </p:cNvSpPr>
          <p:nvPr>
            <p:ph type="body" sz="quarter" idx="30" hasCustomPrompt="1"/>
          </p:nvPr>
        </p:nvSpPr>
        <p:spPr>
          <a:xfrm>
            <a:off x="12364228" y="5646681"/>
            <a:ext cx="106275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</p:spTree>
    <p:extLst>
      <p:ext uri="{BB962C8B-B14F-4D97-AF65-F5344CB8AC3E}">
        <p14:creationId xmlns:p14="http://schemas.microsoft.com/office/powerpoint/2010/main" val="76621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е плашк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/>
          <p:cNvSpPr/>
          <p:nvPr userDrawn="1"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7" hasCustomPrompt="1"/>
          </p:nvPr>
        </p:nvSpPr>
        <p:spPr>
          <a:xfrm>
            <a:off x="1297766" y="5697107"/>
            <a:ext cx="9217834" cy="507691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baseline="0">
                <a:solidFill>
                  <a:schemeClr val="bg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is simply dummy text of the printing and typesetting industry. Lorem Ipsum has been the industry's standard dummy text ever since the 1500s, when an unknown printer took a galley of type and scrambled it to make a type specimen book.</a:t>
            </a:r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28" hasCustomPrompt="1"/>
          </p:nvPr>
        </p:nvSpPr>
        <p:spPr>
          <a:xfrm>
            <a:off x="1297765" y="4790588"/>
            <a:ext cx="9217835" cy="103986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 b="0" baseline="0">
                <a:solidFill>
                  <a:schemeClr val="accent2"/>
                </a:solidFill>
                <a:latin typeface="TT Norms Pro Medium" panose="020B0103030101020204" pitchFamily="34" charset="0"/>
              </a:defRPr>
            </a:lvl1pPr>
          </a:lstStyle>
          <a:p>
            <a:pPr lvl="0"/>
            <a:r>
              <a:rPr lang="en-US" dirty="0"/>
              <a:t>Lorem Ipsum Lorem</a:t>
            </a:r>
          </a:p>
        </p:txBody>
      </p:sp>
      <p:sp>
        <p:nvSpPr>
          <p:cNvPr id="21" name="Текст 6"/>
          <p:cNvSpPr>
            <a:spLocks noGrp="1"/>
          </p:cNvSpPr>
          <p:nvPr>
            <p:ph type="body" sz="quarter" idx="15" hasCustomPrompt="1"/>
          </p:nvPr>
        </p:nvSpPr>
        <p:spPr>
          <a:xfrm>
            <a:off x="12297582" y="4370696"/>
            <a:ext cx="3749905" cy="20974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62%</a:t>
            </a:r>
            <a:endParaRPr lang="ru-RU" dirty="0"/>
          </a:p>
        </p:txBody>
      </p:sp>
      <p:sp>
        <p:nvSpPr>
          <p:cNvPr id="23" name="Текст 6"/>
          <p:cNvSpPr>
            <a:spLocks noGrp="1"/>
          </p:cNvSpPr>
          <p:nvPr>
            <p:ph type="body" sz="quarter" idx="14" hasCustomPrompt="1"/>
          </p:nvPr>
        </p:nvSpPr>
        <p:spPr>
          <a:xfrm>
            <a:off x="12354962" y="6468184"/>
            <a:ext cx="3761338" cy="141972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</a:t>
            </a:r>
            <a:br>
              <a:rPr lang="en-US" dirty="0"/>
            </a:br>
            <a:r>
              <a:rPr lang="en-US" dirty="0"/>
              <a:t>is simply dummy</a:t>
            </a:r>
            <a:br>
              <a:rPr lang="en-US" dirty="0"/>
            </a:br>
            <a:r>
              <a:rPr lang="en-US" dirty="0"/>
              <a:t>text of the printing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510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516" y="7281725"/>
            <a:ext cx="10626783" cy="10507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What is Lorem Ipsum?</a:t>
            </a:r>
            <a:endParaRPr lang="ru-RU" dirty="0"/>
          </a:p>
        </p:txBody>
      </p:sp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6" y="8328993"/>
            <a:ext cx="14312959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Lorem Ipsum is simply dummy text of the printing and</a:t>
            </a:r>
            <a:br>
              <a:rPr lang="en-US" dirty="0"/>
            </a:br>
            <a:r>
              <a:rPr lang="en-US" dirty="0"/>
              <a:t>typesetting industry. Lorem Ipsum has been the industry's</a:t>
            </a:r>
            <a:br>
              <a:rPr lang="en-US" dirty="0"/>
            </a:br>
            <a:r>
              <a:rPr lang="en-US" dirty="0"/>
              <a:t>standard dummy text ever since the 1500s, when </a:t>
            </a:r>
            <a:br>
              <a:rPr lang="en-US" dirty="0"/>
            </a:br>
            <a:r>
              <a:rPr lang="en-US" dirty="0"/>
              <a:t>an unknown printer took a galley of type and scrambled</a:t>
            </a:r>
            <a:br>
              <a:rPr lang="en-US" dirty="0"/>
            </a:br>
            <a:r>
              <a:rPr lang="en-US" dirty="0"/>
              <a:t>it to make a type specimen book</a:t>
            </a:r>
            <a:endParaRPr lang="ru-RU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5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8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1298517" y="4572001"/>
            <a:ext cx="10626784" cy="367747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Стратегической целью НИТУ «МИСИС», согласно </a:t>
            </a:r>
            <a:br>
              <a:rPr lang="ru-RU" dirty="0"/>
            </a:br>
            <a:r>
              <a:rPr lang="ru-RU" dirty="0"/>
              <a:t>участию в Проекте «5–100», является вхождение </a:t>
            </a:r>
            <a:br>
              <a:rPr lang="ru-RU" dirty="0"/>
            </a:br>
            <a:r>
              <a:rPr lang="ru-RU" dirty="0"/>
              <a:t>и закрепление в числе ведущих мировых университетов </a:t>
            </a:r>
            <a:br>
              <a:rPr lang="ru-RU" dirty="0"/>
            </a:br>
            <a:r>
              <a:rPr lang="ru-RU" dirty="0"/>
              <a:t>по основным международным рейтингам (THE, QS), </a:t>
            </a:r>
            <a:br>
              <a:rPr lang="ru-RU" dirty="0"/>
            </a:br>
            <a:r>
              <a:rPr lang="ru-RU" dirty="0"/>
              <a:t>за счёт фундаментальных и прикладных исследований мирового уровня в материаловедении, нано- и </a:t>
            </a:r>
            <a:r>
              <a:rPr lang="ru-RU" dirty="0" err="1"/>
              <a:t>био</a:t>
            </a:r>
            <a:r>
              <a:rPr lang="ru-RU" dirty="0"/>
              <a:t>-</a:t>
            </a:r>
            <a:br>
              <a:rPr lang="ru-RU" dirty="0"/>
            </a:br>
            <a:r>
              <a:rPr lang="ru-RU" dirty="0"/>
              <a:t>технологиях, металлургии и горном деле.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6"/>
              </a:solidFill>
            </a:endParaRPr>
          </a:p>
        </p:txBody>
      </p:sp>
      <p:sp>
        <p:nvSpPr>
          <p:cNvPr id="12" name="Текст 6"/>
          <p:cNvSpPr>
            <a:spLocks noGrp="1"/>
          </p:cNvSpPr>
          <p:nvPr>
            <p:ph type="body" sz="quarter" idx="23" hasCustomPrompt="1"/>
          </p:nvPr>
        </p:nvSpPr>
        <p:spPr>
          <a:xfrm>
            <a:off x="4943270" y="8909945"/>
            <a:ext cx="6982029" cy="118014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3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ТОП-10</a:t>
            </a:r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25" hasCustomPrompt="1"/>
          </p:nvPr>
        </p:nvSpPr>
        <p:spPr>
          <a:xfrm>
            <a:off x="4956411" y="10189483"/>
            <a:ext cx="6968889" cy="137966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0" spc="-70" baseline="0">
                <a:solidFill>
                  <a:schemeClr val="bg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Среди лучших вузов России, </a:t>
            </a:r>
            <a:br>
              <a:rPr lang="ru-RU" dirty="0"/>
            </a:br>
            <a:r>
              <a:rPr lang="ru-RU" dirty="0"/>
              <a:t>по версии «Интерфакс»</a:t>
            </a:r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581" y="9141922"/>
            <a:ext cx="2286000" cy="189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09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</p:spTree>
    <p:extLst>
      <p:ext uri="{BB962C8B-B14F-4D97-AF65-F5344CB8AC3E}">
        <p14:creationId xmlns:p14="http://schemas.microsoft.com/office/powerpoint/2010/main" val="2522694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6035130" y="2029598"/>
            <a:ext cx="6956632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 данного</a:t>
            </a:r>
            <a:br>
              <a:rPr lang="ru-RU" dirty="0"/>
            </a:br>
            <a:r>
              <a:rPr lang="ru-RU" dirty="0"/>
              <a:t>блока информации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6056666" y="3664028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Постоянный поиск наиболее эффективных действующих</a:t>
            </a:r>
            <a:br>
              <a:rPr lang="ru-RU" dirty="0"/>
            </a:br>
            <a:r>
              <a:rPr lang="ru-RU" dirty="0"/>
              <a:t>веществ и их комбинаций,</a:t>
            </a:r>
            <a:br>
              <a:rPr lang="ru-RU" dirty="0"/>
            </a:br>
            <a:r>
              <a:rPr lang="ru-RU" dirty="0"/>
              <a:t>а также оригинальные</a:t>
            </a:r>
            <a:br>
              <a:rPr lang="ru-RU" dirty="0"/>
            </a:br>
            <a:r>
              <a:rPr lang="ru-RU" dirty="0"/>
              <a:t>инновационные препараты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в одну</a:t>
            </a:r>
            <a:br>
              <a:rPr lang="ru-RU" dirty="0"/>
            </a:br>
            <a:r>
              <a:rPr lang="ru-RU" dirty="0"/>
              <a:t>или несколько строк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42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2115691"/>
            <a:ext cx="10626783" cy="1103759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Заголовок раздела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>
          <a:xfrm>
            <a:off x="1298368" y="3512130"/>
            <a:ext cx="3259345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Таблица 2</a:t>
            </a:r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19"/>
          </p:nvPr>
        </p:nvSpPr>
        <p:spPr>
          <a:xfrm>
            <a:off x="1302654" y="12664440"/>
            <a:ext cx="6952346" cy="730250"/>
          </a:xfrm>
        </p:spPr>
        <p:txBody>
          <a:bodyPr/>
          <a:lstStyle>
            <a:lvl1pPr algn="l">
              <a:defRPr sz="1500">
                <a:solidFill>
                  <a:schemeClr val="tx2"/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  <a:endParaRPr lang="ru-RU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>
            <a:lvl1pPr>
              <a:defRPr sz="2300">
                <a:solidFill>
                  <a:schemeClr val="accent1"/>
                </a:solidFill>
              </a:defRPr>
            </a:lvl1pPr>
          </a:lstStyle>
          <a:p>
            <a:fld id="{66B5E2A4-72D4-4DC4-9470-54C0EE06E412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1" hasCustomPrompt="1"/>
          </p:nvPr>
        </p:nvSpPr>
        <p:spPr>
          <a:xfrm>
            <a:off x="8674101" y="12856752"/>
            <a:ext cx="6937374" cy="355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Докладчик (при необходимости)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</a:rPr>
              <a:t>misis.ru</a:t>
            </a:r>
            <a:endParaRPr lang="ru-RU" sz="1600" dirty="0">
              <a:solidFill>
                <a:schemeClr val="accent1"/>
              </a:solidFill>
            </a:endParaRPr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48" y="399072"/>
            <a:ext cx="2394000" cy="96194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7804" y="3512131"/>
            <a:ext cx="6937374" cy="105070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Сопроводительный текст</a:t>
            </a:r>
            <a:br>
              <a:rPr lang="ru-RU" dirty="0"/>
            </a:br>
            <a:r>
              <a:rPr lang="ru-RU" dirty="0"/>
              <a:t>к данной таблице</a:t>
            </a:r>
          </a:p>
        </p:txBody>
      </p:sp>
    </p:spTree>
    <p:extLst>
      <p:ext uri="{BB962C8B-B14F-4D97-AF65-F5344CB8AC3E}">
        <p14:creationId xmlns:p14="http://schemas.microsoft.com/office/powerpoint/2010/main" val="1398338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865" y="5430202"/>
            <a:ext cx="162178" cy="1260000"/>
          </a:xfrm>
          <a:prstGeom prst="rect">
            <a:avLst/>
          </a:prstGeom>
        </p:spPr>
      </p:pic>
      <p:sp>
        <p:nvSpPr>
          <p:cNvPr id="20" name="Текст 6"/>
          <p:cNvSpPr>
            <a:spLocks noGrp="1"/>
          </p:cNvSpPr>
          <p:nvPr>
            <p:ph type="body" sz="quarter" idx="22" hasCustomPrompt="1"/>
          </p:nvPr>
        </p:nvSpPr>
        <p:spPr>
          <a:xfrm>
            <a:off x="1298516" y="10086693"/>
            <a:ext cx="6937374" cy="265725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000">
                <a:solidFill>
                  <a:schemeClr val="tx2"/>
                </a:solidFill>
                <a:latin typeface="TT Norms Pro" panose="020B0103030101020204" pitchFamily="34" charset="0"/>
              </a:defRPr>
            </a:lvl1pPr>
          </a:lstStyle>
          <a:p>
            <a:pPr lvl="0"/>
            <a:r>
              <a:rPr lang="ru-RU" dirty="0"/>
              <a:t>Ленинский проспект, д. 4</a:t>
            </a:r>
            <a:br>
              <a:rPr lang="ru-RU" dirty="0"/>
            </a:br>
            <a:r>
              <a:rPr lang="ru-RU" dirty="0"/>
              <a:t>Москва, 119049</a:t>
            </a:r>
            <a:br>
              <a:rPr lang="ru-RU" dirty="0"/>
            </a:br>
            <a:r>
              <a:rPr lang="ru-RU" dirty="0"/>
              <a:t>тел. +7 (495) 955-00-32</a:t>
            </a:r>
            <a:br>
              <a:rPr lang="ru-RU" dirty="0"/>
            </a:br>
            <a:r>
              <a:rPr lang="ru-RU" dirty="0"/>
              <a:t>e-</a:t>
            </a:r>
            <a:r>
              <a:rPr lang="ru-RU" dirty="0" err="1"/>
              <a:t>mail</a:t>
            </a:r>
            <a:r>
              <a:rPr lang="ru-RU" dirty="0"/>
              <a:t>: kancela@misis.ru</a:t>
            </a:r>
            <a:br>
              <a:rPr lang="ru-RU" dirty="0"/>
            </a:br>
            <a:r>
              <a:rPr lang="ru-RU" dirty="0"/>
              <a:t>misis.ru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298516" y="7184650"/>
            <a:ext cx="10626783" cy="1878793"/>
          </a:xfrm>
        </p:spPr>
        <p:txBody>
          <a:bodyPr anchor="t">
            <a:noAutofit/>
          </a:bodyPr>
          <a:lstStyle>
            <a:lvl1pPr algn="l">
              <a:lnSpc>
                <a:spcPts val="6700"/>
              </a:lnSpc>
              <a:defRPr sz="73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658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Название презентации в одну или несколько строк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5E2A4-72D4-4DC4-9470-54C0EE06E41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53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</p:sldLayoutIdLst>
  <p:hf hdr="0"/>
  <p:txStyles>
    <p:titleStyle>
      <a:lvl1pPr algn="l" defTabSz="1828709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77" indent="-457177" algn="l" defTabSz="1828709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53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5886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240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594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9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l" defTabSz="18287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l" defTabSz="1828709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98515" y="4158222"/>
            <a:ext cx="13885337" cy="4314960"/>
          </a:xfrm>
        </p:spPr>
        <p:txBody>
          <a:bodyPr/>
          <a:lstStyle/>
          <a:p>
            <a:r>
              <a:rPr lang="ru-RU" sz="8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Тема</a:t>
            </a:r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8516" y="8830828"/>
            <a:ext cx="9952581" cy="2313500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rgbClr val="4F5468"/>
                </a:solidFill>
                <a:effectLst/>
                <a:latin typeface="+mj-lt"/>
              </a:rPr>
              <a:t>Студент:</a:t>
            </a:r>
            <a:br>
              <a:rPr lang="ru-RU" sz="3200" dirty="0">
                <a:solidFill>
                  <a:srgbClr val="4F5468"/>
                </a:solidFill>
                <a:effectLst/>
                <a:latin typeface="+mj-lt"/>
              </a:rPr>
            </a:br>
            <a:r>
              <a:rPr lang="ru-RU" sz="3200" dirty="0">
                <a:solidFill>
                  <a:srgbClr val="4F5468"/>
                </a:solidFill>
                <a:effectLst/>
                <a:latin typeface="+mj-lt"/>
              </a:rPr>
              <a:t>Группа:</a:t>
            </a:r>
            <a:br>
              <a:rPr lang="ru-RU" sz="3200" dirty="0">
                <a:solidFill>
                  <a:srgbClr val="4F5468"/>
                </a:solidFill>
                <a:effectLst/>
                <a:latin typeface="+mj-lt"/>
              </a:rPr>
            </a:br>
            <a:r>
              <a:rPr lang="ru-RU" sz="3200" dirty="0">
                <a:solidFill>
                  <a:srgbClr val="4F5468"/>
                </a:solidFill>
                <a:effectLst/>
                <a:latin typeface="+mj-lt"/>
              </a:rPr>
              <a:t>Научный руководитель:</a:t>
            </a:r>
          </a:p>
          <a:p>
            <a:endParaRPr lang="ru-RU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167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619113" y="1623295"/>
            <a:ext cx="22577318" cy="1182473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Актуальность проблемы</a:t>
            </a:r>
          </a:p>
        </p:txBody>
      </p:sp>
      <p:sp>
        <p:nvSpPr>
          <p:cNvPr id="11" name="Номер слайда 39">
            <a:extLst>
              <a:ext uri="{FF2B5EF4-FFF2-40B4-BE49-F238E27FC236}">
                <a16:creationId xmlns:a16="http://schemas.microsoft.com/office/drawing/2014/main" id="{43CF647E-9C98-618E-A1A7-1DF7153D2A1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9812000" y="12630986"/>
            <a:ext cx="3289668" cy="730250"/>
          </a:xfrm>
        </p:spPr>
        <p:txBody>
          <a:bodyPr/>
          <a:lstStyle/>
          <a:p>
            <a:fld id="{66B5E2A4-72D4-4DC4-9470-54C0EE06E412}" type="slidenum">
              <a:rPr lang="ru-RU" smtClean="0"/>
              <a:pPr/>
              <a:t>2</a:t>
            </a:fld>
            <a:r>
              <a:rPr lang="en-US" dirty="0"/>
              <a:t>/15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576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3323671" cy="1737165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Обзор научно-технических источников информации (если есть)</a:t>
            </a:r>
          </a:p>
        </p:txBody>
      </p:sp>
      <p:sp>
        <p:nvSpPr>
          <p:cNvPr id="40" name="Номер слайда 3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/>
              <a:pPr/>
              <a:t>3</a:t>
            </a:fld>
            <a:r>
              <a:rPr lang="en-US" dirty="0"/>
              <a:t>/15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793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302654" y="1692249"/>
            <a:ext cx="21116007" cy="1208351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Существующие решения</a:t>
            </a:r>
            <a:endParaRPr lang="ru-RU" sz="7200" b="1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Номер слайда 3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/>
              <a:pPr/>
              <a:t>4</a:t>
            </a:fld>
            <a:r>
              <a:rPr lang="en-US" dirty="0"/>
              <a:t>/15</a:t>
            </a:r>
            <a:endParaRPr lang="ru-RU" dirty="0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A73CAD3F-54F6-52FF-E9CB-A968E75440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0388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298516" y="2115691"/>
            <a:ext cx="13153464" cy="1737165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и постановка задач</a:t>
            </a:r>
          </a:p>
        </p:txBody>
      </p:sp>
      <p:sp>
        <p:nvSpPr>
          <p:cNvPr id="40" name="Номер слайда 3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/>
              <a:pPr/>
              <a:t>5</a:t>
            </a:fld>
            <a:r>
              <a:rPr lang="en-US" dirty="0"/>
              <a:t>/15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6ADD073-A171-CEBC-C97A-71C4A3B555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551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>
          <a:xfrm>
            <a:off x="1298516" y="2115692"/>
            <a:ext cx="16291652" cy="1060646"/>
          </a:xfrm>
        </p:spPr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Математическая модель/постановка</a:t>
            </a:r>
            <a:endParaRPr lang="ru-RU" sz="7200" b="1" dirty="0">
              <a:highlight>
                <a:srgbClr val="FFFF00"/>
              </a:highlight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Номер слайда 3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/>
              <a:pPr/>
              <a:t>6</a:t>
            </a:fld>
            <a:r>
              <a:rPr lang="en-US" dirty="0"/>
              <a:t>/15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7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sp>
        <p:nvSpPr>
          <p:cNvPr id="40" name="Номер слайда 3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6B5E2A4-72D4-4DC4-9470-54C0EE06E412}" type="slidenum">
              <a:rPr lang="ru-RU" smtClean="0"/>
              <a:pPr/>
              <a:t>7</a:t>
            </a:fld>
            <a:r>
              <a:rPr lang="en-US" dirty="0"/>
              <a:t>/15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817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22"/>
          </p:nvPr>
        </p:nvSpPr>
        <p:spPr>
          <a:xfrm>
            <a:off x="1298515" y="10086693"/>
            <a:ext cx="9406655" cy="2657259"/>
          </a:xfrm>
        </p:spPr>
        <p:txBody>
          <a:bodyPr/>
          <a:lstStyle/>
          <a:p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Ленинский проспект, д. 4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Москва, 119049</a:t>
            </a:r>
            <a:b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e-mail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m2100982</a:t>
            </a:r>
            <a:r>
              <a:rPr lang="ru-RU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@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ru-RU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misis.ru</a:t>
            </a:r>
            <a:endParaRPr lang="ru-RU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Спасибо</a:t>
            </a:r>
            <a:b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7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912671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7b046ea12b569ac8bf86d82b576cb1034ccd2f"/>
</p:tagLst>
</file>

<file path=ppt/theme/theme1.xml><?xml version="1.0" encoding="utf-8"?>
<a:theme xmlns:a="http://schemas.openxmlformats.org/drawingml/2006/main" name="Misis">
  <a:themeElements>
    <a:clrScheme name="MISIS">
      <a:dk1>
        <a:sysClr val="windowText" lastClr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Другая 9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9050</TotalTime>
  <Words>315</Words>
  <Application>Microsoft Macintosh PowerPoint</Application>
  <PresentationFormat>Произвольный</PresentationFormat>
  <Paragraphs>59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Calibri</vt:lpstr>
      <vt:lpstr>Arial</vt:lpstr>
      <vt:lpstr>Tahoma</vt:lpstr>
      <vt:lpstr>TT Norms Pro Medium</vt:lpstr>
      <vt:lpstr>TT Norms Pro</vt:lpstr>
      <vt:lpstr>Misis</vt:lpstr>
      <vt:lpstr>Тема</vt:lpstr>
      <vt:lpstr>Актуальность проблемы</vt:lpstr>
      <vt:lpstr>Обзор научно-технических источников информации (если есть)</vt:lpstr>
      <vt:lpstr>Существующие решения</vt:lpstr>
      <vt:lpstr>Цель и постановка задач</vt:lpstr>
      <vt:lpstr>Математическая модель/постановка</vt:lpstr>
      <vt:lpstr>Результаты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ДД</dc:creator>
  <cp:lastModifiedBy>Валова Анастасия Александровна</cp:lastModifiedBy>
  <cp:revision>115</cp:revision>
  <dcterms:created xsi:type="dcterms:W3CDTF">2022-07-26T11:52:44Z</dcterms:created>
  <dcterms:modified xsi:type="dcterms:W3CDTF">2026-03-11T14:41:33Z</dcterms:modified>
</cp:coreProperties>
</file>