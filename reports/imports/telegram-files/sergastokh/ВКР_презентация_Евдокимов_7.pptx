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7"/>
  </p:notesMasterIdLst>
  <p:sldIdLst>
    <p:sldId id="256" r:id="rId2"/>
    <p:sldId id="262" r:id="rId3"/>
    <p:sldId id="263" r:id="rId4"/>
    <p:sldId id="312" r:id="rId5"/>
    <p:sldId id="294" r:id="rId6"/>
    <p:sldId id="313" r:id="rId7"/>
    <p:sldId id="295" r:id="rId8"/>
    <p:sldId id="289" r:id="rId9"/>
    <p:sldId id="296" r:id="rId10"/>
    <p:sldId id="314" r:id="rId11"/>
    <p:sldId id="315" r:id="rId12"/>
    <p:sldId id="316" r:id="rId13"/>
    <p:sldId id="317" r:id="rId14"/>
    <p:sldId id="318" r:id="rId15"/>
    <p:sldId id="282" r:id="rId16"/>
  </p:sldIdLst>
  <p:sldSz cx="24382413" cy="13716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Tahoma" panose="020B0604030504040204" pitchFamily="34" charset="0"/>
      <p:regular r:id="rId19"/>
      <p:bold r:id="rId20"/>
      <p:italic r:id="rId21"/>
    </p:embeddedFont>
    <p:embeddedFont>
      <p:font typeface="TT Norms Pro" panose="02000503030000090003" charset="0"/>
      <p:regular r:id="rId22"/>
      <p:bold r:id="rId23"/>
      <p:italic r:id="rId24"/>
      <p:boldItalic r:id="rId25"/>
    </p:embeddedFont>
    <p:embeddedFont>
      <p:font typeface="TT Norms Pro Medium" panose="02000803020000090003" charset="0"/>
      <p:regular r:id="rId26"/>
      <p:italic r:id="rId27"/>
    </p:embeddedFont>
  </p:embeddedFontLst>
  <p:custDataLst>
    <p:tags r:id="rId28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74" y="1212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14:40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7214 2008 16383 0 0,'2'0'0'0'0,"0"0"0"0"0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83D0-02A6-3EDB-A084-A40B5BBE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0E3E0C-8B7E-3F8B-4BB6-F88CC877A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86DE4C-ABAD-89FC-837B-DDB396ACB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6D8515-2CE0-A3D5-2732-B2DDCB7CB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12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61C-9543-57F3-9C2E-D4BFEF6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CD46EB-9D63-ABD8-EDDA-C9DEE31A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183C7-2753-476F-C4F0-0B0B3D837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7FC851-D523-03AB-C0E1-CE82475F3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0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05C0-4E4C-514E-283B-2367DABD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261A0A7-2550-E115-991A-7EAAF7C73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C6CC622-38A9-A5E7-2AC7-7F5CA52B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3C8B11-C392-5AFD-6171-B63F5AECC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28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4241-A454-95AE-4F1B-5BE2AD59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EA578-901D-B0FA-1FB4-1B4F36F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DDD21A-1E8B-1AD5-BFCD-09D5CFBD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E1536-CC36-01D2-B302-416B8AE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6047-F300-9FA2-D38A-D6161F6A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38A95D-9691-37A6-9807-A0E91DEC1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FA023C-9C6E-1027-BD9D-25DD7965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28E0A0-F704-DC60-24BA-D43ACF622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87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F242-1A68-18FE-1DB4-BC9872E8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2E8E7-8165-673E-81B1-C3A0FB39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FAC0F-3A68-CB10-B0CA-17A7461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391BC-FB0E-0CE5-9A56-1D222FFEE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3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C791-9689-B3E3-246C-33F0FEBC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03BFEF-0815-709B-A763-E7E69B743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8E5D1A-B5E7-6532-13CC-E4E9578F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D41DCB-6E6A-E5B6-B3CD-3DB3A39BB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60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5E75-2D3B-2EA4-69C2-08973833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25F40A-777D-7463-D108-14FFA5A8F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3EEA3A-BCC8-3E08-6AC5-09F1E88D3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F45708-2E8E-C486-55AB-CCC68B2D6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130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B649-672C-BAE3-7B7E-2E03E8B7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2780AB9-4BCE-EED6-6643-3B62268F7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C2254B-35DE-5E95-C5AD-8A7204950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D9A261-F91A-9191-551E-28121FDB8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6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BE33-657E-63F7-2AA8-F09F7DE9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1275EF-A489-CA85-CA63-458A6B30C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2041A0-164A-5D13-8CF0-BCDFE2144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A68023-77E5-B074-1429-BFABD2D6F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771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85DD-F29D-39CD-5B6B-6F6F30F0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F5D1D5-56F2-D211-5097-472E2521F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B280AE7-17A5-2FC7-7C75-EC75956E4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407E73-32F8-5DFE-79D9-1D4C2C546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20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7033-2652-2630-1D0B-3814ABF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9A632F-585A-280F-BCB8-261AD5A5E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698374-A389-4918-2DB1-E58D3ADE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A96792-5570-E824-D1EE-2E128099E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/>
              <a:t>Заголовок презентации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Фамилия Имя Отчество</a:t>
            </a:r>
            <a:br>
              <a:rPr lang="ru-RU"/>
            </a:br>
            <a:r>
              <a:rPr lang="ru-RU"/>
              <a:t>Должность спикера в одну</a:t>
            </a:r>
            <a:br>
              <a:rPr lang="ru-RU"/>
            </a:br>
            <a:r>
              <a:rPr lang="ru-RU"/>
              <a:t>или более строк 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ru-RU"/>
            </a:br>
            <a:r>
              <a:rPr lang="ru-RU"/>
              <a:t>презентации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Подзаголовок в одну, две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  </a:t>
            </a:r>
            <a:r>
              <a:rPr lang="ru-RU"/>
              <a:t>Заголовок</a:t>
            </a:r>
            <a:br>
              <a:rPr lang="ru-RU"/>
            </a:br>
            <a:r>
              <a:rPr lang="en-US"/>
              <a:t>       </a:t>
            </a:r>
            <a:r>
              <a:rPr lang="ru-RU"/>
              <a:t>раздела</a:t>
            </a:r>
            <a:br>
              <a:rPr lang="ru-RU"/>
            </a:br>
            <a:r>
              <a:rPr lang="ru-RU"/>
              <a:t>или главы</a:t>
            </a:r>
            <a:br>
              <a:rPr lang="ru-RU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en-US"/>
            </a:br>
            <a:r>
              <a:rPr lang="en-US"/>
              <a:t>     </a:t>
            </a:r>
            <a:r>
              <a:rPr lang="ru-RU"/>
              <a:t>короткий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ru-RU"/>
            </a:br>
            <a:r>
              <a:rPr lang="ru-RU"/>
              <a:t>раздела</a:t>
            </a:r>
            <a:br>
              <a:rPr lang="ru-RU"/>
            </a:br>
            <a:r>
              <a:rPr lang="ru-RU"/>
              <a:t>или главы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При наличии может</a:t>
            </a:r>
            <a:br>
              <a:rPr lang="ru-RU"/>
            </a:br>
            <a:r>
              <a:rPr lang="ru-RU"/>
              <a:t>размещаться общая</a:t>
            </a:r>
            <a:br>
              <a:rPr lang="ru-RU"/>
            </a:br>
            <a:r>
              <a:rPr lang="ru-RU"/>
              <a:t>информация данного</a:t>
            </a:r>
            <a:br>
              <a:rPr lang="ru-RU"/>
            </a:br>
            <a:r>
              <a:rPr lang="ru-RU"/>
              <a:t>раздела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</a:t>
            </a:r>
            <a:br>
              <a:rPr lang="en-US"/>
            </a:br>
            <a:r>
              <a:rPr lang="en-US"/>
              <a:t>of the printing and typesetting industry</a:t>
            </a:r>
            <a:br>
              <a:rPr lang="en-US"/>
            </a:br>
            <a:br>
              <a:rPr lang="en-US"/>
            </a:br>
            <a:r>
              <a:rPr lang="en-US"/>
              <a:t>Lorem Ipsum has been the industry's</a:t>
            </a:r>
            <a:br>
              <a:rPr lang="en-US"/>
            </a:br>
            <a:r>
              <a:rPr lang="en-US"/>
              <a:t>standard dummy text ever since the 1500s, when an unknown printer took a galley</a:t>
            </a:r>
            <a:br>
              <a:rPr lang="en-US"/>
            </a:br>
            <a:r>
              <a:rPr lang="en-US"/>
              <a:t>of type and scrambled it to make a type</a:t>
            </a:r>
            <a:br>
              <a:rPr lang="en-US"/>
            </a:br>
            <a:r>
              <a:rPr lang="en-US"/>
              <a:t>specimen book</a:t>
            </a:r>
            <a:endParaRPr lang="ru-RU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is simply dummy text</a:t>
            </a:r>
            <a:br>
              <a:rPr lang="en-US"/>
            </a:br>
            <a:r>
              <a:rPr lang="en-US"/>
              <a:t>Lorem Ipsum is simply 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72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«Хотел бы отметить особую роль НИТУ «</a:t>
            </a:r>
            <a:r>
              <a:rPr lang="ru-RU" err="1"/>
              <a:t>МИСиС</a:t>
            </a:r>
            <a:r>
              <a:rPr lang="ru-RU"/>
              <a:t>»</a:t>
            </a:r>
            <a:br>
              <a:rPr lang="ru-RU"/>
            </a:br>
            <a:r>
              <a:rPr lang="ru-RU"/>
              <a:t>в подготовке специалистов для предприятий ОМК.</a:t>
            </a:r>
            <a:br>
              <a:rPr lang="ru-RU"/>
            </a:br>
            <a:r>
              <a:rPr lang="ru-RU"/>
              <a:t>Блестящее качество образования и глубина знаний</a:t>
            </a:r>
            <a:br>
              <a:rPr lang="ru-RU"/>
            </a:br>
            <a:r>
              <a:rPr lang="ru-RU"/>
              <a:t>наших сотрудников, уникальные учебные программы</a:t>
            </a:r>
            <a:br>
              <a:rPr lang="ru-RU"/>
            </a:br>
            <a:r>
              <a:rPr lang="ru-RU"/>
              <a:t>университета, в том числе разработанные специально</a:t>
            </a:r>
            <a:br>
              <a:rPr lang="ru-RU"/>
            </a:br>
            <a:r>
              <a:rPr lang="ru-RU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Председатель правления АО «ОМК».</a:t>
            </a:r>
            <a:br>
              <a:rPr lang="ru-RU"/>
            </a:br>
            <a:r>
              <a:rPr lang="ru-RU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is simply dummy</a:t>
            </a:r>
            <a:br>
              <a:rPr lang="en-US"/>
            </a:br>
            <a:r>
              <a:rPr lang="en-US"/>
              <a:t>text of the printing and typesetting</a:t>
            </a:r>
            <a:br>
              <a:rPr lang="en-US"/>
            </a:br>
            <a:r>
              <a:rPr lang="en-US"/>
              <a:t>industry. Lorem Ipsum has been</a:t>
            </a:r>
            <a:br>
              <a:rPr lang="en-US"/>
            </a:br>
            <a:r>
              <a:rPr lang="en-US"/>
              <a:t>the industry's standard dummy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has been the industry's </a:t>
            </a:r>
            <a:br>
              <a:rPr lang="en-US"/>
            </a:br>
            <a:r>
              <a:rPr lang="en-US"/>
              <a:t>standard dummy text ever since the 1500s,</a:t>
            </a:r>
            <a:br>
              <a:rPr lang="en-US"/>
            </a:br>
            <a:r>
              <a:rPr lang="en-US"/>
              <a:t>when an unknown printer took a galley </a:t>
            </a:r>
          </a:p>
          <a:p>
            <a:pPr lvl="0"/>
            <a:r>
              <a:rPr lang="en-US"/>
              <a:t>Lorem Ipsum has been the industry's </a:t>
            </a:r>
            <a:br>
              <a:rPr lang="en-US"/>
            </a:br>
            <a:r>
              <a:rPr lang="en-US"/>
              <a:t>standard dummy text ever since the 1500s,</a:t>
            </a:r>
            <a:br>
              <a:rPr lang="en-US"/>
            </a:br>
            <a:r>
              <a:rPr lang="en-US"/>
              <a:t>when an unknown printer took a galley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23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/>
              <a:t> </a:t>
            </a:r>
            <a:r>
              <a:rPr lang="ru-RU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заместитель министра науки </a:t>
            </a:r>
            <a:br>
              <a:rPr lang="ru-RU"/>
            </a:br>
            <a:r>
              <a:rPr lang="ru-RU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115</a:t>
            </a:r>
            <a:endParaRPr lang="ru-RU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8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is simply</a:t>
            </a:r>
            <a:br>
              <a:rPr lang="en-US"/>
            </a:br>
            <a:r>
              <a:rPr lang="en-US"/>
              <a:t>dummy text of the printing and typesetting industry</a:t>
            </a:r>
          </a:p>
          <a:p>
            <a:pPr lvl="0"/>
            <a:r>
              <a:rPr lang="en-US"/>
              <a:t>Lorem Ipsum has been</a:t>
            </a:r>
            <a:br>
              <a:rPr lang="en-US"/>
            </a:br>
            <a:r>
              <a:rPr lang="en-US"/>
              <a:t>the industry's standard dummy text ever since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Lorem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 dummy</a:t>
            </a:r>
            <a:br>
              <a:rPr lang="en-US"/>
            </a:br>
            <a:r>
              <a:rPr lang="en-US"/>
              <a:t>text of the printing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62%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/>
              <a:t> </a:t>
            </a:r>
            <a:r>
              <a:rPr lang="ru-RU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заместитель министра науки </a:t>
            </a:r>
            <a:br>
              <a:rPr lang="ru-RU"/>
            </a:br>
            <a:r>
              <a:rPr lang="ru-RU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text of the</a:t>
            </a:r>
            <a:br>
              <a:rPr lang="en-US"/>
            </a:br>
            <a:r>
              <a:rPr lang="en-US"/>
              <a:t>printing and typesetting industry Lorem Ipsum has been the industry's standard dummy text 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/>
            </a:br>
            <a:r>
              <a:rPr lang="ru-RU"/>
              <a:t>с целью создания и освоения </a:t>
            </a:r>
            <a:br>
              <a:rPr lang="ru-RU"/>
            </a:br>
            <a:r>
              <a:rPr lang="ru-RU"/>
              <a:t>новых технологий, становления </a:t>
            </a:r>
            <a:br>
              <a:rPr lang="ru-RU"/>
            </a:br>
            <a:r>
              <a:rPr lang="ru-RU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/>
            </a:br>
            <a:r>
              <a:rPr lang="ru-RU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Информация о реализуемых образовательных программах,</a:t>
            </a:r>
            <a:br>
              <a:rPr lang="ru-RU"/>
            </a:br>
            <a:r>
              <a:rPr lang="ru-RU"/>
              <a:t>в том числе о реализуемых адаптированных образователь-</a:t>
            </a:r>
            <a:br>
              <a:rPr lang="ru-RU"/>
            </a:br>
            <a:r>
              <a:rPr lang="ru-RU" err="1"/>
              <a:t>ных</a:t>
            </a:r>
            <a:r>
              <a:rPr lang="ru-RU"/>
              <a:t> программах, с указанием </a:t>
            </a:r>
            <a:br>
              <a:rPr lang="ru-RU"/>
            </a:br>
            <a:r>
              <a:rPr lang="ru-RU"/>
              <a:t>в отношении каждой </a:t>
            </a:r>
            <a:r>
              <a:rPr lang="ru-RU" err="1"/>
              <a:t>образо</a:t>
            </a:r>
            <a:r>
              <a:rPr lang="ru-RU"/>
              <a:t>-</a:t>
            </a:r>
            <a:br>
              <a:rPr lang="ru-RU"/>
            </a:br>
            <a:r>
              <a:rPr lang="ru-RU" err="1"/>
              <a:t>вательной</a:t>
            </a:r>
            <a:r>
              <a:rPr lang="ru-RU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  <a:p>
            <a:pPr lvl="0"/>
            <a:r>
              <a:rPr lang="en-US"/>
              <a:t>Lorem Ipsum has been the industry's standard dummy text ever since the 1500s, when an unknown printer took a galley </a:t>
            </a:r>
            <a:br>
              <a:rPr lang="en-US"/>
            </a:br>
            <a:r>
              <a:rPr lang="en-US"/>
              <a:t>of type and scrambled it to make a type </a:t>
            </a:r>
            <a:br>
              <a:rPr lang="en-US"/>
            </a:br>
            <a:r>
              <a:rPr lang="en-US"/>
              <a:t>specimen book. It has survived not only </a:t>
            </a:r>
            <a:br>
              <a:rPr lang="en-US"/>
            </a:br>
            <a:r>
              <a:rPr lang="en-US"/>
              <a:t>five centuries, but also the leap into electronic typesetting, remaining essentially unchanged. It was </a:t>
            </a:r>
            <a:r>
              <a:rPr lang="en-US" err="1"/>
              <a:t>popularised</a:t>
            </a:r>
            <a:endParaRPr lang="en-US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err="1"/>
              <a:t>cреди</a:t>
            </a:r>
            <a:r>
              <a:rPr lang="ru-RU"/>
              <a:t> вузов Проекта 5–100 </a:t>
            </a:r>
            <a:br>
              <a:rPr lang="ru-RU"/>
            </a:br>
            <a:r>
              <a:rPr lang="ru-RU"/>
              <a:t>по количеству публикаций </a:t>
            </a:r>
            <a:br>
              <a:rPr lang="ru-RU"/>
            </a:br>
            <a:r>
              <a:rPr lang="ru-RU"/>
              <a:t>в материаловедении </a:t>
            </a:r>
            <a:br>
              <a:rPr lang="ru-RU"/>
            </a:br>
            <a:r>
              <a:rPr lang="ru-RU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  <a:p>
            <a:pPr lvl="0"/>
            <a:r>
              <a:rPr lang="en-US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/>
            </a:br>
            <a:r>
              <a:rPr lang="en-US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62%</a:t>
            </a:r>
            <a:endParaRPr lang="ru-RU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 dummy</a:t>
            </a:r>
            <a:br>
              <a:rPr lang="en-US"/>
            </a:br>
            <a:r>
              <a:rPr lang="en-US"/>
              <a:t>text of the printing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text of the printing and</a:t>
            </a:r>
            <a:br>
              <a:rPr lang="en-US"/>
            </a:br>
            <a:r>
              <a:rPr lang="en-US"/>
              <a:t>typesetting industry. Lorem Ipsum has been the industry's</a:t>
            </a:r>
            <a:br>
              <a:rPr lang="en-US"/>
            </a:br>
            <a:r>
              <a:rPr lang="en-US"/>
              <a:t>standard dummy text ever since the 1500s, when </a:t>
            </a:r>
            <a:br>
              <a:rPr lang="en-US"/>
            </a:br>
            <a:r>
              <a:rPr lang="en-US"/>
              <a:t>an unknown printer took a galley of type and scrambled</a:t>
            </a:r>
            <a:br>
              <a:rPr lang="en-US"/>
            </a:br>
            <a:r>
              <a:rPr lang="en-US"/>
              <a:t>it to make a type specimen book</a:t>
            </a:r>
            <a:endParaRPr lang="ru-RU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Стратегической целью НИТУ «МИСИС», согласно </a:t>
            </a:r>
            <a:br>
              <a:rPr lang="ru-RU"/>
            </a:br>
            <a:r>
              <a:rPr lang="ru-RU"/>
              <a:t>участию в Проекте «5–100», является вхождение </a:t>
            </a:r>
            <a:br>
              <a:rPr lang="ru-RU"/>
            </a:br>
            <a:r>
              <a:rPr lang="ru-RU"/>
              <a:t>и закрепление в числе ведущих мировых университетов </a:t>
            </a:r>
            <a:br>
              <a:rPr lang="ru-RU"/>
            </a:br>
            <a:r>
              <a:rPr lang="ru-RU"/>
              <a:t>по основным международным рейтингам (THE, QS), </a:t>
            </a:r>
            <a:br>
              <a:rPr lang="ru-RU"/>
            </a:br>
            <a:r>
              <a:rPr lang="ru-RU"/>
              <a:t>за счёт фундаментальных и прикладных исследований мирового уровня в материаловедении, нано- и </a:t>
            </a:r>
            <a:r>
              <a:rPr lang="ru-RU" err="1"/>
              <a:t>био</a:t>
            </a:r>
            <a:r>
              <a:rPr lang="ru-RU"/>
              <a:t>-</a:t>
            </a:r>
            <a:br>
              <a:rPr lang="ru-RU"/>
            </a:br>
            <a:r>
              <a:rPr lang="ru-RU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Среди лучших вузов России, </a:t>
            </a:r>
            <a:br>
              <a:rPr lang="ru-RU"/>
            </a:br>
            <a:r>
              <a:rPr lang="ru-RU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Название данного</a:t>
            </a:r>
            <a:br>
              <a:rPr lang="ru-RU"/>
            </a:br>
            <a:r>
              <a:rPr lang="ru-RU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Постоянный поиск наиболее эффективных действующих</a:t>
            </a:r>
            <a:br>
              <a:rPr lang="ru-RU"/>
            </a:br>
            <a:r>
              <a:rPr lang="ru-RU"/>
              <a:t>веществ и их комбинаций,</a:t>
            </a:r>
            <a:br>
              <a:rPr lang="ru-RU"/>
            </a:br>
            <a:r>
              <a:rPr lang="ru-RU"/>
              <a:t>а также оригинальные</a:t>
            </a:r>
            <a:br>
              <a:rPr lang="ru-RU"/>
            </a:br>
            <a:r>
              <a:rPr lang="ru-RU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Название данного</a:t>
            </a:r>
            <a:br>
              <a:rPr lang="ru-RU"/>
            </a:br>
            <a:r>
              <a:rPr lang="ru-RU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Постоянный поиск наиболее эффективных действующих</a:t>
            </a:r>
            <a:br>
              <a:rPr lang="ru-RU"/>
            </a:br>
            <a:r>
              <a:rPr lang="ru-RU"/>
              <a:t>веществ и их комбинаций,</a:t>
            </a:r>
            <a:br>
              <a:rPr lang="ru-RU"/>
            </a:br>
            <a:r>
              <a:rPr lang="ru-RU"/>
              <a:t>а также оригинальные</a:t>
            </a:r>
            <a:br>
              <a:rPr lang="ru-RU"/>
            </a:br>
            <a:r>
              <a:rPr lang="ru-RU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Сопроводительный текст</a:t>
            </a:r>
            <a:br>
              <a:rPr lang="ru-RU"/>
            </a:br>
            <a:r>
              <a:rPr lang="ru-RU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Ленинский проспект, д. 4</a:t>
            </a:r>
            <a:br>
              <a:rPr lang="ru-RU"/>
            </a:br>
            <a:r>
              <a:rPr lang="ru-RU"/>
              <a:t>Москва, 119049</a:t>
            </a:r>
            <a:br>
              <a:rPr lang="ru-RU"/>
            </a:br>
            <a:r>
              <a:rPr lang="ru-RU"/>
              <a:t>тел. +7 (495) 955-00-32</a:t>
            </a:r>
            <a:br>
              <a:rPr lang="ru-RU"/>
            </a:br>
            <a:r>
              <a:rPr lang="ru-RU"/>
              <a:t>e-</a:t>
            </a:r>
            <a:r>
              <a:rPr lang="ru-RU" err="1"/>
              <a:t>mail</a:t>
            </a:r>
            <a:r>
              <a:rPr lang="ru-RU"/>
              <a:t>: kancela@misis.ru</a:t>
            </a:r>
            <a:br>
              <a:rPr lang="ru-RU"/>
            </a:br>
            <a:r>
              <a:rPr lang="ru-RU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Спасибо</a:t>
            </a:r>
            <a:br>
              <a:rPr lang="ru-RU"/>
            </a:br>
            <a:r>
              <a:rPr lang="ru-RU"/>
              <a:t>за внимание!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уллиты">
  <p:cSld name="Буллиты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ctrTitle"/>
          </p:nvPr>
        </p:nvSpPr>
        <p:spPr>
          <a:xfrm>
            <a:off x="1298516" y="2115691"/>
            <a:ext cx="10626900" cy="11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Tahoma"/>
              <a:buNone/>
              <a:defRPr sz="7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>
            <a:spLocks noGrp="1"/>
          </p:cNvSpPr>
          <p:nvPr>
            <p:ph type="body" idx="1"/>
          </p:nvPr>
        </p:nvSpPr>
        <p:spPr>
          <a:xfrm>
            <a:off x="1298516" y="3655596"/>
            <a:ext cx="10626900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2"/>
          </p:nvPr>
        </p:nvSpPr>
        <p:spPr>
          <a:xfrm>
            <a:off x="1295399" y="5123398"/>
            <a:ext cx="69375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ftr" idx="11"/>
          </p:nvPr>
        </p:nvSpPr>
        <p:spPr>
          <a:xfrm>
            <a:off x="1302654" y="12664440"/>
            <a:ext cx="695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sldNum" idx="12"/>
          </p:nvPr>
        </p:nvSpPr>
        <p:spPr>
          <a:xfrm>
            <a:off x="19812000" y="12630986"/>
            <a:ext cx="3289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body" idx="3"/>
          </p:nvPr>
        </p:nvSpPr>
        <p:spPr>
          <a:xfrm>
            <a:off x="8674101" y="12856752"/>
            <a:ext cx="6937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19812000" y="655721"/>
            <a:ext cx="327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misis.ru</a:t>
            </a:r>
            <a:endParaRPr sz="1600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5648" y="399072"/>
            <a:ext cx="2394001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>
            <a:spLocks noGrp="1"/>
          </p:cNvSpPr>
          <p:nvPr>
            <p:ph type="body" idx="4"/>
          </p:nvPr>
        </p:nvSpPr>
        <p:spPr>
          <a:xfrm>
            <a:off x="8674101" y="5123397"/>
            <a:ext cx="69375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body" idx="5"/>
          </p:nvPr>
        </p:nvSpPr>
        <p:spPr>
          <a:xfrm>
            <a:off x="16052801" y="5123397"/>
            <a:ext cx="69390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63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96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13789084" cy="3838664"/>
          </a:xfrm>
        </p:spPr>
        <p:txBody>
          <a:bodyPr/>
          <a:lstStyle/>
          <a:p>
            <a:r>
              <a:rPr lang="ru-RU" sz="5400" b="1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11296490" cy="199955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Студент: Евдокимов Василий Максимович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Группа: БИВТ-22-СП-1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Научный руководитель: к.т.н. доцент кафедры АСУ Бондаренко Инна Сергеевна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>
              <a:ea typeface="Tahoma"/>
              <a:cs typeface="Tahoma"/>
            </a:endParaRP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 проведения (пример: 12.04.2023)</a:t>
            </a:r>
          </a:p>
        </p:txBody>
      </p:sp>
      <p:sp>
        <p:nvSpPr>
          <p:cNvPr id="2" name="Дата 11">
            <a:extLst>
              <a:ext uri="{FF2B5EF4-FFF2-40B4-BE49-F238E27FC236}">
                <a16:creationId xmlns:a16="http://schemas.microsoft.com/office/drawing/2014/main" id="{EC80368E-2407-E700-0EAC-FFDA58FBA3C2}"/>
              </a:ext>
            </a:extLst>
          </p:cNvPr>
          <p:cNvSpPr txBox="1">
            <a:spLocks/>
          </p:cNvSpPr>
          <p:nvPr/>
        </p:nvSpPr>
        <p:spPr>
          <a:xfrm>
            <a:off x="1300459" y="11294070"/>
            <a:ext cx="7082026" cy="758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1828709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chemeClr val="tx2"/>
                </a:solidFill>
                <a:latin typeface="Tahoma"/>
                <a:ea typeface="Tahoma"/>
                <a:cs typeface="Tahoma"/>
              </a:rPr>
              <a:t>Место проведения НИТУ МИСИС Кафедра АСУ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4DEE7E-08E3-6DC3-84C0-709FF5B04BA1}"/>
              </a:ext>
            </a:extLst>
          </p:cNvPr>
          <p:cNvSpPr/>
          <p:nvPr/>
        </p:nvSpPr>
        <p:spPr>
          <a:xfrm>
            <a:off x="1233358" y="12059503"/>
            <a:ext cx="6249015" cy="74001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8C5B3-F2F8-EEB7-A2C6-72AD6A5E61DC}"/>
              </a:ext>
            </a:extLst>
          </p:cNvPr>
          <p:cNvSpPr txBox="1"/>
          <p:nvPr/>
        </p:nvSpPr>
        <p:spPr>
          <a:xfrm>
            <a:off x="1300609" y="12052148"/>
            <a:ext cx="518366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Дата проведения 16.04.2026</a:t>
            </a:r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Диаграмма ответов в Формах. Вопрос: В каком формате тебе удобнее получать финансовый совет?&#10;. Количество ответов: 107 ответов.">
            <a:extLst>
              <a:ext uri="{FF2B5EF4-FFF2-40B4-BE49-F238E27FC236}">
                <a16:creationId xmlns:a16="http://schemas.microsoft.com/office/drawing/2014/main" id="{2082BC2B-3585-4EAF-F50D-71CA11FB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735" y="5769198"/>
            <a:ext cx="8859749" cy="3780115"/>
          </a:xfrm>
          <a:prstGeom prst="rect">
            <a:avLst/>
          </a:prstGeom>
        </p:spPr>
      </p:pic>
      <p:pic>
        <p:nvPicPr>
          <p:cNvPr id="4" name="Picture 3" descr="Диаграмма ответов в Формах. Вопрос: Когда у тебя несколько вариантов куда направить деньги — как выбираешь?&#10;. Количество ответов: 107 ответов.">
            <a:extLst>
              <a:ext uri="{FF2B5EF4-FFF2-40B4-BE49-F238E27FC236}">
                <a16:creationId xmlns:a16="http://schemas.microsoft.com/office/drawing/2014/main" id="{71D7E0C4-F258-7FB4-E32B-2C48F66C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3384" y="9877696"/>
            <a:ext cx="8959072" cy="3814735"/>
          </a:xfrm>
          <a:prstGeom prst="rect">
            <a:avLst/>
          </a:prstGeom>
        </p:spPr>
      </p:pic>
      <p:sp>
        <p:nvSpPr>
          <p:cNvPr id="501" name="SlideNum"/>
          <p:cNvSpPr txBox="1">
            <a:spLocks noGrp="1"/>
          </p:cNvSpPr>
          <p:nvPr>
            <p:ph type="sldNum" idx="12"/>
          </p:nvPr>
        </p:nvSpPr>
        <p:spPr>
          <a:xfrm>
            <a:off x="19812000" y="12630986"/>
            <a:ext cx="3289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5}" type="slidenum">
              <a:rPr lang="ru-RU"/>
              <a:t>2</a:t>
            </a:fld>
            <a:endParaRPr/>
          </a:p>
        </p:txBody>
      </p:sp>
      <p:sp>
        <p:nvSpPr>
          <p:cNvPr id="502" name="Title"/>
          <p:cNvSpPr/>
          <p:nvPr/>
        </p:nvSpPr>
        <p:spPr>
          <a:xfrm>
            <a:off x="491025" y="2008939"/>
            <a:ext cx="21576000" cy="17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r>
              <a:rPr lang="ru-RU" sz="72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Актуальность темы исследования</a:t>
            </a:r>
            <a:endParaRPr lang="en-US" dirty="0"/>
          </a:p>
        </p:txBody>
      </p:sp>
      <p:sp>
        <p:nvSpPr>
          <p:cNvPr id="503" name="LeftBg"/>
          <p:cNvSpPr/>
          <p:nvPr/>
        </p:nvSpPr>
        <p:spPr>
          <a:xfrm>
            <a:off x="491025" y="5801040"/>
            <a:ext cx="9589500" cy="4445588"/>
          </a:xfrm>
          <a:prstGeom prst="rect">
            <a:avLst/>
          </a:prstGeom>
          <a:solidFill>
            <a:srgbClr val="1A3B6E"/>
          </a:solidFill>
          <a:ln w="32150" cap="flat" cmpd="sng">
            <a:solidFill>
              <a:srgbClr val="1A3B6E"/>
            </a:solidFill>
            <a:prstDash val="solid"/>
          </a:ln>
        </p:spPr>
        <p:txBody>
          <a:bodyPr spcFirstLastPara="1" wrap="square" lIns="340000" tIns="300000" rIns="231400" bIns="231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 i="1" u="none" strike="noStrike" cap="none" dirty="0">
                <a:solidFill>
                  <a:srgbClr val="1E9ED8"/>
                </a:solidFill>
                <a:latin typeface="Times New Roman"/>
                <a:ea typeface="Calibri"/>
                <a:cs typeface="Times New Roman"/>
              </a:rPr>
              <a:t>Проблема 1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76% выбирают куда направить деньги вручную или по ощущению — без расчёта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3500" b="1" i="1" u="none" strike="noStrike" cap="none" dirty="0">
                <a:solidFill>
                  <a:srgbClr val="1E9ED8"/>
                </a:solidFill>
                <a:latin typeface="Times New Roman"/>
                <a:ea typeface="Calibri"/>
                <a:cs typeface="Times New Roman"/>
              </a:rPr>
              <a:t>Проблема 2</a:t>
            </a:r>
          </a:p>
          <a:p>
            <a:pPr>
              <a:spcAft>
                <a:spcPts val="400"/>
              </a:spcAft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34% — инструмент не говорит куда направить свободные деньги. </a:t>
            </a:r>
            <a:endParaRPr lang="ru-RU" sz="3000" dirty="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>
              <a:spcAft>
                <a:spcPts val="400"/>
              </a:spcAft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31% — не предупреждает о нехватке заранее. </a:t>
            </a:r>
            <a:endParaRPr lang="ru-RU" sz="3000" dirty="0">
              <a:solidFill>
                <a:srgbClr val="000000"/>
              </a:solidFill>
              <a:latin typeface="Times New Roman"/>
              <a:ea typeface="Tahoma"/>
              <a:cs typeface="Times New Roman"/>
            </a:endParaRPr>
          </a:p>
          <a:p>
            <a:pPr marL="0" lv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22% — советы есть, но логика непонятна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510" name="Card1Bg"/>
          <p:cNvSpPr/>
          <p:nvPr/>
        </p:nvSpPr>
        <p:spPr>
          <a:xfrm>
            <a:off x="10331801" y="5815007"/>
            <a:ext cx="5037134" cy="2171064"/>
          </a:xfrm>
          <a:prstGeom prst="rect">
            <a:avLst/>
          </a:prstGeom>
          <a:solidFill>
            <a:srgbClr val="EBF5FB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1" name="Card1Accent"/>
          <p:cNvSpPr/>
          <p:nvPr/>
        </p:nvSpPr>
        <p:spPr>
          <a:xfrm>
            <a:off x="10261979" y="5801039"/>
            <a:ext cx="144000" cy="2199000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2" name="Card1Num"/>
          <p:cNvSpPr/>
          <p:nvPr/>
        </p:nvSpPr>
        <p:spPr>
          <a:xfrm>
            <a:off x="10621580" y="5917452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  <p:sp>
        <p:nvSpPr>
          <p:cNvPr id="513" name="Card1Label"/>
          <p:cNvSpPr/>
          <p:nvPr/>
        </p:nvSpPr>
        <p:spPr>
          <a:xfrm>
            <a:off x="10405605" y="6099028"/>
            <a:ext cx="72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респондентов опрошено</a:t>
            </a:r>
          </a:p>
        </p:txBody>
      </p:sp>
      <p:sp>
        <p:nvSpPr>
          <p:cNvPr id="520" name="Card2Bg"/>
          <p:cNvSpPr/>
          <p:nvPr/>
        </p:nvSpPr>
        <p:spPr>
          <a:xfrm>
            <a:off x="10275944" y="8075562"/>
            <a:ext cx="5148851" cy="2171065"/>
          </a:xfrm>
          <a:prstGeom prst="rect">
            <a:avLst/>
          </a:prstGeom>
          <a:solidFill>
            <a:srgbClr val="FAFAFA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1" name="Card2Accent"/>
          <p:cNvSpPr/>
          <p:nvPr/>
        </p:nvSpPr>
        <p:spPr>
          <a:xfrm>
            <a:off x="10261979" y="8080873"/>
            <a:ext cx="144000" cy="2165754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2" name="Card2Num"/>
          <p:cNvSpPr/>
          <p:nvPr/>
        </p:nvSpPr>
        <p:spPr>
          <a:xfrm>
            <a:off x="10621580" y="8051819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 dirty="0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83%</a:t>
            </a:r>
          </a:p>
        </p:txBody>
      </p:sp>
      <p:sp>
        <p:nvSpPr>
          <p:cNvPr id="523" name="Card2Label"/>
          <p:cNvSpPr/>
          <p:nvPr/>
        </p:nvSpPr>
        <p:spPr>
          <a:xfrm>
            <a:off x="10405605" y="8557303"/>
            <a:ext cx="5412516" cy="194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готовы использовать СППР (если будет понятна логика)</a:t>
            </a:r>
          </a:p>
        </p:txBody>
      </p:sp>
      <p:sp>
        <p:nvSpPr>
          <p:cNvPr id="530" name="Card3Bg"/>
          <p:cNvSpPr/>
          <p:nvPr/>
        </p:nvSpPr>
        <p:spPr>
          <a:xfrm>
            <a:off x="10275943" y="10574860"/>
            <a:ext cx="5134887" cy="2101229"/>
          </a:xfrm>
          <a:prstGeom prst="rect">
            <a:avLst/>
          </a:prstGeom>
          <a:solidFill>
            <a:srgbClr val="EBF5FB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1" name="Card3Accent"/>
          <p:cNvSpPr/>
          <p:nvPr/>
        </p:nvSpPr>
        <p:spPr>
          <a:xfrm>
            <a:off x="10261979" y="10574859"/>
            <a:ext cx="144000" cy="2101230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2" name="Card3Num"/>
          <p:cNvSpPr/>
          <p:nvPr/>
        </p:nvSpPr>
        <p:spPr>
          <a:xfrm>
            <a:off x="10621580" y="10601817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77%</a:t>
            </a:r>
          </a:p>
        </p:txBody>
      </p:sp>
      <p:sp>
        <p:nvSpPr>
          <p:cNvPr id="533" name="Card3Label"/>
          <p:cNvSpPr/>
          <p:nvPr/>
        </p:nvSpPr>
        <p:spPr>
          <a:xfrm>
            <a:off x="10363711" y="11090676"/>
            <a:ext cx="6250399" cy="184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ЦА — 18–27 лет (студенты и молодые специалисты)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E1E3AF-FE68-203C-708A-EF15D8529EA5}"/>
                  </a:ext>
                </a:extLst>
              </p14:cNvPr>
              <p14:cNvContentPartPr/>
              <p14:nvPr/>
            </p14:nvContentPartPr>
            <p14:xfrm>
              <a:off x="5690867" y="1011161"/>
              <a:ext cx="27404" cy="2740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E1E3AF-FE68-203C-708A-EF15D8529E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1727" y="-3784539"/>
                <a:ext cx="1940203" cy="9591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F80F049-2CFF-15E7-9CB3-29CE52EFBAE1}"/>
              </a:ext>
            </a:extLst>
          </p:cNvPr>
          <p:cNvSpPr txBox="1">
            <a:spLocks/>
          </p:cNvSpPr>
          <p:nvPr/>
        </p:nvSpPr>
        <p:spPr>
          <a:xfrm>
            <a:off x="1302654" y="12856464"/>
            <a:ext cx="6952346" cy="73025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ru-RU"/>
            </a:defPPr>
            <a:lvl1pPr marL="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>
                <a:solidFill>
                  <a:schemeClr val="tx2"/>
                </a:solidFill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8" name="Текст 11">
            <a:extLst>
              <a:ext uri="{FF2B5EF4-FFF2-40B4-BE49-F238E27FC236}">
                <a16:creationId xmlns:a16="http://schemas.microsoft.com/office/drawing/2014/main" id="{EE337CE8-A879-3442-FC00-F72186DEE187}"/>
              </a:ext>
            </a:extLst>
          </p:cNvPr>
          <p:cNvSpPr txBox="1">
            <a:spLocks/>
          </p:cNvSpPr>
          <p:nvPr/>
        </p:nvSpPr>
        <p:spPr>
          <a:xfrm>
            <a:off x="8674101" y="12856752"/>
            <a:ext cx="6937374" cy="355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Евдокимов В.М.</a:t>
            </a:r>
            <a:endParaRPr lang="ru-RU" sz="15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968FA-AC4D-6DAB-F87C-B1ABA0CBF5AA}"/>
              </a:ext>
            </a:extLst>
          </p:cNvPr>
          <p:cNvSpPr txBox="1"/>
          <p:nvPr/>
        </p:nvSpPr>
        <p:spPr>
          <a:xfrm>
            <a:off x="530100" y="3879525"/>
            <a:ext cx="234923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значительная часть пользователей принимает финансовые решения интуитивно, без формализованных расчётов;</a:t>
            </a:r>
            <a:b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</a:b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существующие решения либо ограничиваются учётом операций, либо используют непрозрачную логику рекомендаций;</a:t>
            </a:r>
            <a:b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</a:b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отсутствует инструмент, позволяющий выбирать между альтернативами с учётом ликвидности, риска и целей;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56E4B-5E07-D2C9-CE79-B1966E6EEFB0}"/>
              </a:ext>
            </a:extLst>
          </p:cNvPr>
          <p:cNvSpPr txBox="1"/>
          <p:nvPr/>
        </p:nvSpPr>
        <p:spPr>
          <a:xfrm>
            <a:off x="458027" y="10758597"/>
            <a:ext cx="96961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ahoma"/>
                <a:ea typeface="Tahoma"/>
                <a:cs typeface="Tahoma"/>
              </a:rPr>
              <a:t>Вывод</a:t>
            </a: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: требуется система поддержки принятия решений, обеспечивающая формализованный и объяснимый выбор финансовой стратегии</a:t>
            </a:r>
          </a:p>
          <a:p>
            <a:endParaRPr lang="ru-RU" sz="2800" b="1" dirty="0">
              <a:solidFill>
                <a:srgbClr val="0541F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6585038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 предмет исследования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1297765" y="4139970"/>
            <a:ext cx="10627535" cy="5143398"/>
          </a:xfrm>
        </p:spPr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эффективности принятия финансовых решений пользователя за счёт разработки системы поддержки принятия решений, обеспечивающей формализованный выбор альтернатив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9"/>
          </p:nvPr>
        </p:nvSpPr>
        <p:spPr>
          <a:xfrm>
            <a:off x="1302657" y="12664440"/>
            <a:ext cx="6952346" cy="730250"/>
          </a:xfrm>
        </p:spPr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ru-RU" sz="1500" baseline="0">
                <a:solidFill>
                  <a:srgbClr val="505569"/>
                </a:solidFill>
                <a:latin typeface="Tahoma"/>
              </a:rPr>
              <a:t>Евдокимов В.М.</a:t>
            </a:r>
            <a:r>
              <a:rPr lang="ru-RU" sz="1500">
                <a:latin typeface="Tahoma"/>
                <a:ea typeface="Tahoma"/>
                <a:cs typeface="Tahoma"/>
              </a:rPr>
              <a:t>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23"/>
          </p:nvPr>
        </p:nvSpPr>
        <p:spPr>
          <a:xfrm>
            <a:off x="15749589" y="5373052"/>
            <a:ext cx="8347074" cy="1180148"/>
          </a:xfrm>
        </p:spPr>
        <p:txBody>
          <a:bodyPr/>
          <a:lstStyle/>
          <a:p>
            <a:r>
              <a:rPr lang="ru-RU" sz="6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исследования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25"/>
          </p:nvPr>
        </p:nvSpPr>
        <p:spPr>
          <a:xfrm>
            <a:off x="15750196" y="6497778"/>
            <a:ext cx="6936767" cy="1180148"/>
          </a:xfrm>
        </p:spPr>
        <p:txBody>
          <a:bodyPr/>
          <a:lstStyle/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 принятия решений в сфере персональных финансов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5C67F7-4BE9-D164-D985-B201311E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13" y="10155316"/>
            <a:ext cx="11925299" cy="2117645"/>
          </a:xfrm>
          <a:prstGeom prst="rect">
            <a:avLst/>
          </a:prstGeom>
        </p:spPr>
      </p:pic>
      <p:sp>
        <p:nvSpPr>
          <p:cNvPr id="7" name="Текст 13">
            <a:extLst>
              <a:ext uri="{FF2B5EF4-FFF2-40B4-BE49-F238E27FC236}">
                <a16:creationId xmlns:a16="http://schemas.microsoft.com/office/drawing/2014/main" id="{FD321E9B-48EA-C7F3-71E2-E49C606E541D}"/>
              </a:ext>
            </a:extLst>
          </p:cNvPr>
          <p:cNvSpPr txBox="1">
            <a:spLocks/>
          </p:cNvSpPr>
          <p:nvPr/>
        </p:nvSpPr>
        <p:spPr>
          <a:xfrm>
            <a:off x="15749588" y="8132784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Предмет исследования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45157E0E-4153-BB6E-585F-9907AEE9D051}"/>
              </a:ext>
            </a:extLst>
          </p:cNvPr>
          <p:cNvSpPr txBox="1">
            <a:spLocks/>
          </p:cNvSpPr>
          <p:nvPr/>
        </p:nvSpPr>
        <p:spPr>
          <a:xfrm>
            <a:off x="15879151" y="9240690"/>
            <a:ext cx="7914299" cy="2575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 kern="1200">
                <a:solidFill>
                  <a:schemeClr val="bg2"/>
                </a:solidFill>
                <a:latin typeface="TT Norms Pro" panose="020B0103030101020204" pitchFamily="34" charset="0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алгоритмическое обеспечение СППР, предназначенной для обработки финансовых данных пользователя и генерации рекомендаций</a:t>
            </a:r>
          </a:p>
        </p:txBody>
      </p:sp>
      <p:sp>
        <p:nvSpPr>
          <p:cNvPr id="9" name="Текст 13">
            <a:extLst>
              <a:ext uri="{FF2B5EF4-FFF2-40B4-BE49-F238E27FC236}">
                <a16:creationId xmlns:a16="http://schemas.microsoft.com/office/drawing/2014/main" id="{64C27232-40FF-F5B5-B727-850B1FD5DBD4}"/>
              </a:ext>
            </a:extLst>
          </p:cNvPr>
          <p:cNvSpPr txBox="1">
            <a:spLocks/>
          </p:cNvSpPr>
          <p:nvPr/>
        </p:nvSpPr>
        <p:spPr>
          <a:xfrm>
            <a:off x="1381615" y="4428409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76B2D-1441-5ACA-16C2-B87916EFFDCB}"/>
              </a:ext>
            </a:extLst>
          </p:cNvPr>
          <p:cNvSpPr txBox="1"/>
          <p:nvPr/>
        </p:nvSpPr>
        <p:spPr>
          <a:xfrm>
            <a:off x="1381615" y="8454971"/>
            <a:ext cx="107722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формализовать задачу выбора финансовой стратегии (параметры, ограничения, критерии);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разработать математическую модель оценки финансового состояния пользователя;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реализовать алгоритм формирования и ранжирования альтернатив;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создать программный прототип системы и провести оценку эффективности;</a:t>
            </a:r>
          </a:p>
        </p:txBody>
      </p:sp>
      <p:sp>
        <p:nvSpPr>
          <p:cNvPr id="10" name="Текст 13">
            <a:extLst>
              <a:ext uri="{FF2B5EF4-FFF2-40B4-BE49-F238E27FC236}">
                <a16:creationId xmlns:a16="http://schemas.microsoft.com/office/drawing/2014/main" id="{22EB88A9-194D-B60B-892C-5D8B51CA23F8}"/>
              </a:ext>
            </a:extLst>
          </p:cNvPr>
          <p:cNvSpPr txBox="1">
            <a:spLocks/>
          </p:cNvSpPr>
          <p:nvPr/>
        </p:nvSpPr>
        <p:spPr>
          <a:xfrm>
            <a:off x="1381615" y="7458701"/>
            <a:ext cx="8281988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Задачи ВКР:</a:t>
            </a:r>
          </a:p>
        </p:txBody>
      </p:sp>
    </p:spTree>
    <p:extLst>
      <p:ext uri="{BB962C8B-B14F-4D97-AF65-F5344CB8AC3E}">
        <p14:creationId xmlns:p14="http://schemas.microsoft.com/office/powerpoint/2010/main" val="393341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567D-7C21-A6EC-1904-EE77935B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1D9A74CD-FA6C-5136-F5B3-0CC3C63BA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63798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существующих решений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FAD11BFA-1416-C948-4AF9-849502D9E4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5843C67-17C7-CFF7-8CBE-923D5BD96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B0578E8-0F76-5747-2B58-15974FAC525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1C4AD7C-A227-44A2-5ED2-7BC50770F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678678"/>
              </p:ext>
            </p:extLst>
          </p:nvPr>
        </p:nvGraphicFramePr>
        <p:xfrm>
          <a:off x="1298516" y="3561286"/>
          <a:ext cx="21980583" cy="4554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49934">
                  <a:extLst>
                    <a:ext uri="{9D8B030D-6E8A-4147-A177-3AD203B41FA5}">
                      <a16:colId xmlns:a16="http://schemas.microsoft.com/office/drawing/2014/main" val="2589882006"/>
                    </a:ext>
                  </a:extLst>
                </a:gridCol>
                <a:gridCol w="8496300">
                  <a:extLst>
                    <a:ext uri="{9D8B030D-6E8A-4147-A177-3AD203B41FA5}">
                      <a16:colId xmlns:a16="http://schemas.microsoft.com/office/drawing/2014/main" val="1478060562"/>
                    </a:ext>
                  </a:extLst>
                </a:gridCol>
                <a:gridCol w="8134349">
                  <a:extLst>
                    <a:ext uri="{9D8B030D-6E8A-4147-A177-3AD203B41FA5}">
                      <a16:colId xmlns:a16="http://schemas.microsoft.com/office/drawing/2014/main" val="2633475097"/>
                    </a:ext>
                  </a:extLst>
                </a:gridCol>
              </a:tblGrid>
              <a:tr h="905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Класс решений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Преимущества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Ограничения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5711415"/>
                  </a:ext>
                </a:extLst>
              </a:tr>
              <a:tr h="905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Приложения-трекеры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Удобный учёт и категоризация операций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Нет поддержки выбора альтернатив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97506"/>
                  </a:ext>
                </a:extLst>
              </a:tr>
              <a:tr h="905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Банковские советники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Интеграция с данными пользователя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Непрозрачная логика («чёрный ящик»)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5270967"/>
                  </a:ext>
                </a:extLst>
              </a:tr>
              <a:tr h="18364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Таблицы и ручные методы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Гибкость и полный контроль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Высокая трудоёмкость, отсутствие автоматизации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23895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E89403-CBCA-683A-F6E0-1200CF2625D9}"/>
              </a:ext>
            </a:extLst>
          </p:cNvPr>
          <p:cNvSpPr txBox="1"/>
          <p:nvPr/>
        </p:nvSpPr>
        <p:spPr>
          <a:xfrm>
            <a:off x="4778826" y="9043215"/>
            <a:ext cx="180811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 один из существующих подходов не обеспечивает формализованный и объяснимый выбор финансовых решений с учётом ограничений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DC39B2-E834-53E4-CB08-B487CE933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16" y="8673377"/>
            <a:ext cx="28003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13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65C-4D45-88BA-CEB3-56C036FD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0903800-AEFD-FA58-BBCF-5C6B75AE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Формальная постановка задачи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35DE8AE-D6AC-5BF1-79F1-9C8A71B0C7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3A4E852D-2200-DF0B-D36E-4BA98056C49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74AA80-14F2-262B-1726-F788B000F9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6DF17-1261-F16F-8C2B-C79A79D6FBEA}"/>
              </a:ext>
            </a:extLst>
          </p:cNvPr>
          <p:cNvSpPr txBox="1"/>
          <p:nvPr/>
        </p:nvSpPr>
        <p:spPr>
          <a:xfrm>
            <a:off x="1949331" y="4184473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Доходы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/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8E1A0F-D043-DF5A-D74C-C2E98C9CBA2D}"/>
              </a:ext>
            </a:extLst>
          </p:cNvPr>
          <p:cNvSpPr txBox="1"/>
          <p:nvPr/>
        </p:nvSpPr>
        <p:spPr>
          <a:xfrm>
            <a:off x="1949331" y="5199455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Расходы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/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74511A-5D6F-C7C2-A868-D99F3D7B8017}"/>
              </a:ext>
            </a:extLst>
          </p:cNvPr>
          <p:cNvSpPr txBox="1"/>
          <p:nvPr/>
        </p:nvSpPr>
        <p:spPr>
          <a:xfrm>
            <a:off x="10635117" y="3427759"/>
            <a:ext cx="4378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Чистый денежный поток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/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41B9F-E766-C592-BF12-98E0768D9F76}"/>
              </a:ext>
            </a:extLst>
          </p:cNvPr>
          <p:cNvSpPr txBox="1"/>
          <p:nvPr/>
        </p:nvSpPr>
        <p:spPr>
          <a:xfrm>
            <a:off x="1916023" y="7187080"/>
            <a:ext cx="4378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Обязательства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/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/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B22DC7-3E67-C4C2-98CD-3408A418AFF5}"/>
              </a:ext>
            </a:extLst>
          </p:cNvPr>
          <p:cNvSpPr txBox="1"/>
          <p:nvPr/>
        </p:nvSpPr>
        <p:spPr>
          <a:xfrm>
            <a:off x="10611069" y="7147872"/>
            <a:ext cx="4896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Плановый платёж по обязательству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/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96A736-A62E-37B6-E96A-4D4CA2853E82}"/>
              </a:ext>
            </a:extLst>
          </p:cNvPr>
          <p:cNvSpPr txBox="1"/>
          <p:nvPr/>
        </p:nvSpPr>
        <p:spPr>
          <a:xfrm>
            <a:off x="1298516" y="3286598"/>
            <a:ext cx="6626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Денежные потоки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2F69E-6ECA-3E02-9306-6D1CFFD71F44}"/>
              </a:ext>
            </a:extLst>
          </p:cNvPr>
          <p:cNvSpPr txBox="1"/>
          <p:nvPr/>
        </p:nvSpPr>
        <p:spPr>
          <a:xfrm>
            <a:off x="1298516" y="6220391"/>
            <a:ext cx="9636184" cy="64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Обязательства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0BD08-C64B-480E-9257-842C52101B10}"/>
              </a:ext>
            </a:extLst>
          </p:cNvPr>
          <p:cNvSpPr txBox="1"/>
          <p:nvPr/>
        </p:nvSpPr>
        <p:spPr>
          <a:xfrm>
            <a:off x="1298516" y="8813688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Параметры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/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CE6CC6F-59CA-6321-55A6-B12FFAA596B5}"/>
              </a:ext>
            </a:extLst>
          </p:cNvPr>
          <p:cNvSpPr txBox="1"/>
          <p:nvPr/>
        </p:nvSpPr>
        <p:spPr>
          <a:xfrm>
            <a:off x="1298516" y="10354122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Финансовые цели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/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Доходы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Расходы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01000" r="-48348" b="-12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1000" b="-12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99010" r="-48348" b="-1114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99010" b="-1114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302000" b="-10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402000" b="-9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02000" b="-8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73333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707000" b="-6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807000" b="-5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907000" b="-4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07000" b="-3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96040" b="-217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208000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308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009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E648-39FF-F322-985E-1756095A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1C6C2134-8CFE-B863-90B2-48F577EA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Целевая функция и критерий выбора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5576DE5D-6CA7-F098-035E-34E44F793F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7C19E5E-54FF-6C29-7D15-8A7552F725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C0CB1787-051C-F986-39EC-C351AEE4EAD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181A02-9B44-2FAA-62A8-979C22361B25}"/>
              </a:ext>
            </a:extLst>
          </p:cNvPr>
          <p:cNvSpPr txBox="1"/>
          <p:nvPr/>
        </p:nvSpPr>
        <p:spPr>
          <a:xfrm>
            <a:off x="1085056" y="4217765"/>
            <a:ext cx="10093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Интегральная функция полезности: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D1EA9E-3460-4D6F-35C2-61161A6FE9B7}"/>
                  </a:ext>
                </a:extLst>
              </p:cNvPr>
              <p:cNvSpPr txBox="1"/>
              <p:nvPr/>
            </p:nvSpPr>
            <p:spPr>
              <a:xfrm>
                <a:off x="3062122" y="5291604"/>
                <a:ext cx="1816133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6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ru-RU" sz="6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D1EA9E-3460-4D6F-35C2-61161A6FE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122" y="5291604"/>
                <a:ext cx="18161332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D16D-117F-8AE5-6204-E63DEDC7122C}"/>
                  </a:ext>
                </a:extLst>
              </p:cNvPr>
              <p:cNvSpPr txBox="1"/>
              <p:nvPr/>
            </p:nvSpPr>
            <p:spPr>
              <a:xfrm>
                <a:off x="1085056" y="6689178"/>
                <a:ext cx="12192000" cy="2606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доступный ресурс;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ликвидность;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долговая нагрузка;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𝑆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обеспеченность финансовых целей;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D16D-117F-8AE5-6204-E63DEDC71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56" y="6689178"/>
                <a:ext cx="12192000" cy="2606483"/>
              </a:xfrm>
              <a:prstGeom prst="rect">
                <a:avLst/>
              </a:prstGeom>
              <a:blipFill>
                <a:blip r:embed="rId4"/>
                <a:stretch>
                  <a:fillRect t="-1402" b="-79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3FC6FD9-D3C2-C062-F8D2-79C8444158F5}"/>
              </a:ext>
            </a:extLst>
          </p:cNvPr>
          <p:cNvSpPr txBox="1"/>
          <p:nvPr/>
        </p:nvSpPr>
        <p:spPr>
          <a:xfrm>
            <a:off x="1085056" y="979778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Весовые коэффициенты: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F2F10-0940-1D65-56F1-44C9B6986989}"/>
                  </a:ext>
                </a:extLst>
              </p:cNvPr>
              <p:cNvSpPr txBox="1"/>
              <p:nvPr/>
            </p:nvSpPr>
            <p:spPr>
              <a:xfrm>
                <a:off x="1085056" y="10822756"/>
                <a:ext cx="12192000" cy="1332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1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2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3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значимость критериев;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∑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𝑘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=1</m:t>
                    </m:r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F2F10-0940-1D65-56F1-44C9B6986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56" y="10822756"/>
                <a:ext cx="12192000" cy="1332288"/>
              </a:xfrm>
              <a:prstGeom prst="rect">
                <a:avLst/>
              </a:prstGeom>
              <a:blipFill>
                <a:blip r:embed="rId5"/>
                <a:stretch>
                  <a:fillRect t="-2740" b="-16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56D3AAA-628E-D840-7526-590421045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9549" y="7143749"/>
            <a:ext cx="9466751" cy="537435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0A3F817-91B2-5DDC-D115-071E4ACF017D}"/>
              </a:ext>
            </a:extLst>
          </p:cNvPr>
          <p:cNvSpPr txBox="1"/>
          <p:nvPr/>
        </p:nvSpPr>
        <p:spPr>
          <a:xfrm>
            <a:off x="15183399" y="7744469"/>
            <a:ext cx="85529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Критерий выбора: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8A63CD-5450-6955-3BD3-BDDF1E0F5CA2}"/>
              </a:ext>
            </a:extLst>
          </p:cNvPr>
          <p:cNvSpPr txBox="1"/>
          <p:nvPr/>
        </p:nvSpPr>
        <p:spPr>
          <a:xfrm>
            <a:off x="15183399" y="8928188"/>
            <a:ext cx="74289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выбирается альтернатива с максимальным значением функции полезности:</a:t>
            </a:r>
            <a:endParaRPr lang="ru-R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DE9A40-42A8-8F9B-35A2-5FA25D558B0C}"/>
                  </a:ext>
                </a:extLst>
              </p:cNvPr>
              <p:cNvSpPr txBox="1"/>
              <p:nvPr/>
            </p:nvSpPr>
            <p:spPr>
              <a:xfrm>
                <a:off x="15183399" y="11215588"/>
                <a:ext cx="757764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𝐚𝐫</m:t>
                      </m:r>
                      <m:func>
                        <m:func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ru-RU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</m:func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func>
                        <m:func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ru-RU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func>
                      <m:d>
                        <m:d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5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DE9A40-42A8-8F9B-35A2-5FA25D558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399" y="11215588"/>
                <a:ext cx="757764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46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9653-0129-D04C-2E30-EF574B25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CF5F58F-12CF-3039-0764-38DDC484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3422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D1D0026-EAD7-15CA-FE28-F1BD5AA3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1996A98-AB3C-542B-B266-7C0D8E6D60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66A0F9-7C34-5406-3BBA-9CA8BE8E9A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B0B5-1AEE-E6DE-56ED-64BD37AF98DC}"/>
                  </a:ext>
                </a:extLst>
              </p:cNvPr>
              <p:cNvSpPr txBox="1"/>
              <p:nvPr/>
            </p:nvSpPr>
            <p:spPr>
              <a:xfrm>
                <a:off x="6095093" y="3808315"/>
                <a:ext cx="497205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b="1" i="1" smtClean="0"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ru-RU" sz="4400" b="1" i="0">
                          <a:latin typeface="Cambria Math" panose="02040503050406030204" pitchFamily="18" charset="0"/>
                        </a:rPr>
                        <m:t>𝐚</m:t>
                      </m:r>
                      <m:func>
                        <m:funcPr>
                          <m:ctrlPr>
                            <a:rPr lang="ru-RU" sz="4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44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fName>
                        <m:e>
                          <m:r>
                            <a:rPr lang="ru-RU" sz="4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func>
                      <m:d>
                        <m:dPr>
                          <m:ctrlPr>
                            <a:rPr lang="ru-RU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4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4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4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B0B5-1AEE-E6DE-56ED-64BD37AF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93" y="3808315"/>
                <a:ext cx="497205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9F8177C-D5D2-70DB-FFFC-455F10C4C4B2}"/>
              </a:ext>
            </a:extLst>
          </p:cNvPr>
          <p:cNvSpPr txBox="1"/>
          <p:nvPr/>
        </p:nvSpPr>
        <p:spPr>
          <a:xfrm>
            <a:off x="1468804" y="3875900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Целевая функция: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1C0F1-594F-B671-E97E-73C372826932}"/>
              </a:ext>
            </a:extLst>
          </p:cNvPr>
          <p:cNvSpPr txBox="1"/>
          <p:nvPr/>
        </p:nvSpPr>
        <p:spPr>
          <a:xfrm>
            <a:off x="1468804" y="5228198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Ограничения: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0E09E3-9985-AD61-BE7F-302D1277E51B}"/>
                  </a:ext>
                </a:extLst>
              </p:cNvPr>
              <p:cNvSpPr txBox="1"/>
              <p:nvPr/>
            </p:nvSpPr>
            <p:spPr>
              <a:xfrm>
                <a:off x="6217176" y="4989466"/>
                <a:ext cx="4913850" cy="3144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0E09E3-9985-AD61-BE7F-302D1277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176" y="4989466"/>
                <a:ext cx="4913850" cy="3144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5D9743-5EA4-327B-4D96-455491F25FC7}"/>
                  </a:ext>
                </a:extLst>
              </p:cNvPr>
              <p:cNvSpPr txBox="1"/>
              <p:nvPr/>
            </p:nvSpPr>
            <p:spPr>
              <a:xfrm>
                <a:off x="14443371" y="3867280"/>
                <a:ext cx="7687898" cy="911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Чистый денежный поток: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𝐶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𝐹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𝐼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−∑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𝐸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Доступный ресурс: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𝑅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𝐵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𝐶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𝐹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−∑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𝑃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𝑙</m:t>
                          </m:r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,</m:t>
                          </m:r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ru-RU" sz="44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Коэффициент ликвидности: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𝐿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f>
                        <m:f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</m:ctrlPr>
                            </m:sSubPr>
                            <m:e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</m:ctrlPr>
                            </m:sSubPr>
                            <m:e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Долговая нагрузка: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𝐷</m:t>
                          </m:r>
                        </m:e>
                        <m:sub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𝑙</m:t>
                              </m:r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,</m:t>
                              </m:r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5D9743-5EA4-327B-4D96-455491F25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3371" y="3867280"/>
                <a:ext cx="7687898" cy="9111597"/>
              </a:xfrm>
              <a:prstGeom prst="rect">
                <a:avLst/>
              </a:prstGeom>
              <a:blipFill>
                <a:blip r:embed="rId5"/>
                <a:stretch>
                  <a:fillRect l="-2379" t="-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7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E108-7E1D-BBF4-4E5F-9109BFD7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7A6D8C4-1FE4-4851-4E62-28781041E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3083897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Общая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схема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алгоритма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BE»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4220D1-EA42-DAFF-5D92-1C053E7ED5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2BE87594-487B-74F4-6688-8D7519A38B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6A9FF37-C0EB-DB22-7205-A56B60C4984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E23A0F-9A2F-70BF-BAA3-468EDA44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620" y="504099"/>
            <a:ext cx="13819598" cy="1200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A403-E195-5FB5-B2C7-E374A86F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8BBDC26-A8D1-7B7A-FB7E-7FBEBE15A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Используемые алгоритмы и их сложность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E41399-3142-8C23-8D6D-533D2BB07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A20C514-B45D-9927-8648-01011D869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AACAFA6-F064-A579-2CF6-38725A5501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A5EE4EF9-276E-62CD-2254-B4E9AFB5E6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88582"/>
                  </p:ext>
                </p:extLst>
              </p:nvPr>
            </p:nvGraphicFramePr>
            <p:xfrm>
              <a:off x="1298517" y="4360608"/>
              <a:ext cx="21029613" cy="4726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464733">
                      <a:extLst>
                        <a:ext uri="{9D8B030D-6E8A-4147-A177-3AD203B41FA5}">
                          <a16:colId xmlns:a16="http://schemas.microsoft.com/office/drawing/2014/main" val="2033850899"/>
                        </a:ext>
                      </a:extLst>
                    </a:gridCol>
                    <a:gridCol w="6838950">
                      <a:extLst>
                        <a:ext uri="{9D8B030D-6E8A-4147-A177-3AD203B41FA5}">
                          <a16:colId xmlns:a16="http://schemas.microsoft.com/office/drawing/2014/main" val="3968985993"/>
                        </a:ext>
                      </a:extLst>
                    </a:gridCol>
                    <a:gridCol w="4725930">
                      <a:extLst>
                        <a:ext uri="{9D8B030D-6E8A-4147-A177-3AD203B41FA5}">
                          <a16:colId xmlns:a16="http://schemas.microsoft.com/office/drawing/2014/main" val="1836048933"/>
                        </a:ext>
                      </a:extLst>
                    </a:gridCol>
                  </a:tblGrid>
                  <a:tr h="6505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Метод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Назначение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Оценка сложности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55267187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Финансовые коэффициенты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Расчёт показателей (Rt, Lt, Dt)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209212243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Экспоненциальное сглаживание (SES)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Прогноз доходов и расходов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085994925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Метод Монте-Карло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Интервальный прогноз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62740483"/>
                      </a:ext>
                    </a:extLst>
                  </a:tr>
                  <a:tr h="8272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Генерация альтернатив (stars and bars)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Формирование вариантов решений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ru-RU" sz="3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3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ru-RU" sz="3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730998541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SAW (взвешенная сумма)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Ранжирование альтернатив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ru-RU" sz="3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787248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A5EE4EF9-276E-62CD-2254-B4E9AFB5E6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88582"/>
                  </p:ext>
                </p:extLst>
              </p:nvPr>
            </p:nvGraphicFramePr>
            <p:xfrm>
              <a:off x="1298517" y="4360608"/>
              <a:ext cx="21029613" cy="4726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464733">
                      <a:extLst>
                        <a:ext uri="{9D8B030D-6E8A-4147-A177-3AD203B41FA5}">
                          <a16:colId xmlns:a16="http://schemas.microsoft.com/office/drawing/2014/main" val="2033850899"/>
                        </a:ext>
                      </a:extLst>
                    </a:gridCol>
                    <a:gridCol w="6838950">
                      <a:extLst>
                        <a:ext uri="{9D8B030D-6E8A-4147-A177-3AD203B41FA5}">
                          <a16:colId xmlns:a16="http://schemas.microsoft.com/office/drawing/2014/main" val="3968985993"/>
                        </a:ext>
                      </a:extLst>
                    </a:gridCol>
                    <a:gridCol w="4725930">
                      <a:extLst>
                        <a:ext uri="{9D8B030D-6E8A-4147-A177-3AD203B41FA5}">
                          <a16:colId xmlns:a16="http://schemas.microsoft.com/office/drawing/2014/main" val="1836048933"/>
                        </a:ext>
                      </a:extLst>
                    </a:gridCol>
                  </a:tblGrid>
                  <a:tr h="6505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Метод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Назначение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Оценка сложности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55267187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Финансовые коэффициенты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Расчёт показателей (Rt, Lt, Dt)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85714" r="-516" b="-412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9212243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Экспоненциальное сглаживание (SES)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Прогноз доходов и расходов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185714" r="-516" b="-312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5994925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Метод Монте-Карло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Интервальный прогноз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283582" r="-516" b="-2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2740483"/>
                      </a:ext>
                    </a:extLst>
                  </a:tr>
                  <a:tr h="8272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Генерация альтернатив (stars and bars)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Формирование вариантов решений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377941" r="-516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998541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SAW (взвешенная сумма)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Ранжирование альтернатив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488722" r="-516" b="-9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2485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1D034D-3BEA-F035-463A-AC34B97BDFA7}"/>
              </a:ext>
            </a:extLst>
          </p:cNvPr>
          <p:cNvSpPr txBox="1"/>
          <p:nvPr/>
        </p:nvSpPr>
        <p:spPr>
          <a:xfrm>
            <a:off x="1298516" y="9902326"/>
            <a:ext cx="164370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 этапы алгоритма имеют полиномиальную сложность и могут эффективно применяться в пользовательских системах</a:t>
            </a:r>
          </a:p>
        </p:txBody>
      </p:sp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8C71-CB0F-626D-7B20-A8DDDC25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4241659-C9E8-C7CE-EC6E-A7145E908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Генерация альтернатив решений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783BF50-AA11-1DE8-817D-47E168EEA2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620A9BD4-4473-0AA1-EA5A-668994F108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C2DDA33-CC13-DDE9-6E79-9ED2FB6637F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7BBE76-8F85-18D7-42D0-372FBF028ACA}"/>
                  </a:ext>
                </a:extLst>
              </p:cNvPr>
              <p:cNvSpPr txBox="1"/>
              <p:nvPr/>
            </p:nvSpPr>
            <p:spPr>
              <a:xfrm>
                <a:off x="1298516" y="4477919"/>
                <a:ext cx="16113184" cy="6236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Подход: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доступный ресурс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дискретизируется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на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фиксированное число долей;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ресурс распределяется между направлениями: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погашение обязательств (d);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резерв (r);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цели (g);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Условие распределения: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𝑑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𝑟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𝑔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𝑁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𝑑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𝑟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𝑔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≥0</m:t>
                      </m:r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7BBE76-8F85-18D7-42D0-372FBF02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6" y="4477919"/>
                <a:ext cx="16113184" cy="6236579"/>
              </a:xfrm>
              <a:prstGeom prst="rect">
                <a:avLst/>
              </a:prstGeom>
              <a:blipFill>
                <a:blip r:embed="rId3"/>
                <a:stretch>
                  <a:fillRect l="-1135" t="-6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FF879-8BAF-1F0F-0ED5-33BFDC01BCB7}"/>
                  </a:ext>
                </a:extLst>
              </p:cNvPr>
              <p:cNvSpPr txBox="1"/>
              <p:nvPr/>
            </p:nvSpPr>
            <p:spPr>
              <a:xfrm>
                <a:off x="13563599" y="3994484"/>
                <a:ext cx="10049559" cy="662437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Метод: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используется комбинаторный подход (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stars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and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bars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перебираются все допустимые комбинации распределения ресурса;</a:t>
                </a: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Результат: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buNone/>
                </a:pPr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при </a:t>
                </a:r>
                <a14:m>
                  <m:oMath xmlns:m="http://schemas.openxmlformats.org/officeDocument/2006/math"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𝑁</m:t>
                    </m:r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=5</m:t>
                    </m:r>
                  </m:oMath>
                </a14:m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получаем 21 альтернативу;</a:t>
                </a:r>
                <a:b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каждая альтернатива — отдельная стратегия распределения средств;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FF879-8BAF-1F0F-0ED5-33BFDC01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599" y="3994484"/>
                <a:ext cx="10049559" cy="6624378"/>
              </a:xfrm>
              <a:prstGeom prst="rect">
                <a:avLst/>
              </a:prstGeom>
              <a:blipFill>
                <a:blip r:embed="rId4"/>
                <a:stretch>
                  <a:fillRect l="-1819" t="-552" b="-2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776D4FD-49A8-752C-F7F5-ADE229906D95}"/>
              </a:ext>
            </a:extLst>
          </p:cNvPr>
          <p:cNvSpPr txBox="1"/>
          <p:nvPr/>
        </p:nvSpPr>
        <p:spPr>
          <a:xfrm>
            <a:off x="1385544" y="10957369"/>
            <a:ext cx="22227614" cy="13351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Ключевая идея:</a:t>
            </a: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 вместо одного решения формируется множество допустимых альтернатив для последующего выбора</a:t>
            </a:r>
          </a:p>
        </p:txBody>
      </p:sp>
    </p:spTree>
    <p:extLst>
      <p:ext uri="{BB962C8B-B14F-4D97-AF65-F5344CB8AC3E}">
        <p14:creationId xmlns:p14="http://schemas.microsoft.com/office/powerpoint/2010/main" val="4065910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48F-5D92-2342-1F32-C52DEE8E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541A53E1-7147-6A64-8841-534AB6F59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Фильтрация по ограничениям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1F230CB-6A4D-0FE6-1550-DE53A3138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BD493389-D456-66F1-9AC3-0669845C87C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E2A185E-7681-1D85-C5F9-585656386E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FD7F22-030D-0472-2C42-66C23958E467}"/>
                  </a:ext>
                </a:extLst>
              </p:cNvPr>
              <p:cNvSpPr txBox="1"/>
              <p:nvPr/>
            </p:nvSpPr>
            <p:spPr>
              <a:xfrm>
                <a:off x="1298516" y="4357239"/>
                <a:ext cx="13103283" cy="7581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Проверка допустимости решений: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для каждой альтернативы рассчитываются показатели: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ликвидность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долговая нагрузка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Ограничения: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≥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минимальный уровень ликвидности;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≤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допустимая долговая нагрузка;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Процедура фильтрации: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альтернативы, не удовлетворяющие ограничениям, исключаются;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формируется множество допустимых решений;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FD7F22-030D-0472-2C42-66C23958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6" y="4357239"/>
                <a:ext cx="13103283" cy="7581947"/>
              </a:xfrm>
              <a:prstGeom prst="rect">
                <a:avLst/>
              </a:prstGeom>
              <a:blipFill>
                <a:blip r:embed="rId3"/>
                <a:stretch>
                  <a:fillRect l="-1396" t="-563" b="-20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AABDAF-0DE2-C339-0C96-8BCA39B08AD8}"/>
              </a:ext>
            </a:extLst>
          </p:cNvPr>
          <p:cNvSpPr txBox="1"/>
          <p:nvPr/>
        </p:nvSpPr>
        <p:spPr>
          <a:xfrm>
            <a:off x="16399057" y="9145541"/>
            <a:ext cx="7564255" cy="300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Результат :</a:t>
            </a:r>
            <a:endParaRPr lang="ru-RU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buNone/>
            </a:pPr>
            <a:r>
              <a:rPr lang="ru-RU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исключаются финансово неустойчивые и рискованные стратегии</a:t>
            </a:r>
            <a:endParaRPr lang="ru-RU" sz="4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A584D6C7-0542-A67B-3AB7-77FD553F20C0}"/>
              </a:ext>
            </a:extLst>
          </p:cNvPr>
          <p:cNvSpPr/>
          <p:nvPr/>
        </p:nvSpPr>
        <p:spPr>
          <a:xfrm>
            <a:off x="13285879" y="8840783"/>
            <a:ext cx="2438400" cy="1485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26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D32C-F748-E208-4564-9CD6D778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3221FC3-32FD-419A-F542-5ACA2F224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Ранжирование альтернатив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E710770-797F-1678-1C0B-7AA9C7460A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5700B5D4-CC0D-AC8E-65DF-4E92551FE46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6C7C61B7-0B0F-3880-481C-3B99CB5444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FE719-6DA4-A55B-6E7B-72225F3BB2AD}"/>
              </a:ext>
            </a:extLst>
          </p:cNvPr>
          <p:cNvSpPr txBox="1"/>
          <p:nvPr/>
        </p:nvSpPr>
        <p:spPr>
          <a:xfrm>
            <a:off x="16030577" y="9145541"/>
            <a:ext cx="7932736" cy="368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Результат :</a:t>
            </a:r>
            <a:endParaRPr lang="ru-RU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buNone/>
            </a:pPr>
            <a:r>
              <a:rPr lang="ru-RU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выбирается альтернатива, обеспечивающая наилучший баланс между доходностью, ликвидностью и риском</a:t>
            </a:r>
            <a:endParaRPr lang="ru-RU" sz="4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9647954E-54DE-6638-AE1B-E939D096065E}"/>
              </a:ext>
            </a:extLst>
          </p:cNvPr>
          <p:cNvSpPr/>
          <p:nvPr/>
        </p:nvSpPr>
        <p:spPr>
          <a:xfrm>
            <a:off x="13211175" y="8829732"/>
            <a:ext cx="2438400" cy="1485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7DFAB-B3F4-BAF8-2ABD-F27418D91CCD}"/>
              </a:ext>
            </a:extLst>
          </p:cNvPr>
          <p:cNvSpPr txBox="1"/>
          <p:nvPr/>
        </p:nvSpPr>
        <p:spPr>
          <a:xfrm>
            <a:off x="1298517" y="4342834"/>
            <a:ext cx="12192000" cy="207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Подход:</a:t>
            </a:r>
            <a:endParaRPr lang="ru-RU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– используется метод взвешенной суммы (SAW);</a:t>
            </a:r>
            <a:b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</a:b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– альтернативы оцениваются по нескольким критериям;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68BB51-7E11-ED5F-EC64-030AEB5F4637}"/>
                  </a:ext>
                </a:extLst>
              </p:cNvPr>
              <p:cNvSpPr txBox="1"/>
              <p:nvPr/>
            </p:nvSpPr>
            <p:spPr>
              <a:xfrm>
                <a:off x="15125700" y="4342834"/>
                <a:ext cx="8991600" cy="3346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Критерии оценки: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доступный ресурс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ликвидность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долговая нагрузка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достижение финансовых целей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𝑆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68BB51-7E11-ED5F-EC64-030AEB5F4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5700" y="4342834"/>
                <a:ext cx="8991600" cy="3346172"/>
              </a:xfrm>
              <a:prstGeom prst="rect">
                <a:avLst/>
              </a:prstGeom>
              <a:blipFill>
                <a:blip r:embed="rId3"/>
                <a:stretch>
                  <a:fillRect l="-2034" t="-1093" b="-60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7EF45-D548-8E7D-1C83-409E91C75BA6}"/>
                  </a:ext>
                </a:extLst>
              </p:cNvPr>
              <p:cNvSpPr txBox="1"/>
              <p:nvPr/>
            </p:nvSpPr>
            <p:spPr>
              <a:xfrm>
                <a:off x="1298517" y="6967345"/>
                <a:ext cx="12192000" cy="1610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Интегральная оценка: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𝑈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)=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𝑅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𝐿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3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(1−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𝐷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𝑆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7EF45-D548-8E7D-1C83-409E91C7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7" y="6967345"/>
                <a:ext cx="12192000" cy="1610697"/>
              </a:xfrm>
              <a:prstGeom prst="rect">
                <a:avLst/>
              </a:prstGeom>
              <a:blipFill>
                <a:blip r:embed="rId4"/>
                <a:stretch>
                  <a:fillRect l="-1500" t="-26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37D4F-53FB-68F5-8411-EFE6AADE308D}"/>
                  </a:ext>
                </a:extLst>
              </p:cNvPr>
              <p:cNvSpPr txBox="1"/>
              <p:nvPr/>
            </p:nvSpPr>
            <p:spPr>
              <a:xfrm>
                <a:off x="1298517" y="9296229"/>
                <a:ext cx="12192000" cy="1610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Выбор решения: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p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p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∗</m:t>
                          </m:r>
                        </m:sup>
                      </m:sSup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44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arg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⁡</m:t>
                      </m:r>
                      <m:r>
                        <m:rPr>
                          <m:sty m:val="p"/>
                        </m:rPr>
                        <a:rPr lang="ru-RU" sz="44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max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⁡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𝑈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</m:t>
                      </m:r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37D4F-53FB-68F5-8411-EFE6AADE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7" y="9296229"/>
                <a:ext cx="12192000" cy="1610697"/>
              </a:xfrm>
              <a:prstGeom prst="rect">
                <a:avLst/>
              </a:prstGeom>
              <a:blipFill>
                <a:blip r:embed="rId5"/>
                <a:stretch>
                  <a:fillRect l="-1500" t="-26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13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C828-BD28-95A5-C219-0D1D8811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95064E8A-187D-0F55-E92F-12612D697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Архитектура системы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43540C3-8411-BE7E-F055-0484715943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99E07A7-C76F-7E4B-F359-0E8DCDD4720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92A8707-A4F9-C49D-DF90-706D2A13963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44C2964-A261-F92A-9481-BB0051001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47935"/>
              </p:ext>
            </p:extLst>
          </p:nvPr>
        </p:nvGraphicFramePr>
        <p:xfrm>
          <a:off x="1298517" y="3788218"/>
          <a:ext cx="21803151" cy="5546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21333">
                  <a:extLst>
                    <a:ext uri="{9D8B030D-6E8A-4147-A177-3AD203B41FA5}">
                      <a16:colId xmlns:a16="http://schemas.microsoft.com/office/drawing/2014/main" val="342494918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588158293"/>
                    </a:ext>
                  </a:extLst>
                </a:gridCol>
                <a:gridCol w="12147918">
                  <a:extLst>
                    <a:ext uri="{9D8B030D-6E8A-4147-A177-3AD203B41FA5}">
                      <a16:colId xmlns:a16="http://schemas.microsoft.com/office/drawing/2014/main" val="2042426095"/>
                    </a:ext>
                  </a:extLst>
                </a:gridCol>
              </a:tblGrid>
              <a:tr h="7923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Компонент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Технология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Назначение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09068519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Backend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Python, FastAPI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Реализация алгоритмов и бизнес-логики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138477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FastAPI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Обработка запросов и взаимодействие с клиентом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514204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База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SQLAlchemy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Хранение финансовых данных пользователя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6975262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Frontend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Jinja2 (HTML)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Пользовательский интерфейс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8442632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Валидация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Pydantic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Проверка корректности входных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43268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Конфигурация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dotenv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Управление параметрами системы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49423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A125C2-4801-39FB-D716-CBC2E11A4186}"/>
              </a:ext>
            </a:extLst>
          </p:cNvPr>
          <p:cNvSpPr txBox="1"/>
          <p:nvPr/>
        </p:nvSpPr>
        <p:spPr>
          <a:xfrm>
            <a:off x="1298517" y="1020692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Система реализована в виде веб-приложения с разделением на уровни данных, логики и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3385872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EDB2-7CEC-E4B2-8178-8B885685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693DA8B4-EC97-FC28-FE79-05633B568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7484783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Оценка эффективности системы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C32F5FF2-113F-E627-9997-F79DF3C7E8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2519" y="12918803"/>
            <a:ext cx="6937374" cy="355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6A2A8C5-233C-DEAC-6310-B81D2A0B225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2458EED8-49EB-5F26-E8CC-09512D2391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F9EC7-9D65-5B05-5465-DCDE06FCDC41}"/>
              </a:ext>
            </a:extLst>
          </p:cNvPr>
          <p:cNvSpPr txBox="1"/>
          <p:nvPr/>
        </p:nvSpPr>
        <p:spPr>
          <a:xfrm>
            <a:off x="1469966" y="9845983"/>
            <a:ext cx="99778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Система позволяет автоматически отбирать только допустимые решения и выбирать оптимальное по заданным критериям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74B929-6561-3CF9-BF9E-82CC96886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69163"/>
              </p:ext>
            </p:extLst>
          </p:nvPr>
        </p:nvGraphicFramePr>
        <p:xfrm>
          <a:off x="1298515" y="3721427"/>
          <a:ext cx="21785380" cy="56220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89674">
                  <a:extLst>
                    <a:ext uri="{9D8B030D-6E8A-4147-A177-3AD203B41FA5}">
                      <a16:colId xmlns:a16="http://schemas.microsoft.com/office/drawing/2014/main" val="2192335135"/>
                    </a:ext>
                  </a:extLst>
                </a:gridCol>
                <a:gridCol w="3707476">
                  <a:extLst>
                    <a:ext uri="{9D8B030D-6E8A-4147-A177-3AD203B41FA5}">
                      <a16:colId xmlns:a16="http://schemas.microsoft.com/office/drawing/2014/main" val="1162358790"/>
                    </a:ext>
                  </a:extLst>
                </a:gridCol>
                <a:gridCol w="4222866">
                  <a:extLst>
                    <a:ext uri="{9D8B030D-6E8A-4147-A177-3AD203B41FA5}">
                      <a16:colId xmlns:a16="http://schemas.microsoft.com/office/drawing/2014/main" val="4197381648"/>
                    </a:ext>
                  </a:extLst>
                </a:gridCol>
                <a:gridCol w="3665364">
                  <a:extLst>
                    <a:ext uri="{9D8B030D-6E8A-4147-A177-3AD203B41FA5}">
                      <a16:colId xmlns:a16="http://schemas.microsoft.com/office/drawing/2014/main" val="2994746402"/>
                    </a:ext>
                  </a:extLst>
                </a:gridCol>
              </a:tblGrid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Критерий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Без СППР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С СППР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Эффект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4456593"/>
                  </a:ext>
                </a:extLst>
              </a:tr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Время принятия решения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30–60 минут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&lt; 5 секунд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↓ в 300–700 раз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67262652"/>
                  </a:ext>
                </a:extLst>
              </a:tr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Количество анализируемых вариантов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1 (интуитивно)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21 альтернатива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↑ в 21 раз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207742"/>
                  </a:ext>
                </a:extLst>
              </a:tr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Учёт ограничений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Частичный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Полный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100% контроль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2651212"/>
                  </a:ext>
                </a:extLst>
              </a:tr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Риск выбора недопустимого решения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Высокий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Исключён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↓ до 0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4917006"/>
                  </a:ext>
                </a:extLst>
              </a:tr>
              <a:tr h="93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Обоснованность решений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 dirty="0">
                          <a:effectLst/>
                        </a:rPr>
                        <a:t>Низкая</a:t>
                      </a:r>
                      <a:endParaRPr lang="ru-RU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>
                          <a:effectLst/>
                        </a:rPr>
                        <a:t>Формализованная</a:t>
                      </a:r>
                      <a:endParaRPr lang="ru-RU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600" dirty="0">
                          <a:effectLst/>
                        </a:rPr>
                        <a:t>↑ качественно</a:t>
                      </a:r>
                      <a:endParaRPr lang="ru-RU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00190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446ACD-669D-FE19-A878-FDA83DC3632E}"/>
              </a:ext>
            </a:extLst>
          </p:cNvPr>
          <p:cNvSpPr txBox="1"/>
          <p:nvPr/>
        </p:nvSpPr>
        <p:spPr>
          <a:xfrm>
            <a:off x="12934603" y="9845983"/>
            <a:ext cx="104948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Система обеспечивает переход от интуитивного выбора к формализованному анализу множества альтернатив с учётом ограничений</a:t>
            </a:r>
          </a:p>
        </p:txBody>
      </p:sp>
    </p:spTree>
    <p:extLst>
      <p:ext uri="{BB962C8B-B14F-4D97-AF65-F5344CB8AC3E}">
        <p14:creationId xmlns:p14="http://schemas.microsoft.com/office/powerpoint/2010/main" val="18089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1051-7DC9-445A-984E-331FC553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1B6D93E-8A70-DA02-97FB-3933CA0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12721E-B1F8-5560-FCDE-253A395EF0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D6CA95E-DAE2-887E-70F7-0F883EB402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A5D1D62-0D36-AC9D-FAD9-B61E18ABEC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A75E5-1AD0-7CAB-6AE3-A811573A5176}"/>
              </a:ext>
            </a:extLst>
          </p:cNvPr>
          <p:cNvSpPr txBox="1"/>
          <p:nvPr/>
        </p:nvSpPr>
        <p:spPr>
          <a:xfrm>
            <a:off x="1447800" y="3719874"/>
            <a:ext cx="20688300" cy="516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сформулирована и формализована задача выбора финансовой стратегии пользователя с учётом ограничений;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разработана математическая модель оценки финансового состояния (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реализован алгоритм формирования, фильтрации и ранжирования альтернатив решений;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создан программный прототип СППР в виде веб-приложения;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проведена оценка эффективности, показавшая повышение обоснованности и скорости принятия решений;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D164A-BABE-4C15-2168-673F14861B8F}"/>
              </a:ext>
            </a:extLst>
          </p:cNvPr>
          <p:cNvSpPr txBox="1"/>
          <p:nvPr/>
        </p:nvSpPr>
        <p:spPr>
          <a:xfrm>
            <a:off x="1447800" y="9609461"/>
            <a:ext cx="21221700" cy="144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400" dirty="0"/>
              <a:t>Разработанная система обеспечивает формализованный, </a:t>
            </a:r>
          </a:p>
          <a:p>
            <a:pPr>
              <a:buNone/>
            </a:pPr>
            <a:r>
              <a:rPr lang="ru-RU" sz="4400" dirty="0"/>
              <a:t>объяснимый и устойчивый выбор финансовых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823979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1918</Words>
  <Application>Microsoft Office PowerPoint</Application>
  <PresentationFormat>Произвольный</PresentationFormat>
  <Paragraphs>349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Times New Roman</vt:lpstr>
      <vt:lpstr>Calibri</vt:lpstr>
      <vt:lpstr>TT Norms Pro</vt:lpstr>
      <vt:lpstr>Cambria Math</vt:lpstr>
      <vt:lpstr>Tahoma</vt:lpstr>
      <vt:lpstr>TT Norms Pro Medium</vt:lpstr>
      <vt:lpstr>Arial</vt:lpstr>
      <vt:lpstr>Aptos</vt:lpstr>
      <vt:lpstr>Misis</vt:lpstr>
      <vt:lpstr>Разработка алгоритмического обеспечения системы поддержки принятия решений в сфере персональных финансов</vt:lpstr>
      <vt:lpstr>Презентация PowerPoint</vt:lpstr>
      <vt:lpstr>Цель ВКР Объект и предмет исследования</vt:lpstr>
      <vt:lpstr>Анализ существующих решений</vt:lpstr>
      <vt:lpstr>Формальная постановка задачи</vt:lpstr>
      <vt:lpstr>Целевая функция и критерий выбора</vt:lpstr>
      <vt:lpstr>Математическая модель</vt:lpstr>
      <vt:lpstr>Общая  схема  алгоритма   «TO BE»</vt:lpstr>
      <vt:lpstr>Используемые алгоритмы и их сложность</vt:lpstr>
      <vt:lpstr>Генерация альтернатив решений</vt:lpstr>
      <vt:lpstr>Фильтрация по ограничениям</vt:lpstr>
      <vt:lpstr>Ранжирование альтернатив</vt:lpstr>
      <vt:lpstr>Архитектура системы</vt:lpstr>
      <vt:lpstr>Оценка эффективности системы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A T</cp:lastModifiedBy>
  <cp:revision>49</cp:revision>
  <dcterms:created xsi:type="dcterms:W3CDTF">2022-07-26T11:52:44Z</dcterms:created>
  <dcterms:modified xsi:type="dcterms:W3CDTF">2026-05-01T02:57:59Z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2026-02-14T18:52:21Z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cf9eee5f-0de2-42c5-8f66-ffb185aa2cad</vt:lpwstr>
  </property>
  <property fmtid="{D5CDD505-2E9C-101B-9397-08002B2CF9AE}" pid="7" name="MSIP_Label_defa4170-0d19-0005-0004-bc88714345d2_ActionId">
    <vt:lpwstr>2092aea2-0836-4eda-9e1a-614292534f0b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